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7774" y="1413867"/>
            <a:ext cx="5068303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</a:t>
            </a:r>
            <a:endParaRPr lang="en-US" sz="3600" dirty="0"/>
          </a:p>
          <a:p>
            <a:pPr algn="ctr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프로젝트 수행계획서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37774" y="2907209"/>
            <a:ext cx="50683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B7D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I 2025.01.10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14639" y="4492675"/>
            <a:ext cx="1136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552705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87326"/>
            <a:ext cx="762000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79327"/>
            <a:ext cx="5181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5901" y="1298377"/>
            <a:ext cx="4361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79035" y="1336477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695152"/>
            <a:ext cx="5181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901" y="1714202"/>
            <a:ext cx="4361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79035" y="1752302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06-08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110978"/>
            <a:ext cx="5181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901" y="2130028"/>
            <a:ext cx="4361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 및 일정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9035" y="2168128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526804"/>
            <a:ext cx="5181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5901" y="2545854"/>
            <a:ext cx="4361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품질·보안·위험 관리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9035" y="2583954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2942630"/>
            <a:ext cx="5181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5901" y="2961680"/>
            <a:ext cx="4361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의사소통 및 협조 요청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9035" y="299978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17-18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4584" y="0"/>
            <a:ext cx="2709416" cy="51435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글로벌물류의 차세대 스마트 물류관리 시스템을 12개월간 15억 원 규모로 구축합니다.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11325" y="1519833"/>
            <a:ext cx="6521351" cy="2590205"/>
          </a:xfrm>
          <a:prstGeom prst="roundRect">
            <a:avLst>
              <a:gd name="adj" fmla="val 294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524000" y="2162621"/>
            <a:ext cx="6096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1859459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0" y="1859459"/>
            <a:ext cx="4663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24000" y="2597497"/>
            <a:ext cx="6096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000" y="2294334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48000" y="2294334"/>
            <a:ext cx="4663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24000" y="3032373"/>
            <a:ext cx="6096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2729210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8000" y="2729210"/>
            <a:ext cx="4663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24000" y="3467249"/>
            <a:ext cx="6096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4000" y="3164086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48000" y="3164086"/>
            <a:ext cx="4663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 원 (VAT 별도)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24000" y="3598962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48000" y="3598962"/>
            <a:ext cx="4663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2025.01.06 ~ 2025.12.31 (12개월)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06445" y="492769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노후 시스템의 한계를 극복하고 AI 기반 물류 최적화로 운영 효율 30%를 향상시킵니다.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211759"/>
            <a:ext cx="2319933" cy="2201019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211759"/>
            <a:ext cx="2319933" cy="707975"/>
          </a:xfrm>
          <a:prstGeom prst="rect">
            <a:avLst/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235571"/>
            <a:ext cx="2319933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141178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2234" y="1484858"/>
            <a:ext cx="604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202" y="1489472"/>
            <a:ext cx="1026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4150" y="2072134"/>
            <a:ext cx="1913632" cy="108674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이상 레거시 시스템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 심각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9533" y="146565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12034" y="1211759"/>
            <a:ext cx="2319933" cy="2201019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12034" y="1211759"/>
            <a:ext cx="2319933" cy="707975"/>
          </a:xfrm>
          <a:prstGeom prst="rect">
            <a:avLst/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2034" y="1235571"/>
            <a:ext cx="2319933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5184" y="141178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1922" y="148485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72235" y="1489472"/>
            <a:ext cx="668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목표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5184" y="2072134"/>
            <a:ext cx="1913632" cy="108674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물류 최적화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재고/배송 추적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기반 확장성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모니터링 체계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0566" y="146565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067" y="1211759"/>
            <a:ext cx="2319933" cy="2201019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43067" y="1211759"/>
            <a:ext cx="2319933" cy="707975"/>
          </a:xfrm>
          <a:prstGeom prst="rect">
            <a:avLst/>
          </a:prstGeom>
          <a:solidFill>
            <a:srgbClr val="2E7D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43067" y="1235571"/>
            <a:ext cx="2319933" cy="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6218" y="141178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79568" y="1484858"/>
            <a:ext cx="9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03269" y="1489472"/>
            <a:ext cx="668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46218" y="2072134"/>
            <a:ext cx="1913632" cy="108674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 30%↑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 99.5%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 20%↓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만족도 향상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99302" y="488320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WMS·TMS·OMS·Dashboard 4대 핵심 시스템을 신규 구축하고 기존 ERP와 연동합니다.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81521"/>
            <a:ext cx="653951" cy="209550"/>
          </a:xfrm>
          <a:prstGeom prst="roundRect">
            <a:avLst>
              <a:gd name="adj" fmla="val 1818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019621"/>
            <a:ext cx="459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범위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452" y="1010096"/>
            <a:ext cx="1031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구축 시스템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318022"/>
            <a:ext cx="1942951" cy="834777"/>
          </a:xfrm>
          <a:prstGeom prst="roundRect">
            <a:avLst>
              <a:gd name="adj" fmla="val 9128"/>
            </a:avLst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0491" y="1464022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0491" y="1724323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0491" y="189249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입출고, 재고, 피킹/패킹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25452" y="1318022"/>
            <a:ext cx="1942951" cy="834777"/>
          </a:xfrm>
          <a:prstGeom prst="roundRect">
            <a:avLst>
              <a:gd name="adj" fmla="val 9128"/>
            </a:avLst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54943" y="1464022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54943" y="1724323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54943" y="189249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배차, 경로최적화, 추적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1000" y="2254300"/>
            <a:ext cx="1942951" cy="834777"/>
          </a:xfrm>
          <a:prstGeom prst="roundRect">
            <a:avLst>
              <a:gd name="adj" fmla="val 9128"/>
            </a:avLst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491" y="2400300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491" y="26606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0491" y="2828776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주문접수, 할당, 정산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25452" y="2254300"/>
            <a:ext cx="1942951" cy="834777"/>
          </a:xfrm>
          <a:prstGeom prst="roundRect">
            <a:avLst>
              <a:gd name="adj" fmla="val 9128"/>
            </a:avLst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54943" y="2400300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54943" y="26606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54943" y="2828776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현황, KPI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15000" y="981521"/>
            <a:ext cx="653951" cy="209550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16501" y="1019621"/>
            <a:ext cx="459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범위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70452" y="1010096"/>
            <a:ext cx="816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1318022"/>
            <a:ext cx="1942951" cy="847576"/>
          </a:xfrm>
          <a:prstGeom prst="roundRect">
            <a:avLst>
              <a:gd name="adj" fmla="val 899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44491" y="1464022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44491" y="1724323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 시스템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44491" y="190529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I/F만 개발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15000" y="2267099"/>
            <a:ext cx="1942951" cy="847576"/>
          </a:xfrm>
          <a:prstGeom prst="roundRect">
            <a:avLst>
              <a:gd name="adj" fmla="val 899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4491" y="2413099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44491" y="26734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시스템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44491" y="2854375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I/F만 개발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15000" y="3216176"/>
            <a:ext cx="1942951" cy="847576"/>
          </a:xfrm>
          <a:prstGeom prst="roundRect">
            <a:avLst>
              <a:gd name="adj" fmla="val 899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844491" y="3362176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44491" y="3622477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ERP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44491" y="3803452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I/F만 개발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706445" y="492769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전환과 혁신적 기능 구현의 균형을 핵심 가치로 3대 전략을 추진합니다.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2017365"/>
            <a:ext cx="2624733" cy="16698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2017365"/>
            <a:ext cx="0" cy="1669852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204" y="1763464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7462" y="1884164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0067" y="2652266"/>
            <a:ext cx="22142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0067" y="3014216"/>
            <a:ext cx="221422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리스크 최소화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9634" y="2017365"/>
            <a:ext cx="2624733" cy="16698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3446" y="2017365"/>
            <a:ext cx="0" cy="1669852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1837" y="1763464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66095" y="1884164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88701" y="2652266"/>
            <a:ext cx="22142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88701" y="3014216"/>
            <a:ext cx="221422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피드백과 유연한 대응 체계 구축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38267" y="2017365"/>
            <a:ext cx="2624733" cy="16698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62080" y="2017365"/>
            <a:ext cx="0" cy="1669852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0471" y="1763464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44729" y="1884164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67335" y="2652266"/>
            <a:ext cx="22142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7335" y="3014216"/>
            <a:ext cx="221422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 확보 및 품질 보증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99302" y="488320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 방법론으로 대규모 SI 안정성과 애자일 유연성을 결합합니다.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211759"/>
            <a:ext cx="1695450" cy="463451"/>
          </a:xfrm>
          <a:prstGeom prst="roundRect">
            <a:avLst>
              <a:gd name="adj" fmla="val 219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3535" y="1338709"/>
            <a:ext cx="1470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675209"/>
            <a:ext cx="1695450" cy="14632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71688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3133725"/>
            <a:ext cx="16954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763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925" y="1827609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925" y="2011710"/>
            <a:ext cx="1371600" cy="336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10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925" y="24751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2925" y="26592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2925" y="2817912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분석서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28850" y="182135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9850" y="1211759"/>
            <a:ext cx="1695450" cy="463451"/>
          </a:xfrm>
          <a:prstGeom prst="roundRect">
            <a:avLst>
              <a:gd name="adj" fmla="val 219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22385" y="1338709"/>
            <a:ext cx="1470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9850" y="1675209"/>
            <a:ext cx="1695450" cy="13046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00538" y="1675209"/>
            <a:ext cx="0" cy="1304627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9850" y="2975074"/>
            <a:ext cx="16954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14613" y="1675209"/>
            <a:ext cx="0" cy="1304627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1775" y="1827609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71775" y="2011710"/>
            <a:ext cx="1371600" cy="336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설계</a:t>
            </a:r>
            <a:endParaRPr lang="en-US" sz="10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UI/DB 설계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71775" y="24751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71775" y="26592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57700" y="182135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38700" y="1211759"/>
            <a:ext cx="1695450" cy="463451"/>
          </a:xfrm>
          <a:prstGeom prst="roundRect">
            <a:avLst>
              <a:gd name="adj" fmla="val 219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51235" y="1338709"/>
            <a:ext cx="1470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38700" y="1675209"/>
            <a:ext cx="1695450" cy="14632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529388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38700" y="3133725"/>
            <a:ext cx="16954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3463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0625" y="1827609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00625" y="2011710"/>
            <a:ext cx="1371600" cy="336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구현</a:t>
            </a:r>
            <a:endParaRPr lang="en-US" sz="10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00625" y="24751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00625" y="26592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00625" y="2817912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86550" y="182135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67550" y="1211759"/>
            <a:ext cx="1695450" cy="463451"/>
          </a:xfrm>
          <a:prstGeom prst="roundRect">
            <a:avLst>
              <a:gd name="adj" fmla="val 219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180085" y="1338709"/>
            <a:ext cx="1470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67550" y="1675209"/>
            <a:ext cx="1695450" cy="14632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758238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67550" y="3133725"/>
            <a:ext cx="16954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72313" y="1675209"/>
            <a:ext cx="0" cy="1463278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9475" y="1827609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9475" y="2011710"/>
            <a:ext cx="1371600" cy="336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</a:t>
            </a:r>
            <a:endParaRPr lang="en-US" sz="10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29475" y="24751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9475" y="2659261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9475" y="2817912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이행계획서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699302" y="488320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Vue.js, Spring Boot, AWS 기반 클라우드 네이티브 MSA 아키텍처를 적용합니다.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56221"/>
            <a:ext cx="1143000" cy="558701"/>
          </a:xfrm>
          <a:prstGeom prst="roundRect">
            <a:avLst>
              <a:gd name="adj" fmla="val 909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1159371"/>
            <a:ext cx="616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4000" y="956221"/>
            <a:ext cx="7239000" cy="5587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524000" y="960983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8238" y="956221"/>
            <a:ext cx="0" cy="55870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000" y="1510159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400" y="1126034"/>
            <a:ext cx="678210" cy="219075"/>
          </a:xfrm>
          <a:prstGeom prst="roundRect">
            <a:avLst>
              <a:gd name="adj" fmla="val 17391"/>
            </a:avLst>
          </a:prstGeom>
          <a:solidFill>
            <a:srgbClr val="42B88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7901" y="1164134"/>
            <a:ext cx="4847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30810" y="1168896"/>
            <a:ext cx="220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99308" y="1126034"/>
            <a:ext cx="849660" cy="219075"/>
          </a:xfrm>
          <a:prstGeom prst="roundRect">
            <a:avLst>
              <a:gd name="adj" fmla="val 17391"/>
            </a:avLst>
          </a:prstGeom>
          <a:solidFill>
            <a:srgbClr val="3178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00809" y="1164134"/>
            <a:ext cx="6595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45810" y="1168896"/>
            <a:ext cx="464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구조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1565672"/>
            <a:ext cx="1143000" cy="558701"/>
          </a:xfrm>
          <a:prstGeom prst="roundRect">
            <a:avLst>
              <a:gd name="adj" fmla="val 909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1392" y="1768822"/>
            <a:ext cx="5937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4000" y="1565672"/>
            <a:ext cx="7239000" cy="5587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524000" y="1570434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8" y="1565672"/>
            <a:ext cx="0" cy="55870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24000" y="2119610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6400" y="1735485"/>
            <a:ext cx="929432" cy="219075"/>
          </a:xfrm>
          <a:prstGeom prst="roundRect">
            <a:avLst>
              <a:gd name="adj" fmla="val 17391"/>
            </a:avLst>
          </a:prstGeom>
          <a:solidFill>
            <a:srgbClr val="6DB3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77901" y="1773585"/>
            <a:ext cx="740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82032" y="1778347"/>
            <a:ext cx="220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50530" y="1735485"/>
            <a:ext cx="661988" cy="219075"/>
          </a:xfrm>
          <a:prstGeom prst="roundRect">
            <a:avLst>
              <a:gd name="adj" fmla="val 17391"/>
            </a:avLst>
          </a:prstGeom>
          <a:solidFill>
            <a:srgbClr val="ED8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52031" y="1773585"/>
            <a:ext cx="468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18277" y="1778347"/>
            <a:ext cx="492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2175123"/>
            <a:ext cx="1143000" cy="558701"/>
          </a:xfrm>
          <a:prstGeom prst="roundRect">
            <a:avLst>
              <a:gd name="adj" fmla="val 909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045" y="2378273"/>
            <a:ext cx="633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24000" y="2175123"/>
            <a:ext cx="7239000" cy="5587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524000" y="2179886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58238" y="2175123"/>
            <a:ext cx="0" cy="55870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24000" y="2729061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76400" y="2344936"/>
            <a:ext cx="936724" cy="219075"/>
          </a:xfrm>
          <a:prstGeom prst="roundRect">
            <a:avLst>
              <a:gd name="adj" fmla="val 17391"/>
            </a:avLst>
          </a:prstGeom>
          <a:solidFill>
            <a:srgbClr val="3367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777901" y="2383036"/>
            <a:ext cx="748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89324" y="2387798"/>
            <a:ext cx="1880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26122" y="2344936"/>
            <a:ext cx="548729" cy="219075"/>
          </a:xfrm>
          <a:prstGeom prst="roundRect">
            <a:avLst>
              <a:gd name="adj" fmla="val 17391"/>
            </a:avLst>
          </a:prstGeom>
          <a:solidFill>
            <a:srgbClr val="DC38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127623" y="2383036"/>
            <a:ext cx="352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1052" y="2387798"/>
            <a:ext cx="123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7603" y="2387798"/>
            <a:ext cx="890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+ Cache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1000" y="2784574"/>
            <a:ext cx="1143000" cy="558701"/>
          </a:xfrm>
          <a:prstGeom prst="roundRect">
            <a:avLst>
              <a:gd name="adj" fmla="val 909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98574" y="2987725"/>
            <a:ext cx="9258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24000" y="2784574"/>
            <a:ext cx="7239000" cy="5587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524000" y="2789337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58238" y="2784574"/>
            <a:ext cx="0" cy="55870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24000" y="3338513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76400" y="2954387"/>
            <a:ext cx="788491" cy="219075"/>
          </a:xfrm>
          <a:prstGeom prst="roundRect">
            <a:avLst>
              <a:gd name="adj" fmla="val 17391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777901" y="2992487"/>
            <a:ext cx="597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17291" y="2954387"/>
            <a:ext cx="795486" cy="219075"/>
          </a:xfrm>
          <a:prstGeom prst="roundRect">
            <a:avLst>
              <a:gd name="adj" fmla="val 17391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718792" y="2992487"/>
            <a:ext cx="604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565178" y="2954387"/>
            <a:ext cx="682823" cy="219075"/>
          </a:xfrm>
          <a:prstGeom prst="roundRect">
            <a:avLst>
              <a:gd name="adj" fmla="val 17391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666679" y="2992487"/>
            <a:ext cx="4894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31026" y="2997250"/>
            <a:ext cx="887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네이티브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1000" y="3394025"/>
            <a:ext cx="1143000" cy="558701"/>
          </a:xfrm>
          <a:prstGeom prst="roundRect">
            <a:avLst>
              <a:gd name="adj" fmla="val 909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62446" y="3597176"/>
            <a:ext cx="387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524000" y="3394025"/>
            <a:ext cx="7239000" cy="5587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1524000" y="3398788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58238" y="3394025"/>
            <a:ext cx="0" cy="55870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24000" y="3947964"/>
            <a:ext cx="7239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76400" y="3563838"/>
            <a:ext cx="633264" cy="219075"/>
          </a:xfrm>
          <a:prstGeom prst="roundRect">
            <a:avLst>
              <a:gd name="adj" fmla="val 17391"/>
            </a:avLst>
          </a:prstGeom>
          <a:solidFill>
            <a:srgbClr val="377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777901" y="3601938"/>
            <a:ext cx="4388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385864" y="3606701"/>
            <a:ext cx="276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809429" y="3563838"/>
            <a:ext cx="906066" cy="219075"/>
          </a:xfrm>
          <a:prstGeom prst="roundRect">
            <a:avLst>
              <a:gd name="adj" fmla="val 17391"/>
            </a:avLst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2910929" y="3601938"/>
            <a:ext cx="717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791694" y="3606701"/>
            <a:ext cx="285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94550" y="3606701"/>
            <a:ext cx="10266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수요예측, 경로최적화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706445" y="492769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프로젝트 조직 및 일정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발주사-수행사 협업 체계로 총 8명의 전문 인력이 78MM를 투입합니다.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9629" y="956221"/>
            <a:ext cx="1264593" cy="596801"/>
          </a:xfrm>
          <a:prstGeom prst="roundRect">
            <a:avLst>
              <a:gd name="adj" fmla="val 1276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5962" y="1083171"/>
            <a:ext cx="771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85962" y="1254621"/>
            <a:ext cx="771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59350" y="1654522"/>
            <a:ext cx="25301" cy="152400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71305" y="1806922"/>
            <a:ext cx="1601391" cy="749201"/>
          </a:xfrm>
          <a:prstGeom prst="roundRect">
            <a:avLst>
              <a:gd name="adj" fmla="val 1017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14270" y="1933873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 PM (특급)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14270" y="2105323"/>
            <a:ext cx="11154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14270" y="2314873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9121" y="2683073"/>
            <a:ext cx="1415951" cy="669727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95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4167" y="279409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4167" y="296554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이영희 과장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54167" y="3146524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지원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46573" y="2683073"/>
            <a:ext cx="1415951" cy="669727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95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71618" y="279409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(특급)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71618" y="296554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 책임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71618" y="3146524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64025" y="2683073"/>
            <a:ext cx="1415951" cy="669727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95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89070" y="279409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(고급)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89070" y="296554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 선임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89070" y="3146524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총괄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81476" y="2683073"/>
            <a:ext cx="1415951" cy="669727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95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06522" y="279409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(고급)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06522" y="296554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오현우 대리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06522" y="3146524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98928" y="2683073"/>
            <a:ext cx="1415951" cy="669727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95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23973" y="279409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(중급)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23973" y="296554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 대리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23973" y="3146524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81586" y="3505200"/>
            <a:ext cx="1380679" cy="3048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84737" y="3581400"/>
            <a:ext cx="3908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8명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71120" y="3581400"/>
            <a:ext cx="395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78MM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06445" y="492769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프로젝트 조직 및 일정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분야별 전문 인력 8명이 12개월간 총 78MM를 투입하여 프로젝트를 수행합니다.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1173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5650" y="1016496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30301" y="1000720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93702" y="1026021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39901" y="968871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9901" y="968871"/>
            <a:ext cx="6299299" cy="228600"/>
          </a:xfrm>
          <a:prstGeom prst="roundRect">
            <a:avLst>
              <a:gd name="adj" fmla="val 222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59539" y="1026021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136728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5650" y="1372046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0301" y="1356271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3702" y="1381571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39901" y="1324421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39901" y="1324421"/>
            <a:ext cx="5241280" cy="228600"/>
          </a:xfrm>
          <a:prstGeom prst="roundRect">
            <a:avLst>
              <a:gd name="adj" fmla="val 222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01520" y="1381571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172283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5650" y="1727597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30301" y="1711821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93702" y="173712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9901" y="1679972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39901" y="1679972"/>
            <a:ext cx="6299299" cy="228600"/>
          </a:xfrm>
          <a:prstGeom prst="roundRect">
            <a:avLst>
              <a:gd name="adj" fmla="val 222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59539" y="1737122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07838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임동현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5650" y="2083147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30301" y="2067371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93702" y="209267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39901" y="2035522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539901" y="2035522"/>
            <a:ext cx="5241280" cy="228600"/>
          </a:xfrm>
          <a:prstGeom prst="roundRect">
            <a:avLst>
              <a:gd name="adj" fmla="val 222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01520" y="2092672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1000" y="243393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강서연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5650" y="2438698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30301" y="2422922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993702" y="2448223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39901" y="2391073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39901" y="2391073"/>
            <a:ext cx="5241280" cy="228600"/>
          </a:xfrm>
          <a:prstGeom prst="roundRect">
            <a:avLst>
              <a:gd name="adj" fmla="val 2222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401520" y="2448223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1000" y="2789486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윤재호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5650" y="2794248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30301" y="2778472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93702" y="2803773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39901" y="2746623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539901" y="2746623"/>
            <a:ext cx="5241280" cy="228600"/>
          </a:xfrm>
          <a:prstGeom prst="roundRect">
            <a:avLst>
              <a:gd name="adj" fmla="val 2222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401520" y="2803773"/>
            <a:ext cx="309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81000" y="3145036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오현우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55650" y="3149798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30301" y="3134023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993702" y="3159323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39901" y="3102173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539901" y="3102173"/>
            <a:ext cx="4245620" cy="228600"/>
          </a:xfrm>
          <a:prstGeom prst="roundRect">
            <a:avLst>
              <a:gd name="adj" fmla="val 222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62266" y="3159323"/>
            <a:ext cx="251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81000" y="3500586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55650" y="3505349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930301" y="3489573"/>
            <a:ext cx="3173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993702" y="3514874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39901" y="3457724"/>
            <a:ext cx="6223099" cy="2286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539901" y="3457724"/>
            <a:ext cx="3187750" cy="228600"/>
          </a:xfrm>
          <a:prstGeom prst="roundRect">
            <a:avLst>
              <a:gd name="adj" fmla="val 2222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04396" y="3514874"/>
            <a:ext cx="251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94373" y="382905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984724" y="382592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371975" y="382905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562326" y="382592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949577" y="382905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39928" y="382592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프로젝트 조직 및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착수부터 안정화까지 6개 단계, 12개월간의 마스터 일정을 수립했습니다.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24000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123331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054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8093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727424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2148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32187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31518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6241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6280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35611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0334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40373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39704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4428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44467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43798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8521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48560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747891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2614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52654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351984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6708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6747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956078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0801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0840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560171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54895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64934" y="1161008"/>
            <a:ext cx="604093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164264" y="1161008"/>
            <a:ext cx="0" cy="234851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58988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69027" y="1161008"/>
            <a:ext cx="594568" cy="234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63081" y="1211759"/>
            <a:ext cx="606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1000" y="162431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24000" y="1548110"/>
            <a:ext cx="600819" cy="3048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40098" y="1633835"/>
            <a:ext cx="171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1000" y="2081361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24819" y="2005161"/>
            <a:ext cx="1208782" cy="3048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644973" y="2090886"/>
            <a:ext cx="171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1000" y="2538413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3750" y="2462213"/>
            <a:ext cx="1208782" cy="3048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853904" y="2547938"/>
            <a:ext cx="171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1000" y="299546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42532" y="2919264"/>
            <a:ext cx="2410569" cy="304800"/>
          </a:xfrm>
          <a:prstGeom prst="roundRect">
            <a:avLst>
              <a:gd name="adj" fmla="val 16667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31805" y="3004989"/>
            <a:ext cx="2366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16주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1000" y="3452515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53250" y="3376315"/>
            <a:ext cx="904875" cy="3048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321451" y="3462040"/>
            <a:ext cx="171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1000" y="3909566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이행/안정화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58125" y="3833366"/>
            <a:ext cx="904875" cy="30480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226326" y="3919091"/>
            <a:ext cx="171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642152" y="4883200"/>
            <a:ext cx="123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프로젝트 조직 및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주요 마일스톤을 통해 프로젝트 진행 상황을 체계적으로 관리합니다.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2396728"/>
            <a:ext cx="7620000" cy="5075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6045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6045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6045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6045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9876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96951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21996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1996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1996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1996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55827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12902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7947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947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947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947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71777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28852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3898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3898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3898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3898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7728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44803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69849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9849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 완료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9849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69849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03679" y="22443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2452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460754" y="2726829"/>
            <a:ext cx="1415951" cy="987177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85799" y="2863304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5799" y="308550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5799" y="32791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5799" y="346323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오픈보고서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35752" y="488320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품질·보안·위험 관리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품질 보증 활동으로 산출물과 코드 품질을 체계적으로 관리합니다.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5622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529" y="101173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6402" y="1006971"/>
            <a:ext cx="7197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검토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1260872"/>
            <a:ext cx="818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말, 발주 담당자 검토 및 승인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6075" y="1441847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551" y="1441847"/>
            <a:ext cx="8038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PM/PL 주관, 검토 체크리스트 활용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17021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529" y="175766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402" y="1752898"/>
            <a:ext cx="583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550" y="2006798"/>
            <a:ext cx="818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 중, GitHub PR 필수, 2인 이상 승인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6075" y="2187773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551" y="2187773"/>
            <a:ext cx="8038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개발리더 주관, 코딩 컨벤션 준수 확인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244807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529" y="250358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402" y="2498824"/>
            <a:ext cx="583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분석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550" y="2752725"/>
            <a:ext cx="818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 중, SonarQube 품질 게이트 적용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6075" y="2933700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551" y="2933700"/>
            <a:ext cx="8038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주관, 보안 취약점 및 코드 스멜 검출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31940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529" y="324951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402" y="3244751"/>
            <a:ext cx="4080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550" y="3498652"/>
            <a:ext cx="818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단계, 시나리오 기반 테스트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6075" y="3679627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551" y="3679627"/>
            <a:ext cx="8038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QA/현업 공동 수행, 결함 추적 관리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품질·보안·위험 관리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인적·물리·기술·PC 4개 영역의 보안 대책을 수립하여 정보 자산을 보호합니다.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30771"/>
            <a:ext cx="4038600" cy="38100"/>
          </a:xfrm>
          <a:prstGeom prst="roundRect">
            <a:avLst>
              <a:gd name="adj" fmla="val 6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968871"/>
            <a:ext cx="4038600" cy="99015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501" y="1070372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552" y="1117997"/>
            <a:ext cx="77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7301" y="111323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 보안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501" y="1349722"/>
            <a:ext cx="3835598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보안서약서 징구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교육 실시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501" y="1692622"/>
            <a:ext cx="659457" cy="164902"/>
          </a:xfrm>
          <a:prstGeom prst="roundRect">
            <a:avLst>
              <a:gd name="adj" fmla="val 15403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5902" y="1717923"/>
            <a:ext cx="5433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인원 대상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21101" y="930771"/>
            <a:ext cx="4038600" cy="38100"/>
          </a:xfrm>
          <a:prstGeom prst="roundRect">
            <a:avLst>
              <a:gd name="adj" fmla="val 6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1101" y="968871"/>
            <a:ext cx="4038600" cy="99015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22602" y="1070372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01927" y="1117997"/>
            <a:ext cx="713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27402" y="111323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보안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2602" y="1349722"/>
            <a:ext cx="3835598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통제구역 출입 관리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반입 장비 통제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2602" y="1692622"/>
            <a:ext cx="849957" cy="164902"/>
          </a:xfrm>
          <a:prstGeom prst="roundRect">
            <a:avLst>
              <a:gd name="adj" fmla="val 15403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6002" y="1717923"/>
            <a:ext cx="7376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정책 준수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1000" y="2060525"/>
            <a:ext cx="4038600" cy="38100"/>
          </a:xfrm>
          <a:prstGeom prst="roundRect">
            <a:avLst>
              <a:gd name="adj" fmla="val 6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1000" y="2098625"/>
            <a:ext cx="4038600" cy="99015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01" y="2200126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1826" y="2247751"/>
            <a:ext cx="713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7301" y="2242989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보안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01" y="2479477"/>
            <a:ext cx="3835598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 보안약점 진단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암호화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501" y="2822377"/>
            <a:ext cx="1048941" cy="164902"/>
          </a:xfrm>
          <a:prstGeom prst="roundRect">
            <a:avLst>
              <a:gd name="adj" fmla="val 15403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5902" y="2847677"/>
            <a:ext cx="94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점검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1101" y="2060525"/>
            <a:ext cx="4038600" cy="38100"/>
          </a:xfrm>
          <a:prstGeom prst="roundRect">
            <a:avLst>
              <a:gd name="adj" fmla="val 6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21101" y="2098625"/>
            <a:ext cx="4038600" cy="99015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22602" y="2200126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95527" y="2247751"/>
            <a:ext cx="84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27402" y="2242989"/>
            <a:ext cx="44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보안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22602" y="2479477"/>
            <a:ext cx="3835598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백신 설치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화면보호기 설정, 매체제어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22602" y="2822377"/>
            <a:ext cx="855166" cy="164902"/>
          </a:xfrm>
          <a:prstGeom prst="roundRect">
            <a:avLst>
              <a:gd name="adj" fmla="val 15403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86002" y="2847677"/>
            <a:ext cx="7429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솔루션 적용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품질·보안·위험 관리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주요 위험을 식별하고, 담당자별 대응 방안을 사전에 수립했습니다.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59098"/>
            <a:ext cx="1725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변경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01180" y="1343323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77380" y="1368623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39380" y="1343323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5580" y="1368623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77580" y="1359098"/>
            <a:ext cx="3520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통한 통제, 영향도 분석 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1751" y="1359098"/>
            <a:ext cx="1127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85925"/>
            <a:ext cx="1725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지연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01180" y="1670149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77380" y="1695450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39380" y="1670149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15580" y="1695450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77580" y="1685925"/>
            <a:ext cx="3520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진척관리, Critical Path 모니터링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1751" y="1685925"/>
            <a:ext cx="1127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012752"/>
            <a:ext cx="1725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01180" y="1996976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77380" y="2022277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39380" y="1996976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15580" y="2022277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77580" y="2012752"/>
            <a:ext cx="3520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선행, 외부 전문가 자문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1751" y="2012752"/>
            <a:ext cx="1127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339578"/>
            <a:ext cx="1725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이탈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01180" y="2323802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77380" y="2349103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39380" y="2323802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15580" y="2349103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77580" y="2339578"/>
            <a:ext cx="3520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인력 풀 확보, 기술 문서화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1751" y="2339578"/>
            <a:ext cx="1127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666405"/>
            <a:ext cx="1725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마이그레이션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01180" y="2650629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377380" y="2675930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39380" y="2650629"/>
            <a:ext cx="247650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215580" y="2675930"/>
            <a:ext cx="97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77580" y="2666405"/>
            <a:ext cx="3520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검증, 롤백 계획 수립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1751" y="2666405"/>
            <a:ext cx="1127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3095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031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품질·보안·위험 관리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14201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요청부터 이행까지 4단계 변경 통제 절차를 준수합니다.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149" y="1984028"/>
            <a:ext cx="1619250" cy="1736527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2999" y="18158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0299" y="18889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2174" y="23236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03334" y="2428429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885" y="2907804"/>
            <a:ext cx="1217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요청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1885" y="3155454"/>
            <a:ext cx="1217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변경요청서(CR) 접수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1885" y="3374529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티켓 등록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03549" y="271894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35300" y="1912590"/>
            <a:ext cx="1619250" cy="1879402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7149" y="17444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94450" y="181748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6325" y="225221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13765" y="2356991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6036" y="2836366"/>
            <a:ext cx="1217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영향도 분석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6036" y="3084016"/>
            <a:ext cx="12177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일정/비용/품질 영향 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6036" y="3445966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 내 완료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57700" y="271894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89450" y="1984028"/>
            <a:ext cx="1619250" cy="1736527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21300" y="18158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48600" y="18889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70475" y="23236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11636" y="2428429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90187" y="2907804"/>
            <a:ext cx="1217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승인/반려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90187" y="3155454"/>
            <a:ext cx="1217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협의체(CCB) 의사결정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0187" y="3374529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1회 정기 회의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11851" y="271894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43601" y="1984028"/>
            <a:ext cx="1619250" cy="1736527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75451" y="18158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02751" y="18889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24626" y="23236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5502" y="2428429"/>
            <a:ext cx="1554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44338" y="2907804"/>
            <a:ext cx="1217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이행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44338" y="3155454"/>
            <a:ext cx="1217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사항 반영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44338" y="3374529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현행화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51487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1000" y="4883200"/>
            <a:ext cx="534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35752" y="488320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의사소통 및 협조 요청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일일/주간/월간/스프린트 4가지 주기로 체계적인 보고 및 회의 체계를 운영합니다.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56221"/>
            <a:ext cx="412552" cy="209550"/>
          </a:xfrm>
          <a:prstGeom prst="roundRect">
            <a:avLst>
              <a:gd name="adj" fmla="val 1818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99432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5052" y="984796"/>
            <a:ext cx="8557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35497" y="989558"/>
            <a:ext cx="10221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09:30, 개발팀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0525" y="1216521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000" y="1216521"/>
            <a:ext cx="8400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 공유, 블로커 식별 및 해결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1502271"/>
            <a:ext cx="412552" cy="209550"/>
          </a:xfrm>
          <a:prstGeom prst="roundRect">
            <a:avLst>
              <a:gd name="adj" fmla="val 1818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01" y="154037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5052" y="153084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9953" y="1535609"/>
            <a:ext cx="1635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14:00, PM 및 발주PM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0525" y="1762571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000" y="1762571"/>
            <a:ext cx="8400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실적/계획, 이슈 및 리스크 공유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2048321"/>
            <a:ext cx="412552" cy="209550"/>
          </a:xfrm>
          <a:prstGeom prst="roundRect">
            <a:avLst>
              <a:gd name="adj" fmla="val 1818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01" y="208642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5052" y="207689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9953" y="2081659"/>
            <a:ext cx="807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말, 경영진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0525" y="2308622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000" y="2308622"/>
            <a:ext cx="8400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점검, 주요 리스크 보고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2594372"/>
            <a:ext cx="412552" cy="209550"/>
          </a:xfrm>
          <a:prstGeom prst="roundRect">
            <a:avLst>
              <a:gd name="adj" fmla="val 1818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501" y="2632472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5052" y="2622947"/>
            <a:ext cx="8557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35497" y="2627709"/>
            <a:ext cx="9600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금, 전체 참석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0525" y="2854672"/>
            <a:ext cx="0" cy="13335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000" y="2854672"/>
            <a:ext cx="8400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결과물 데모, 피드백 수렴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9058"/>
            <a:ext cx="91440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1524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의사소통 및 협조 요청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원활한 프로젝트 수행을 위해 발주기관의 다음 협조 사항을 요청드립니다.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05321"/>
            <a:ext cx="4330601" cy="9586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905321"/>
            <a:ext cx="0" cy="958602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981521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0585" y="1037034"/>
            <a:ext cx="86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6151" y="1037034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8223" y="1026021"/>
            <a:ext cx="466427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4423" y="1051322"/>
            <a:ext cx="320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6050" y="1311622"/>
            <a:ext cx="4038600" cy="42535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룸 (10석 규모)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네트워크(VPN)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1940123"/>
            <a:ext cx="4330601" cy="7809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1940123"/>
            <a:ext cx="0" cy="780901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050" y="2016323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013" y="2071836"/>
            <a:ext cx="93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6151" y="2071836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2973" y="2060823"/>
            <a:ext cx="561677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99173" y="2086124"/>
            <a:ext cx="417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설계/개발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6050" y="2346424"/>
            <a:ext cx="4038600" cy="133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테스트용 샘플 데이터 제공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6050" y="2530525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비식별화 필수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1000" y="2797225"/>
            <a:ext cx="4330601" cy="8126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2797225"/>
            <a:ext cx="0" cy="812602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050" y="2873425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5290" y="2928938"/>
            <a:ext cx="359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6151" y="2928938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8223" y="2917924"/>
            <a:ext cx="466427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94423" y="2943225"/>
            <a:ext cx="320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050" y="3203525"/>
            <a:ext cx="4038600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계정 및 권한 부여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개발/스테이징/운영 환경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" y="3686026"/>
            <a:ext cx="4330601" cy="9269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00050" y="3686026"/>
            <a:ext cx="0" cy="926902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050" y="3762226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585" y="3817739"/>
            <a:ext cx="86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6151" y="3817739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2973" y="3806726"/>
            <a:ext cx="561677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99173" y="3832027"/>
            <a:ext cx="417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단계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6050" y="4092327"/>
            <a:ext cx="4038600" cy="279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인터뷰</a:t>
            </a:r>
            <a:endParaRPr lang="en-US" sz="900" dirty="0"/>
          </a:p>
          <a:p>
            <a:pPr algn="l" marL="76200" indent="-762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지원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6050" y="4422428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담당자 협조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1000" y="4927699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50039" y="49276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착수보고회</dc:subject>
  <dc:creator>테크솔루션_김철수</dc:creator>
  <cp:lastModifiedBy>테크솔루션_김철수</cp:lastModifiedBy>
  <cp:revision>1</cp:revision>
  <dcterms:created xsi:type="dcterms:W3CDTF">2026-01-06T03:07:22Z</dcterms:created>
  <dcterms:modified xsi:type="dcterms:W3CDTF">2026-01-06T03:07:22Z</dcterms:modified>
</cp:coreProperties>
</file>