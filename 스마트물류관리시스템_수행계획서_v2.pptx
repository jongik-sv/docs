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828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4400" b="1">
                <a:solidFill>
                  <a:srgbClr val="FFFFFF"/>
                </a:solidFill>
                <a:latin typeface="맑은 고딕"/>
              </a:defRPr>
            </a:pPr>
            <a:r>
              <a:t>스마트 물류관리 시스템 구축</a:t>
            </a:r>
            <a:br/>
            <a:r>
              <a:t>수행계획서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0"/>
            <a:ext cx="11277295" cy="13716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2200" b="0">
                <a:solidFill>
                  <a:srgbClr val="E8E8E8"/>
                </a:solidFill>
                <a:latin typeface="맑은 고딕"/>
              </a:defRPr>
            </a:pPr>
            <a:r>
              <a:t>(주)테크솔루션 → (주)글로벌물류</a:t>
            </a:r>
            <a:br/>
            <a:r>
              <a:t>2025.01.06 ~ 2025.12.31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600" b="1">
                <a:solidFill>
                  <a:srgbClr val="002452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371600" cy="4572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463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프로젝트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14630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3-5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추진 전략 및 방법론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6-7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1089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기술 아키텍처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089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931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9319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프로젝트 조직 및 인력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931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9-10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7548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프로젝트 일정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47548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11-12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14630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146304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산출물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146304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2286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28600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품질 및 보안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228600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14-15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1089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08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310896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교육 및 기술이전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20" y="310896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3931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393192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위험 및 변경 관리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393192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17-18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7548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400" b="1">
                <a:solidFill>
                  <a:srgbClr val="C51F2A"/>
                </a:solidFill>
                <a:latin typeface="맑은 고딕"/>
              </a:defRPr>
            </a:pPr>
            <a: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754880"/>
            <a:ext cx="3657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002452"/>
                </a:solidFill>
                <a:latin typeface="맑은 고딕"/>
              </a:defRPr>
            </a:pPr>
            <a:r>
              <a:t>의사소통 및 협조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20" y="4754880"/>
            <a:ext cx="548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lnSpc>
                <a:spcPct val="120000"/>
              </a:lnSpc>
              <a:defRPr sz="1400" b="0">
                <a:solidFill>
                  <a:srgbClr val="666666"/>
                </a:solidFill>
                <a:latin typeface="맑은 고딕"/>
              </a:defRPr>
            </a:pPr>
            <a:r>
              <a:t>19-20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글로벌물류의 차세대 스마트 물류관리 시스템을 12개월간 15억 규모로 구축합니다.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13583" cy="18288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755648"/>
            <a:ext cx="2339263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2800" b="0">
                <a:solidFill>
                  <a:srgbClr val="002452"/>
                </a:solidFill>
                <a:latin typeface="맑은 고딕"/>
              </a:defRPr>
            </a:pPr>
            <a:r>
              <a:t>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4884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발주기관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23160"/>
            <a:ext cx="233926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002452"/>
                </a:solidFill>
                <a:latin typeface="맑은 고딕"/>
              </a:defRPr>
            </a:pPr>
            <a:r>
              <a:t>(주)글로벌물류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4B6580"/>
                </a:solidFill>
                <a:latin typeface="맑은 고딕"/>
              </a:defRPr>
            </a:pPr>
            <a:r>
              <a:t>국내 Top 5 물류기업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5103" y="1645920"/>
            <a:ext cx="2613583" cy="18288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2263" y="1755648"/>
            <a:ext cx="2339263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2800" b="0">
                <a:solidFill>
                  <a:srgbClr val="002452"/>
                </a:solidFill>
                <a:latin typeface="맑은 고딕"/>
              </a:defRPr>
            </a:pPr>
            <a: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82263" y="214884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수행사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2263" y="2423160"/>
            <a:ext cx="233926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002452"/>
                </a:solidFill>
                <a:latin typeface="맑은 고딕"/>
              </a:defRPr>
            </a:pPr>
            <a:r>
              <a:t>(주)테크솔루션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2263" y="301752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4B6580"/>
                </a:solidFill>
                <a:latin typeface="맑은 고딕"/>
              </a:defRPr>
            </a:pPr>
            <a:r>
              <a:t>SI 전문기업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645920"/>
            <a:ext cx="2613583" cy="18288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0167" y="1755648"/>
            <a:ext cx="2339263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2800" b="0">
                <a:solidFill>
                  <a:srgbClr val="002452"/>
                </a:solidFill>
                <a:latin typeface="맑은 고딕"/>
              </a:defRPr>
            </a:pPr>
            <a:r>
              <a:t>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167" y="214884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계약금액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423160"/>
            <a:ext cx="233926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002452"/>
                </a:solidFill>
                <a:latin typeface="맑은 고딕"/>
              </a:defRPr>
            </a:pPr>
            <a:r>
              <a:t>15억원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70167" y="301752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4B6580"/>
                </a:solidFill>
                <a:latin typeface="맑은 고딕"/>
              </a:defRPr>
            </a:pPr>
            <a:r>
              <a:t>VAT 별도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0911" y="1645920"/>
            <a:ext cx="2613583" cy="1828800"/>
          </a:xfrm>
          <a:prstGeom prst="roundRect">
            <a:avLst>
              <a:gd name="adj" fmla="val 10000"/>
            </a:avLst>
          </a:prstGeom>
          <a:solidFill>
            <a:srgbClr val="F8F9FA"/>
          </a:solidFill>
          <a:ln w="50800">
            <a:solidFill>
              <a:srgbClr val="0024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8071" y="1755648"/>
            <a:ext cx="2339263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2800" b="0">
                <a:solidFill>
                  <a:srgbClr val="00245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8071" y="214884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계약기간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58071" y="2423160"/>
            <a:ext cx="2339263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002452"/>
                </a:solidFill>
                <a:latin typeface="맑은 고딕"/>
              </a:defRPr>
            </a:pPr>
            <a:r>
              <a:t>12개월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58071" y="3017520"/>
            <a:ext cx="2339263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4B6580"/>
                </a:solidFill>
                <a:latin typeface="맑은 고딕"/>
              </a:defRPr>
            </a:pPr>
            <a:r>
              <a:t>2025.01 ~ 2025.12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레거시 시스템의 한계를 극복하고 AI 기반 스마트 물류 체계를 구축합니다.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4754880" cy="2926080"/>
          </a:xfrm>
          <a:prstGeom prst="roundRect">
            <a:avLst>
              <a:gd name="adj" fmla="val 10000"/>
            </a:avLst>
          </a:prstGeom>
          <a:solidFill>
            <a:srgbClr val="FFF5F5"/>
          </a:solidFill>
          <a:ln w="12700">
            <a:solidFill>
              <a:srgbClr val="C51F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600" b="1">
                <a:solidFill>
                  <a:srgbClr val="C51F2A"/>
                </a:solidFill>
                <a:latin typeface="맑은 고딕"/>
              </a:defRPr>
            </a:pPr>
            <a:r>
              <a:t>현황 (AS-IS)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⚠️ 10년 이상 운영된 레거시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⚡ 물류 처리 속도 저하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📦 실시간 재고 파악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4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📌 타 시스템 연동 한계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40680" y="2834640"/>
            <a:ext cx="731520" cy="548640"/>
          </a:xfrm>
          <a:prstGeom prst="rightArrow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1645920"/>
            <a:ext cx="4754880" cy="2926080"/>
          </a:xfrm>
          <a:prstGeom prst="roundRect">
            <a:avLst>
              <a:gd name="adj" fmla="val 10000"/>
            </a:avLst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783080"/>
            <a:ext cx="43891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600" b="1">
                <a:solidFill>
                  <a:srgbClr val="2E7D32"/>
                </a:solidFill>
                <a:latin typeface="맑은 고딕"/>
              </a:defRPr>
            </a:pPr>
            <a:r>
              <a:t>목표 (TO-BE)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4028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☁️ 클라우드 기반 확장성 확보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74320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🧠 AI 기반 물류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📌 실시간 재고/배송 추적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749040"/>
            <a:ext cx="42062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0">
                <a:solidFill>
                  <a:srgbClr val="333333"/>
                </a:solidFill>
                <a:latin typeface="맑은 고딕"/>
              </a:defRPr>
            </a:pPr>
            <a:r>
              <a:t>🔗 Open API 연동 체계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3576218" cy="822960"/>
          </a:xfrm>
          <a:prstGeom prst="roundRect">
            <a:avLst>
              <a:gd name="adj" fmla="val 10000"/>
            </a:avLst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4846320"/>
            <a:ext cx="348477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물류 처리 효율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348477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+30%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07738" y="4754880"/>
            <a:ext cx="3576218" cy="822960"/>
          </a:xfrm>
          <a:prstGeom prst="roundRect">
            <a:avLst>
              <a:gd name="adj" fmla="val 10000"/>
            </a:avLst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3458" y="4846320"/>
            <a:ext cx="348477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재고 정확도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3458" y="5166360"/>
            <a:ext cx="348477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99.5%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6836" y="4754880"/>
            <a:ext cx="3576218" cy="822960"/>
          </a:xfrm>
          <a:prstGeom prst="roundRect">
            <a:avLst>
              <a:gd name="adj" fmla="val 10000"/>
            </a:avLst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12556" y="4846320"/>
            <a:ext cx="3484778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운영 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12556" y="5166360"/>
            <a:ext cx="3484778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-20%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1. 프로젝트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4개 핵심 시스템 구축으로 물류 전 과정을 통합 관리합니다.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219456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002452"/>
                </a:solidFill>
                <a:latin typeface="맑은 고딕"/>
              </a:defRPr>
            </a:pPr>
            <a:r>
              <a:t>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002452"/>
                </a:solidFill>
                <a:latin typeface="맑은 고딕"/>
              </a:defRPr>
            </a:pPr>
            <a:r>
              <a:t>WMS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창고관리시스템</a:t>
            </a:r>
            <a:br/>
            <a:r>
              <a:t>입출고, 재고, 피킹/패킹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3673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673" y="1645920"/>
            <a:ext cx="73152" cy="219456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6553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4B6580"/>
                </a:solidFill>
                <a:latin typeface="맑은 고딕"/>
              </a:defRPr>
            </a:pPr>
            <a:r>
              <a:t>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4B6580"/>
                </a:solidFill>
                <a:latin typeface="맑은 고딕"/>
              </a:defRPr>
            </a:pPr>
            <a:r>
              <a:t>TMS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배송관리시스템</a:t>
            </a:r>
            <a:br/>
            <a:r>
              <a:t>배차, 경로최적화, 추적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645920"/>
            <a:ext cx="73152" cy="219456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E9B86E"/>
                </a:solidFill>
                <a:latin typeface="맑은 고딕"/>
              </a:defRPr>
            </a:pPr>
            <a:r>
              <a:t>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E9B86E"/>
                </a:solidFill>
                <a:latin typeface="맑은 고딕"/>
              </a:defRPr>
            </a:pPr>
            <a:r>
              <a:t>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주문관리시스템</a:t>
            </a:r>
            <a:br/>
            <a:r>
              <a:t>주문접수, 할당, 정산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621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6621" y="164592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9501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2E7D3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9501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통합모니터링</a:t>
            </a:r>
            <a:br/>
            <a:r>
              <a:t>실시간 현황, KPI, 리포트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2. 추진 전략 및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안정적 전환과 혁신적 기능 구현의 균형을 핵심 가치로 추진합니다.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219456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4093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00245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4093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002452"/>
                </a:solidFill>
                <a:latin typeface="맑은 고딕"/>
              </a:defRPr>
            </a:pPr>
            <a:r>
              <a:t>단계적 전환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324093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Big Bang 방식이 아닌 모듈별 순차 전환으로 리스크 최소화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2498" y="164592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2498" y="1645920"/>
            <a:ext cx="73152" cy="219456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75378" y="1783080"/>
            <a:ext cx="324093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C51F2A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2240280"/>
            <a:ext cx="324093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C51F2A"/>
                </a:solidFill>
                <a:latin typeface="맑은 고딕"/>
              </a:defRPr>
            </a:pPr>
            <a:r>
              <a:t>애자일 기반 개발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5378" y="2651760"/>
            <a:ext cx="324093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2주 단위 스프린트로 빠른 피드백과 유연한 대응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45920"/>
            <a:ext cx="3606698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64592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0676" y="1783080"/>
            <a:ext cx="3240938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2E7D3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0676" y="2240280"/>
            <a:ext cx="3240938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현업 밀착 협업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651760"/>
            <a:ext cx="3240938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주 2회 현업 리뷰를 통한 요구사항 정합성 확보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2. 추진 전략 및 방법론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Agile-Waterfall 하이브리드 방법론으로 안정성과 유연성을 동시에 확보합니다.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06727" y="2377440"/>
            <a:ext cx="1645920" cy="109728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528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요구사항 정의</a:t>
            </a:r>
            <a:br/>
            <a:r>
              <a:t>현행 분석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4408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084167" y="2377440"/>
            <a:ext cx="1645920" cy="109728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설계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272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아키텍처/UI/DB</a:t>
            </a:r>
            <a:br/>
            <a:r>
              <a:t>설계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2152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61607" y="2377440"/>
            <a:ext cx="1645920" cy="109728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개발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기능 구현</a:t>
            </a:r>
            <a:br/>
            <a:r>
              <a:t>단위 테스트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9896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39047" y="2377440"/>
            <a:ext cx="1645920" cy="1097280"/>
          </a:xfrm>
          <a:prstGeom prst="round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테스트/이행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760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통합/인수 테스트</a:t>
            </a:r>
            <a:br/>
            <a:r>
              <a:t>시스템 전환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3. 기술 아키텍처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클라우드 네이티브 MSA 구조로 확장성과 안정성을 동시에 확보합니다.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55064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42B8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92224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03120" y="1792224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194560" y="1837944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Vue.js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792224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837944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496312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6DB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33472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03120" y="2633472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94560" y="2679192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Spring Boot 3.2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03320" y="2633472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94760" y="2679192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Java 17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2633472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2679192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MSA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337560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3367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74720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Database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4747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352044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PostgreSQL 16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03320" y="3474720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4760" y="3520440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Redis 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78808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15968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Infrastructure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03120" y="431596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194560" y="4361688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AWS EKS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03320" y="431596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94760" y="4361688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RDS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4315968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4361688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S3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5020056"/>
            <a:ext cx="11277295" cy="731520"/>
          </a:xfrm>
          <a:prstGeom prst="roundRect">
            <a:avLst>
              <a:gd name="adj" fmla="val 10000"/>
            </a:avLst>
          </a:prstGeom>
          <a:solidFill>
            <a:srgbClr val="FF6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57216"/>
            <a:ext cx="13716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300" b="1">
                <a:solidFill>
                  <a:srgbClr val="FFFFFF"/>
                </a:solidFill>
                <a:latin typeface="맑은 고딕"/>
              </a:defRPr>
            </a:pPr>
            <a:r>
              <a:t>AI/ML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103120" y="515721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194560" y="5202936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Python 3.11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03320" y="5157216"/>
            <a:ext cx="1463040" cy="457200"/>
          </a:xfrm>
          <a:prstGeom prst="roundRect">
            <a:avLst>
              <a:gd name="adj" fmla="val 10000"/>
            </a:avLst>
          </a:prstGeom>
          <a:solidFill>
            <a:srgbClr val="FFFFFF">
              <a:lumMod val="70000"/>
              <a:lumOff val="30000"/>
            </a:srgbClr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794760" y="5202936"/>
            <a:ext cx="1280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100" b="0">
                <a:solidFill>
                  <a:srgbClr val="FFFFFF"/>
                </a:solidFill>
                <a:latin typeface="맑은 고딕"/>
              </a:defRPr>
            </a:pPr>
            <a:r>
              <a:t>TensorFlow 2.15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4. 프로젝트 조직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발주기관과 수행사의 긴밀한 협업 체계를 구축합니다.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24247" y="1645920"/>
            <a:ext cx="2743200" cy="731520"/>
          </a:xfrm>
          <a:prstGeom prst="roundRect">
            <a:avLst>
              <a:gd name="adj" fmla="val 10000"/>
            </a:avLst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15687" y="1719072"/>
            <a:ext cx="2560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프로젝트 스폰서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15687" y="196596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박지성 본부장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15687" y="2148840"/>
            <a:ext cx="25603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글로벌물류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6703" y="237744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2743200"/>
            <a:ext cx="5570067" cy="731520"/>
          </a:xfrm>
          <a:prstGeom prst="roundRect">
            <a:avLst>
              <a:gd name="adj" fmla="val 10000"/>
            </a:avLst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16352"/>
            <a:ext cx="538718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발주기관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5387187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정민호 부장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246120"/>
            <a:ext cx="5387187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총괄 관리, 의사결정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6703" y="237744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64427" y="2743200"/>
            <a:ext cx="5570067" cy="731520"/>
          </a:xfrm>
          <a:prstGeom prst="roundRect">
            <a:avLst>
              <a:gd name="adj" fmla="val 10000"/>
            </a:avLst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5867" y="2816352"/>
            <a:ext cx="5387187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FFFFFF"/>
                </a:solidFill>
                <a:latin typeface="맑은 고딕"/>
              </a:defRPr>
            </a:pPr>
            <a:r>
              <a:t>수행사 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55867" y="3063240"/>
            <a:ext cx="5387187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FFFFFF"/>
                </a:solidFill>
                <a:latin typeface="맑은 고딕"/>
              </a:defRPr>
            </a:pPr>
            <a:r>
              <a:t>김철수 차장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55867" y="3246120"/>
            <a:ext cx="5387187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FFFFFF"/>
                </a:solidFill>
                <a:latin typeface="맑은 고딕"/>
              </a:defRPr>
            </a:pPr>
            <a:r>
              <a:t>수행 총괄, 품질/위험 관리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40317" y="347472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7200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9136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PMO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이영희 과장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4340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관리 지원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40317" y="347472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965960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57400" y="39136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AA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416052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박준형 책임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34340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아키텍처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40317" y="347472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74720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0" y="39136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PL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66160" y="416052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최수진 선임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34340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개발 총괄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940317" y="347472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983480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4920" y="39136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QA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74920" y="416052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한미영 대리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434340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품질 관리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40317" y="3474720"/>
            <a:ext cx="18288" cy="18288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492240" y="3840480"/>
            <a:ext cx="1371600" cy="731520"/>
          </a:xfrm>
          <a:prstGeom prst="roundRect">
            <a:avLst>
              <a:gd name="adj" fmla="val 10000"/>
            </a:avLst>
          </a:prstGeom>
          <a:solidFill>
            <a:srgbClr val="F5F7FA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0" y="3913632"/>
            <a:ext cx="11887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DBA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0" y="416052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333333"/>
                </a:solidFill>
                <a:latin typeface="맑은 고딕"/>
              </a:defRPr>
            </a:pPr>
            <a:r>
              <a:t>오현우 대리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4343400"/>
            <a:ext cx="1188720" cy="1828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DB 설계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4. 투입 인력 현황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총 8명의 전문 인력이 78MM 투입되어 프로젝트를 수행합니다.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4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분야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등급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성명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투입기간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역할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특급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김철수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프로젝트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설계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특급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박준형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아키텍처 설계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최수진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12개월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임동현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백엔드 개발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강서연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프론트엔드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Dev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윤재호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10개월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백엔드 개발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고급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오현우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8개월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DB 설계/튜닝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테스트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중급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한미영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6개월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품질 관리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  <a:latin typeface="맑은 고딕"/>
                        </a:defRPr>
                      </a:pPr>
                      <a:r>
                        <a:t>합계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  <a:latin typeface="맑은 고딕"/>
                        </a:defRPr>
                      </a:pPr>
                      <a:r>
                        <a:t>8명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  <a:latin typeface="맑은 고딕"/>
                        </a:defRPr>
                      </a:p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E7D32"/>
                          </a:solidFill>
                          <a:latin typeface="맑은 고딕"/>
                        </a:defRPr>
                      </a:pPr>
                      <a:r>
                        <a:t>78MM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5. 마스터 일정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총 12개월 간 6단계로 체계적으로 프로젝트를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54480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1월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02814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2월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51149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3월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9483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4월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47818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5월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6152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6월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44487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7월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2822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8월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1156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9월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491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10월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37825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11월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6160" y="1645920"/>
            <a:ext cx="848334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12월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05740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착수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695869" y="2057400"/>
            <a:ext cx="735223" cy="320040"/>
          </a:xfrm>
          <a:prstGeom prst="roundRect">
            <a:avLst>
              <a:gd name="adj" fmla="val 10000"/>
            </a:avLst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2450592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분석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402814" y="2450592"/>
            <a:ext cx="1724946" cy="320040"/>
          </a:xfrm>
          <a:prstGeom prst="roundRect">
            <a:avLst>
              <a:gd name="adj" fmla="val 10000"/>
            </a:avLst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설계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9483" y="2843784"/>
            <a:ext cx="1724946" cy="320040"/>
          </a:xfrm>
          <a:prstGeom prst="roundRect">
            <a:avLst>
              <a:gd name="adj" fmla="val 10000"/>
            </a:avLst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36976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개발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96152" y="3236976"/>
            <a:ext cx="3393338" cy="320040"/>
          </a:xfrm>
          <a:prstGeom prst="roundRect">
            <a:avLst>
              <a:gd name="adj" fmla="val 10000"/>
            </a:avLst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3630168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테스트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89491" y="3630168"/>
            <a:ext cx="1272501" cy="320040"/>
          </a:xfrm>
          <a:prstGeom prst="roundRect">
            <a:avLst>
              <a:gd name="adj" fmla="val 10000"/>
            </a:avLst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023360"/>
            <a:ext cx="10058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이행/안정화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461993" y="4023360"/>
            <a:ext cx="1300779" cy="320040"/>
          </a:xfrm>
          <a:prstGeom prst="roundRect">
            <a:avLst>
              <a:gd name="adj" fmla="val 10000"/>
            </a:avLst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1745818" y="4690872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80058" y="49194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M1 착수보고</a:t>
            </a:r>
          </a:p>
        </p:txBody>
      </p:sp>
      <p:sp>
        <p:nvSpPr>
          <p:cNvPr id="30" name="Diamond 29"/>
          <p:cNvSpPr/>
          <p:nvPr/>
        </p:nvSpPr>
        <p:spPr>
          <a:xfrm>
            <a:off x="4036321" y="4690872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70561" y="49194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M2 요구사항 확정</a:t>
            </a:r>
          </a:p>
        </p:txBody>
      </p:sp>
      <p:sp>
        <p:nvSpPr>
          <p:cNvPr id="32" name="Diamond 31"/>
          <p:cNvSpPr/>
          <p:nvPr/>
        </p:nvSpPr>
        <p:spPr>
          <a:xfrm>
            <a:off x="5732990" y="4690872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67230" y="49194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M3 설계 완료</a:t>
            </a:r>
          </a:p>
        </p:txBody>
      </p:sp>
      <p:sp>
        <p:nvSpPr>
          <p:cNvPr id="34" name="Diamond 33"/>
          <p:cNvSpPr/>
          <p:nvPr/>
        </p:nvSpPr>
        <p:spPr>
          <a:xfrm>
            <a:off x="9098051" y="4690872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32291" y="49194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M4 개발 완료</a:t>
            </a:r>
          </a:p>
        </p:txBody>
      </p:sp>
      <p:sp>
        <p:nvSpPr>
          <p:cNvPr id="36" name="Diamond 35"/>
          <p:cNvSpPr/>
          <p:nvPr/>
        </p:nvSpPr>
        <p:spPr>
          <a:xfrm>
            <a:off x="10370553" y="4690872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04793" y="49194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M5 테스트 완료</a:t>
            </a:r>
          </a:p>
        </p:txBody>
      </p:sp>
      <p:sp>
        <p:nvSpPr>
          <p:cNvPr id="38" name="Diamond 37"/>
          <p:cNvSpPr/>
          <p:nvPr/>
        </p:nvSpPr>
        <p:spPr>
          <a:xfrm>
            <a:off x="10822998" y="4690872"/>
            <a:ext cx="182880" cy="18288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57238" y="4919472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800" b="0">
                <a:solidFill>
                  <a:srgbClr val="666666"/>
                </a:solidFill>
                <a:latin typeface="맑은 고딕"/>
              </a:defRPr>
            </a:pPr>
            <a:r>
              <a:t>M6 시스템 오픈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5. 주요 마일스톤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6개 핵심 마일스톤을 통해 프로젝트 진척을 관리합니다.</a:t>
            </a:r>
          </a:p>
        </p:txBody>
      </p:sp>
      <p:sp>
        <p:nvSpPr>
          <p:cNvPr id="4" name="Oval 3"/>
          <p:cNvSpPr/>
          <p:nvPr/>
        </p:nvSpPr>
        <p:spPr>
          <a:xfrm>
            <a:off x="-259232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762152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착수보고</a:t>
            </a:r>
            <a:br/>
            <a:r>
              <a:t>01/10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6664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11820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528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요구사항 확정</a:t>
            </a:r>
            <a:br/>
            <a:r>
              <a:t>03/31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44408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49564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272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설계 완료</a:t>
            </a:r>
            <a:br/>
            <a:r>
              <a:t>05/31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82152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87308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016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개발 완료</a:t>
            </a:r>
            <a:br/>
            <a:r>
              <a:t>09/30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19896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25052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760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테스트 완료</a:t>
            </a:r>
            <a:br/>
            <a:r>
              <a:t>11/15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7640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62796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M6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2504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시스템 오픈</a:t>
            </a:r>
            <a:br/>
            <a:r>
              <a:t>12/01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6. 산출물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단계별 핵심 산출물을 체계적으로 관리하고 승인받습니다.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5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산출물명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작성시기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승인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착수보고서, 수행계획서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착수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스폰서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분석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요구사항정의서, 현행시스템분석서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분석 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아키텍처설계서, DB설계서, 화면설계서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AA/DBA/PL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설계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소스코드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개발팀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개발 완료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통합테스트결과서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QA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테스트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이행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운영자매뉴얼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PL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이행 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발주PM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완료보고서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종료 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스폰서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7. 품질 보증 활동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4단계 품질 보증 활동으로 시스템 품질을 확보합니다.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219456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00245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002452"/>
                </a:solidFill>
                <a:latin typeface="맑은 고딕"/>
              </a:defRPr>
            </a:pPr>
            <a:r>
              <a:t>산출물 검토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단계별 말</a:t>
            </a:r>
            <a:br/>
            <a:r>
              <a:t>발주 담당자 검토 및 승인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3673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673" y="1645920"/>
            <a:ext cx="73152" cy="219456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6553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4B6580"/>
                </a:solidFill>
                <a:latin typeface="맑은 고딕"/>
              </a:defRPr>
            </a:pPr>
            <a:r>
              <a:t>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4B6580"/>
                </a:solidFill>
                <a:latin typeface="맑은 고딕"/>
              </a:defRPr>
            </a:pPr>
            <a:r>
              <a:t>코드 리뷰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개발 기간</a:t>
            </a:r>
            <a:br/>
            <a:r>
              <a:t>GitHub PR 필수, 2인 이상 승인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645920"/>
            <a:ext cx="73152" cy="219456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E9B86E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E9B86E"/>
                </a:solidFill>
                <a:latin typeface="맑은 고딕"/>
              </a:defRPr>
            </a:pPr>
            <a:r>
              <a:t>정적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개발 기간</a:t>
            </a:r>
            <a:br/>
            <a:r>
              <a:t>SonarQube 품질 게이트 적용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621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6621" y="164592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9501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2E7D3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9501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테스트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통합/인수</a:t>
            </a:r>
            <a:br/>
            <a:r>
              <a:t>시나리오 기반 테스트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7. 보안 관리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4대 보안 영역에 대한 철저한 관리 체계를 수립합니다.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219456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00245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002452"/>
                </a:solidFill>
                <a:latin typeface="맑은 고딕"/>
              </a:defRPr>
            </a:pPr>
            <a:r>
              <a:t>인적 보안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보안서약서 징구</a:t>
            </a:r>
            <a:br/>
            <a:r>
              <a:t>보안 교육 실시</a:t>
            </a:r>
            <a:br/>
            <a:r>
              <a:t>전 인원 대상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3673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673" y="1645920"/>
            <a:ext cx="73152" cy="2194560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6553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C51F2A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C51F2A"/>
                </a:solidFill>
                <a:latin typeface="맑은 고딕"/>
              </a:defRPr>
            </a:pPr>
            <a:r>
              <a:t>물리 보안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통제구역 출입 관리</a:t>
            </a:r>
            <a:br/>
            <a:r>
              <a:t>반입 장비 통제</a:t>
            </a:r>
            <a:br/>
            <a:r>
              <a:t>고객사 정책 준수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64592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2E7D32"/>
                </a:solidFill>
                <a:latin typeface="맑은 고딕"/>
              </a:defRPr>
            </a:pPr>
            <a: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기술 보안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소스코드 보안약점 진단</a:t>
            </a:r>
            <a:br/>
            <a:r>
              <a:t>DB 암호화</a:t>
            </a:r>
            <a:br/>
            <a:r>
              <a:t>OWASP Top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621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6621" y="1645920"/>
            <a:ext cx="73152" cy="219456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9501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E9B86E"/>
                </a:solidFill>
                <a:latin typeface="맑은 고딕"/>
              </a:defRPr>
            </a:pPr>
            <a:r>
              <a:t>💻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9501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E9B86E"/>
                </a:solidFill>
                <a:latin typeface="맑은 고딕"/>
              </a:defRPr>
            </a:pPr>
            <a:r>
              <a:t>PC 보안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백신 설치</a:t>
            </a:r>
            <a:br/>
            <a:r>
              <a:t>화면보호기 설정</a:t>
            </a:r>
            <a:br/>
            <a:r>
              <a:t>DLP 솔루션 적용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8. 교육 및 기술이전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체계적인 교육과 기술이전으로 안정적인 운영 전환을 지원합니다.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545576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400" b="1">
                <a:solidFill>
                  <a:srgbClr val="002452"/>
                </a:solidFill>
                <a:latin typeface="맑은 고딕"/>
              </a:defRPr>
            </a:pPr>
            <a:r>
              <a:t>교육 훈련 계획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57400"/>
            <a:ext cx="1371600" cy="36576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194560"/>
          <a:ext cx="5455767.5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8589"/>
                <a:gridCol w="1818589"/>
                <a:gridCol w="1818589"/>
              </a:tblGrid>
              <a:tr h="320040">
                <a:tc>
                  <a:txBody>
                    <a:bodyPr/>
                    <a:lstStyle/>
                    <a:p>
                      <a:pPr>
                        <a:defRPr sz="1000" b="1">
                          <a:latin typeface="맑은 고딕"/>
                        </a:defRPr>
                      </a:pPr>
                      <a:r>
                        <a:t>교육명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맑은 고딕"/>
                        </a:defRPr>
                      </a:pPr>
                      <a:r>
                        <a:t>대상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latin typeface="맑은 고딕"/>
                        </a:defRPr>
                      </a:pPr>
                      <a:r>
                        <a:t>시기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사용자 교육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현업 담당자 30명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오픈 2주 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운영자 교육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IT 운영팀 5명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오픈 3주 전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관리자 교육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관리자 10명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맑은 고딕"/>
                        </a:defRPr>
                      </a:pPr>
                      <a:r>
                        <a:t>오픈 1주 전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78727" y="1645920"/>
            <a:ext cx="5455767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400" b="1">
                <a:solidFill>
                  <a:srgbClr val="002452"/>
                </a:solidFill>
                <a:latin typeface="맑은 고딕"/>
              </a:defRPr>
            </a:pPr>
            <a:r>
              <a:t>기술이전 계획</a:t>
            </a:r>
          </a:p>
        </p:txBody>
      </p:sp>
      <p:sp>
        <p:nvSpPr>
          <p:cNvPr id="8" name="Rectangle 7"/>
          <p:cNvSpPr/>
          <p:nvPr/>
        </p:nvSpPr>
        <p:spPr>
          <a:xfrm>
            <a:off x="6278727" y="2057400"/>
            <a:ext cx="1371600" cy="36576"/>
          </a:xfrm>
          <a:prstGeom prst="rect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78727" y="2286000"/>
            <a:ext cx="54557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이전 대상: 소스코드, 설계 산출물, 운영 매뉴얼 일체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2788920"/>
            <a:ext cx="54557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이전 방법: 담당자 1:1 멘토링 및 인계인수서 작성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3291840"/>
            <a:ext cx="5455767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0">
                <a:solidFill>
                  <a:srgbClr val="333333"/>
                </a:solidFill>
                <a:latin typeface="맑은 고딕"/>
              </a:defRPr>
            </a:pPr>
            <a:r>
              <a:t>• 지원 기간: 시스템 안정화 기간 (오픈 후 3개월)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9. 위험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5대 주요 위험 요소를 사전 식별하고 선제적으로 대응합니다.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31720" y="5212080"/>
            <a:ext cx="914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발생확률 →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8720" y="4053840"/>
            <a:ext cx="1066800" cy="1066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55520" y="4053840"/>
            <a:ext cx="1066800" cy="1066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22320" y="4053840"/>
            <a:ext cx="1066800" cy="10668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987040"/>
            <a:ext cx="1066800" cy="106680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55520" y="2987040"/>
            <a:ext cx="1066800" cy="10668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22320" y="2987040"/>
            <a:ext cx="1066800" cy="1066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88720" y="1920240"/>
            <a:ext cx="1066800" cy="1066800"/>
          </a:xfrm>
          <a:prstGeom prst="rect">
            <a:avLst/>
          </a:prstGeom>
          <a:solidFill>
            <a:srgbClr val="FFF3E0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55520" y="1920240"/>
            <a:ext cx="1066800" cy="1066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22320" y="1920240"/>
            <a:ext cx="1066800" cy="1066800"/>
          </a:xfrm>
          <a:prstGeom prst="rect">
            <a:avLst/>
          </a:prstGeom>
          <a:solidFill>
            <a:srgbClr val="FFEBEE"/>
          </a:solidFill>
          <a:ln w="1270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718560" y="2316480"/>
            <a:ext cx="274320" cy="274320"/>
          </a:xfrm>
          <a:prstGeom prst="ellipse">
            <a:avLst/>
          </a:prstGeom>
          <a:solidFill>
            <a:srgbClr val="C51F2A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651760" y="2316480"/>
            <a:ext cx="274320" cy="274320"/>
          </a:xfrm>
          <a:prstGeom prst="ellipse">
            <a:avLst/>
          </a:prstGeom>
          <a:solidFill>
            <a:srgbClr val="E9B86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651760" y="3383280"/>
            <a:ext cx="274320" cy="274320"/>
          </a:xfrm>
          <a:prstGeom prst="ellipse">
            <a:avLst/>
          </a:prstGeom>
          <a:solidFill>
            <a:srgbClr val="E9B86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584960" y="2316480"/>
            <a:ext cx="274320" cy="274320"/>
          </a:xfrm>
          <a:prstGeom prst="ellipse">
            <a:avLst/>
          </a:prstGeom>
          <a:solidFill>
            <a:srgbClr val="2E7D32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651760" y="2316480"/>
            <a:ext cx="274320" cy="274320"/>
          </a:xfrm>
          <a:prstGeom prst="ellipse">
            <a:avLst/>
          </a:prstGeom>
          <a:solidFill>
            <a:srgbClr val="E9B86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46320" y="192024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1">
                <a:solidFill>
                  <a:srgbClr val="002452"/>
                </a:solidFill>
                <a:latin typeface="맑은 고딕"/>
              </a:defRPr>
            </a:pPr>
            <a:r>
              <a:t>R1 요구사항 변경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14884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대응: CCB 통해 통제, 영향도 분석 필수 (PM)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256032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1">
                <a:solidFill>
                  <a:srgbClr val="002452"/>
                </a:solidFill>
                <a:latin typeface="맑은 고딕"/>
              </a:defRPr>
            </a:pPr>
            <a:r>
              <a:t>R2 일정 지연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78892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대응: 주간 진척관리, Critical Path 모니터링 (PM)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320040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1">
                <a:solidFill>
                  <a:srgbClr val="002452"/>
                </a:solidFill>
                <a:latin typeface="맑은 고딕"/>
              </a:defRPr>
            </a:pPr>
            <a:r>
              <a:t>R3 기술적 난제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42900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대응: PoC 선행, 외부 전문가 자문 (AA)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84048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1">
                <a:solidFill>
                  <a:srgbClr val="002452"/>
                </a:solidFill>
                <a:latin typeface="맑은 고딕"/>
              </a:defRPr>
            </a:pPr>
            <a:r>
              <a:t>R4 인력 이탈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46320" y="406908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대응: 대체 인력 풀 확보, 기술 문서화 (PM)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46320" y="4480560"/>
            <a:ext cx="4572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100" b="1">
                <a:solidFill>
                  <a:srgbClr val="002452"/>
                </a:solidFill>
                <a:latin typeface="맑은 고딕"/>
              </a:defRPr>
            </a:pPr>
            <a:r>
              <a:t>R5 데이터 마이그레이션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709160"/>
            <a:ext cx="45720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900" b="0">
                <a:solidFill>
                  <a:srgbClr val="666666"/>
                </a:solidFill>
                <a:latin typeface="맑은 고딕"/>
              </a:defRPr>
            </a:pPr>
            <a:r>
              <a:t>대응: 사전 검증, 롤백 계획 수립 (DBA)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9. 변경 통제 절차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4단계 변경 통제 절차를 통해 체계적으로 변경을 관리합니다.</a:t>
            </a:r>
          </a:p>
        </p:txBody>
      </p:sp>
      <p:sp>
        <p:nvSpPr>
          <p:cNvPr id="4" name="Oval 3"/>
          <p:cNvSpPr/>
          <p:nvPr/>
        </p:nvSpPr>
        <p:spPr>
          <a:xfrm>
            <a:off x="211820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1528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변경 요청</a:t>
            </a:r>
            <a:br/>
            <a:r>
              <a:t>CR 접수 (Jira)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4408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9564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9272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영향도 분석</a:t>
            </a:r>
            <a:br/>
            <a:r>
              <a:t>일정/비용/품질 (3일)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2152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6827367" y="2377440"/>
            <a:ext cx="914400" cy="914400"/>
          </a:xfrm>
          <a:prstGeom prst="diamond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FFFFF"/>
                </a:solidFill>
                <a:latin typeface="맑은 고딕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승인/반려</a:t>
            </a:r>
            <a:br/>
            <a:r>
              <a:t>CCB 의사결정 (주1회)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198967" y="2743200"/>
            <a:ext cx="548640" cy="274320"/>
          </a:xfrm>
          <a:prstGeom prst="rightArrow">
            <a:avLst/>
          </a:prstGeom>
          <a:solidFill>
            <a:srgbClr val="C51F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50527" y="2377440"/>
            <a:ext cx="822960" cy="822960"/>
          </a:xfrm>
          <a:prstGeom prst="ellipse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  <a:latin typeface="맑은 고딕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47607" y="3566160"/>
            <a:ext cx="18288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lnSpc>
                <a:spcPct val="120000"/>
              </a:lnSpc>
              <a:defRPr sz="1000" b="0">
                <a:solidFill>
                  <a:srgbClr val="666666"/>
                </a:solidFill>
                <a:latin typeface="맑은 고딕"/>
              </a:defRPr>
            </a:pPr>
            <a:r>
              <a:t>변경 이행</a:t>
            </a:r>
            <a:br/>
            <a:r>
              <a:t>반영 및 현행화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10. 의사소통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4가지 정기 회의 체계로 원활한 소통을 유지합니다.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1127729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323"/>
                <a:gridCol w="2819323"/>
                <a:gridCol w="2819323"/>
                <a:gridCol w="2819323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유형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참석 대상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주요 내용</a:t>
                      </a:r>
                    </a:p>
                  </a:txBody>
                  <a:tcPr>
                    <a:solidFill>
                      <a:srgbClr val="00245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일일 스탠드업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매일 09:30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개발팀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진행 현황, 블로커 공유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주간보고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매주 금 14:00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PM, 발주PM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주간 실적/계획, 이슈 공유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월간보고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매월 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경영진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마일스톤 점검, 리스크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스프린트 리뷰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격주 금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전체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맑은 고딕"/>
                        </a:defRPr>
                      </a:pPr>
                      <a:r>
                        <a:t>데모, 피드백 수렴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10. 협조 요청 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600" b="0">
                <a:solidFill>
                  <a:srgbClr val="666666"/>
                </a:solidFill>
                <a:latin typeface="맑은 고딕"/>
              </a:defRPr>
            </a:pPr>
            <a:r>
              <a:t>원활한 프로젝트 수행을 위해 아래 사항의 협조를 요청드립니다.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73152" cy="2194560"/>
          </a:xfrm>
          <a:prstGeom prst="rect">
            <a:avLst/>
          </a:prstGeom>
          <a:solidFill>
            <a:srgbClr val="0024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002452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002452"/>
                </a:solidFill>
                <a:latin typeface="맑은 고딕"/>
              </a:defRPr>
            </a:pPr>
            <a:r>
              <a:t>환경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프로젝트 룸 10석</a:t>
            </a:r>
            <a:br/>
            <a:r>
              <a:t>네트워크(VPN)</a:t>
            </a:r>
            <a:br/>
            <a:r>
              <a:t>출입증 발급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3673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3673" y="1645920"/>
            <a:ext cx="73152" cy="2194560"/>
          </a:xfrm>
          <a:prstGeom prst="rect">
            <a:avLst/>
          </a:prstGeom>
          <a:solidFill>
            <a:srgbClr val="4B65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16553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4B6580"/>
                </a:solidFill>
                <a:latin typeface="맑은 고딕"/>
              </a:defRPr>
            </a:pPr>
            <a: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6553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4B6580"/>
                </a:solidFill>
                <a:latin typeface="맑은 고딕"/>
              </a:defRPr>
            </a:pPr>
            <a:r>
              <a:t>데이터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16553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테스트용 샘플 데이터</a:t>
            </a:r>
            <a:br/>
            <a:r>
              <a:t>개인정보 비식별화 필수</a:t>
            </a:r>
            <a:br/>
            <a:r>
              <a:t>설계/개발 시 필요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0147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1645920"/>
            <a:ext cx="73152" cy="2194560"/>
          </a:xfrm>
          <a:prstGeom prst="rect">
            <a:avLst/>
          </a:prstGeom>
          <a:solidFill>
            <a:srgbClr val="E9B8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3027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E9B86E"/>
                </a:solidFill>
                <a:latin typeface="맑은 고딕"/>
              </a:defRPr>
            </a:pPr>
            <a:r>
              <a:t>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E9B86E"/>
                </a:solidFill>
                <a:latin typeface="맑은 고딕"/>
              </a:defRPr>
            </a:pPr>
            <a:r>
              <a:t>인프라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3027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AWS 계정 및 권한</a:t>
            </a:r>
            <a:br/>
            <a:r>
              <a:t>개발/스테이징/운영</a:t>
            </a:r>
            <a:br/>
            <a:r>
              <a:t>착수 시 필요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86621" y="1645920"/>
            <a:ext cx="2647873" cy="21945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86621" y="1645920"/>
            <a:ext cx="73152" cy="2194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69501" y="1783080"/>
            <a:ext cx="2282113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3200" b="0">
                <a:solidFill>
                  <a:srgbClr val="2E7D32"/>
                </a:solidFill>
                <a:latin typeface="맑은 고딕"/>
              </a:defRPr>
            </a:pPr>
            <a:r>
              <a:t>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69501" y="2240280"/>
            <a:ext cx="2282113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500" b="1">
                <a:solidFill>
                  <a:srgbClr val="2E7D32"/>
                </a:solidFill>
                <a:latin typeface="맑은 고딕"/>
              </a:defRPr>
            </a:pPr>
            <a:r>
              <a:t>참여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69501" y="2651760"/>
            <a:ext cx="2282113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30000"/>
              </a:lnSpc>
              <a:defRPr sz="1100" b="0">
                <a:solidFill>
                  <a:srgbClr val="666666"/>
                </a:solidFill>
                <a:latin typeface="맑은 고딕"/>
              </a:defRPr>
            </a:pPr>
            <a:r>
              <a:t>요구사항 인터뷰</a:t>
            </a:r>
            <a:br/>
            <a:r>
              <a:t>UAT 지원</a:t>
            </a:r>
            <a:br/>
            <a:r>
              <a:t>현업 담당자 협조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7295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2800" b="1">
                <a:solidFill>
                  <a:srgbClr val="002452"/>
                </a:solidFill>
                <a:latin typeface="맑은 고딕"/>
              </a:defRPr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333333"/>
                </a:solidFill>
                <a:latin typeface="맑은 고딕"/>
              </a:defRPr>
            </a:pPr>
            <a:r>
              <a:t>스마트 물류관리 시스템 구축 프로젝트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333333"/>
                </a:solidFill>
                <a:latin typeface="맑은 고딕"/>
              </a:defRPr>
            </a:pPr>
            <a:r>
              <a:t>(주)테크솔루션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83464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333333"/>
                </a:solidFill>
                <a:latin typeface="맑은 고딕"/>
              </a:defRPr>
            </a:pPr>
            <a:r>
              <a:t>PM 김철수 차장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91840"/>
            <a:ext cx="11277295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lnSpc>
                <a:spcPct val="120000"/>
              </a:lnSpc>
              <a:defRPr sz="1800" b="0">
                <a:solidFill>
                  <a:srgbClr val="333333"/>
                </a:solidFill>
                <a:latin typeface="맑은 고딕"/>
              </a:defRPr>
            </a:pPr>
            <a:r>
              <a:t>Tel: 02-1234-5678 | Email: pm@techsolution.co.kr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