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</p:sldIdLst>
  <p:sldSz cx="99072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251" d="100"/>
          <a:sy n="251" d="100"/>
        </p:scale>
        <p:origin x="2334" y="210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8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0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17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028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855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7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5.bin"/><Relationship Id="rId7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6.bin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Body삭제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7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4294967295" pos="6068">
          <p15:clr>
            <a:srgbClr val="FBAE40"/>
          </p15:clr>
        </p15:guide>
        <p15:guide id="4294967295" pos="172">
          <p15:clr>
            <a:srgbClr val="FBAE40"/>
          </p15:clr>
        </p15:guide>
        <p15:guide id="4294967295" orient="horz" pos="4065">
          <p15:clr>
            <a:srgbClr val="F26B43"/>
          </p15:clr>
        </p15:guide>
        <p15:guide id="4294967295" orient="horz" pos="822">
          <p15:clr>
            <a:srgbClr val="F26B43"/>
          </p15:clr>
        </p15:guide>
        <p15:guide id="4294967295" orient="horz" pos="346">
          <p15:clr>
            <a:srgbClr val="F26B43"/>
          </p15:clr>
        </p15:guide>
        <p15:guide id="4294967295" orient="horz" pos="4269">
          <p15:clr>
            <a:srgbClr val="FBAE40"/>
          </p15:clr>
        </p15:guide>
        <p15:guide id="4294967295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9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2452"/>
                </a:solidFill>
              </a:defRPr>
            </a:pPr>
            <a:r>
              <a:t>스마트 물류관리 시스템 구축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2452"/>
                </a:solidFill>
              </a:defRPr>
            </a:pPr>
            <a:r>
              <a:t>스마트 물류관리 시스템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01</a:t>
            </a:r>
          </a:p>
          <a:p>
            <a:pPr/>
            <a:r>
              <a:t>02</a:t>
            </a:r>
          </a:p>
          <a:p>
            <a:pPr/>
            <a:r>
              <a:t>03</a:t>
            </a:r>
          </a:p>
          <a:p>
            <a:pPr/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03-05</a:t>
            </a:r>
          </a:p>
          <a:p>
            <a:pPr/>
            <a:r>
              <a:t>06-08</a:t>
            </a:r>
          </a:p>
          <a:p>
            <a:pPr/>
            <a:r>
              <a:t>09-12</a:t>
            </a:r>
          </a:p>
          <a:p>
            <a:pPr/>
            <a:r>
              <a:t>13-17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프로젝트 개요</a:t>
            </a:r>
          </a:p>
          <a:p>
            <a:pPr/>
            <a:r>
              <a:t>추진 전략 및 방법론</a:t>
            </a:r>
          </a:p>
          <a:p>
            <a:pPr/>
            <a:r>
              <a:t>조직 및 일정</a:t>
            </a:r>
          </a:p>
          <a:p>
            <a:pPr/>
            <a:r>
              <a:t>품질·위험·소통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01</a:t>
            </a:r>
          </a:p>
          <a:p>
            <a:pPr/>
            <a:r>
              <a:t>02</a:t>
            </a:r>
          </a:p>
          <a:p>
            <a:pPr/>
            <a:r>
              <a:t>03</a:t>
            </a:r>
          </a:p>
          <a:p>
            <a:pPr/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03-05</a:t>
            </a:r>
          </a:p>
          <a:p>
            <a:pPr/>
            <a:r>
              <a:t>06-08</a:t>
            </a:r>
          </a:p>
          <a:p>
            <a:pPr/>
            <a:r>
              <a:t>09-12</a:t>
            </a:r>
          </a:p>
          <a:p>
            <a:pPr/>
            <a:r>
              <a:t>13-17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프로젝트 개요</a:t>
            </a:r>
          </a:p>
          <a:p>
            <a:pPr/>
            <a:r>
              <a:t>추진 전략 및 방법론</a:t>
            </a:r>
          </a:p>
          <a:p>
            <a:pPr/>
            <a:r>
              <a:t>조직 및 일정</a:t>
            </a:r>
          </a:p>
          <a:p>
            <a:pPr/>
            <a:r>
              <a:t>품질·위험·소통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3687480" y="5029200"/>
            <a:ext cx="41148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100">
                <a:solidFill>
                  <a:srgbClr val="666666"/>
                </a:solidFill>
                <a:latin typeface="본고딕"/>
              </a:defRPr>
            </a:pPr>
            <a:r>
              <a:t>발주기관</a:t>
            </a:r>
          </a:p>
          <a:p>
            <a:pPr>
              <a:spcBef>
                <a:spcPts val="400"/>
              </a:spcBef>
              <a:defRPr sz="2800" b="1">
                <a:solidFill>
                  <a:srgbClr val="002452"/>
                </a:solidFill>
                <a:latin typeface="Arial"/>
              </a:defRPr>
            </a:pPr>
            <a:r>
              <a:t>(주)글로벌물류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본고딕"/>
              </a:defRPr>
            </a:pPr>
            <a:r>
              <a:t>국내 Top 5 물류기업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1640" y="5029200"/>
            <a:ext cx="41148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100">
                <a:solidFill>
                  <a:srgbClr val="666666"/>
                </a:solidFill>
                <a:latin typeface="본고딕"/>
              </a:defRPr>
            </a:pPr>
            <a:r>
              <a:t>계약금액</a:t>
            </a:r>
          </a:p>
          <a:p>
            <a:pPr>
              <a:spcBef>
                <a:spcPts val="400"/>
              </a:spcBef>
              <a:defRPr sz="2800" b="1">
                <a:solidFill>
                  <a:srgbClr val="C51F2A"/>
                </a:solidFill>
                <a:latin typeface="Arial"/>
              </a:defRPr>
            </a:pPr>
            <a:r>
              <a:t>15억원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본고딕"/>
              </a:defRPr>
            </a:pPr>
            <a:r>
              <a:t>VAT 별도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0760" y="5029200"/>
            <a:ext cx="41148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100">
                <a:solidFill>
                  <a:srgbClr val="666666"/>
                </a:solidFill>
                <a:latin typeface="본고딕"/>
              </a:defRPr>
            </a:pPr>
            <a:r>
              <a:t>계약기간</a:t>
            </a:r>
          </a:p>
          <a:p>
            <a:pPr>
              <a:spcBef>
                <a:spcPts val="400"/>
              </a:spcBef>
              <a:defRPr sz="2800" b="1">
                <a:solidFill>
                  <a:srgbClr val="4B6580"/>
                </a:solidFill>
                <a:latin typeface="Arial"/>
              </a:defRPr>
            </a:pPr>
            <a:r>
              <a:t>12개월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본고딕"/>
              </a:defRPr>
            </a:pPr>
            <a:r>
              <a:t>2025.01 ~ 2025.12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79880" y="5029200"/>
            <a:ext cx="41148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100">
                <a:solidFill>
                  <a:srgbClr val="666666"/>
                </a:solidFill>
                <a:latin typeface="본고딕"/>
              </a:defRPr>
            </a:pPr>
            <a:r>
              <a:t>투입인력</a:t>
            </a:r>
          </a:p>
          <a:p>
            <a:pPr>
              <a:spcBef>
                <a:spcPts val="400"/>
              </a:spcBef>
              <a:defRPr sz="2800" b="1">
                <a:solidFill>
                  <a:srgbClr val="2E7D32"/>
                </a:solidFill>
                <a:latin typeface="Arial"/>
              </a:defRPr>
            </a:pPr>
            <a:r>
              <a:t>8명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본고딕"/>
              </a:defRPr>
            </a:pPr>
            <a:r>
              <a:t>78 M/M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3687480" y="5029200"/>
            <a:ext cx="41148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100">
                <a:solidFill>
                  <a:srgbClr val="666666"/>
                </a:solidFill>
                <a:latin typeface="본고딕"/>
              </a:defRPr>
            </a:pPr>
            <a:r>
              <a:t>발주기관</a:t>
            </a:r>
          </a:p>
          <a:p>
            <a:pPr>
              <a:spcBef>
                <a:spcPts val="400"/>
              </a:spcBef>
              <a:defRPr sz="2800" b="1">
                <a:solidFill>
                  <a:srgbClr val="002452"/>
                </a:solidFill>
                <a:latin typeface="Arial"/>
              </a:defRPr>
            </a:pPr>
            <a:r>
              <a:t>(주)글로벌물류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본고딕"/>
              </a:defRPr>
            </a:pPr>
            <a:r>
              <a:t>국내 Top 5 물류기업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1640" y="5029200"/>
            <a:ext cx="41148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100">
                <a:solidFill>
                  <a:srgbClr val="666666"/>
                </a:solidFill>
                <a:latin typeface="본고딕"/>
              </a:defRPr>
            </a:pPr>
            <a:r>
              <a:t>계약금액</a:t>
            </a:r>
          </a:p>
          <a:p>
            <a:pPr>
              <a:spcBef>
                <a:spcPts val="400"/>
              </a:spcBef>
              <a:defRPr sz="2800" b="1">
                <a:solidFill>
                  <a:srgbClr val="C51F2A"/>
                </a:solidFill>
                <a:latin typeface="Arial"/>
              </a:defRPr>
            </a:pPr>
            <a:r>
              <a:t>15억원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본고딕"/>
              </a:defRPr>
            </a:pPr>
            <a:r>
              <a:t>VAT 별도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0760" y="5029200"/>
            <a:ext cx="41148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100">
                <a:solidFill>
                  <a:srgbClr val="666666"/>
                </a:solidFill>
                <a:latin typeface="본고딕"/>
              </a:defRPr>
            </a:pPr>
            <a:r>
              <a:t>계약기간</a:t>
            </a:r>
          </a:p>
          <a:p>
            <a:pPr>
              <a:spcBef>
                <a:spcPts val="400"/>
              </a:spcBef>
              <a:defRPr sz="2800" b="1">
                <a:solidFill>
                  <a:srgbClr val="4B6580"/>
                </a:solidFill>
                <a:latin typeface="Arial"/>
              </a:defRPr>
            </a:pPr>
            <a:r>
              <a:t>12개월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본고딕"/>
              </a:defRPr>
            </a:pPr>
            <a:r>
              <a:t>2025.01 ~ 2025.12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79880" y="5029200"/>
            <a:ext cx="41148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100">
                <a:solidFill>
                  <a:srgbClr val="666666"/>
                </a:solidFill>
                <a:latin typeface="본고딕"/>
              </a:defRPr>
            </a:pPr>
            <a:r>
              <a:t>투입인력</a:t>
            </a:r>
          </a:p>
          <a:p>
            <a:pPr>
              <a:spcBef>
                <a:spcPts val="400"/>
              </a:spcBef>
              <a:defRPr sz="2800" b="1">
                <a:solidFill>
                  <a:srgbClr val="2E7D32"/>
                </a:solidFill>
                <a:latin typeface="Arial"/>
              </a:defRPr>
            </a:pPr>
            <a:r>
              <a:t>8명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본고딕"/>
              </a:defRPr>
            </a:pPr>
            <a:r>
              <a:t>78 M/M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2590200" y="4572000"/>
            <a:ext cx="7315200" cy="4114800"/>
          </a:xfrm>
          <a:prstGeom prst="roundRect">
            <a:avLst/>
          </a:prstGeom>
          <a:solidFill>
            <a:srgbClr val="FDEBE9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 bIns="182880"/>
          <a:lstStyle/>
          <a:p>
            <a:pPr algn="ctr">
              <a:defRPr sz="1600" b="1">
                <a:solidFill>
                  <a:srgbClr val="C51F2A"/>
                </a:solidFill>
              </a:defRPr>
            </a:pPr>
            <a:r>
              <a:t>현황 및 문제점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10년+ 레거시 시스템 노후화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처리 속도 저하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실시간 재고 파악 불가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타 시스템 연동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2200" y="4572000"/>
            <a:ext cx="7315200" cy="4114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 bIns="182880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추진 목표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AI 기반 물류 최적화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실시간 재고/배송 추적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클라우드 기반 확장성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480" y="9052560"/>
            <a:ext cx="2743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물류 처리 효율: +30%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2000" y="9052560"/>
            <a:ext cx="2743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재고 정확도: 99.5%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99520" y="9052560"/>
            <a:ext cx="2743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운영 비용: -20%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2590200" y="4572000"/>
            <a:ext cx="7315200" cy="4114800"/>
          </a:xfrm>
          <a:prstGeom prst="roundRect">
            <a:avLst/>
          </a:prstGeom>
          <a:solidFill>
            <a:srgbClr val="FDEBE9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 bIns="182880"/>
          <a:lstStyle/>
          <a:p>
            <a:pPr algn="ctr">
              <a:defRPr sz="1600" b="1">
                <a:solidFill>
                  <a:srgbClr val="C51F2A"/>
                </a:solidFill>
              </a:defRPr>
            </a:pPr>
            <a:r>
              <a:t>현황 및 문제점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10년+ 레거시 시스템 노후화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처리 속도 저하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실시간 재고 파악 불가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타 시스템 연동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2200" y="4572000"/>
            <a:ext cx="7315200" cy="4114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 bIns="182880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추진 목표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AI 기반 물류 최적화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실시간 재고/배송 추적</a:t>
            </a:r>
          </a:p>
          <a:p>
            <a:pPr>
              <a:spcBef>
                <a:spcPts val="400"/>
              </a:spcBef>
              <a:defRPr sz="1100">
                <a:solidFill>
                  <a:srgbClr val="000000"/>
                </a:solidFill>
              </a:defRPr>
            </a:pPr>
            <a:r>
              <a:t>• 클라우드 기반 확장성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4480" y="9052560"/>
            <a:ext cx="2743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물류 처리 효율: +30%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2000" y="9052560"/>
            <a:ext cx="2743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재고 정확도: 99.5%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99520" y="9052560"/>
            <a:ext cx="2743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운영 비용: -20%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5486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800" b="1">
                <a:solidFill>
                  <a:srgbClr val="002452"/>
                </a:solidFill>
              </a:defRPr>
            </a:pPr>
            <a:r>
              <a:t>WMS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</a:defRPr>
            </a:pPr>
            <a:r>
              <a:t>창고관리시스템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</a:defRPr>
            </a:pPr>
            <a:r>
              <a:t>입출고 | 재고 | 피킹/패킹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572000"/>
            <a:ext cx="5486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800" b="1">
                <a:solidFill>
                  <a:srgbClr val="4B6580"/>
                </a:solidFill>
              </a:defRPr>
            </a:pPr>
            <a:r>
              <a:t>TMS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</a:defRPr>
            </a:pPr>
            <a:r>
              <a:t>배송관리시스템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</a:defRPr>
            </a:pPr>
            <a:r>
              <a:t>배차 | 경로최적화 | 추적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8229600"/>
            <a:ext cx="5486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800" b="1">
                <a:solidFill>
                  <a:srgbClr val="E9B86E"/>
                </a:solidFill>
              </a:defRPr>
            </a:pPr>
            <a:r>
              <a:t>OMS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</a:defRPr>
            </a:pPr>
            <a:r>
              <a:t>주문관리시스템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</a:defRPr>
            </a:pPr>
            <a:r>
              <a:t>주문접수 | 할당 | 정산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8229600"/>
            <a:ext cx="5486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Dashboard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</a:defRPr>
            </a:pPr>
            <a:r>
              <a:t>통합모니터링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</a:defRPr>
            </a:pPr>
            <a:r>
              <a:t>실시간 현황 | KPI | 리포트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0" y="4572000"/>
            <a:ext cx="3657600" cy="6858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6666"/>
                </a:solidFill>
              </a:defRPr>
            </a:pPr>
            <a:r>
              <a:t>인터페이스만 (제외)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• 회계 시스템: 인터페이스만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• HR 시스템: 인터페이스만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• 기존 ERP: 인터페이스만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5486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800" b="1">
                <a:solidFill>
                  <a:srgbClr val="002452"/>
                </a:solidFill>
              </a:defRPr>
            </a:pPr>
            <a:r>
              <a:t>WMS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</a:defRPr>
            </a:pPr>
            <a:r>
              <a:t>창고관리시스템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</a:defRPr>
            </a:pPr>
            <a:r>
              <a:t>입출고 | 재고 | 피킹/패킹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572000"/>
            <a:ext cx="5486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800" b="1">
                <a:solidFill>
                  <a:srgbClr val="4B6580"/>
                </a:solidFill>
              </a:defRPr>
            </a:pPr>
            <a:r>
              <a:t>TMS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</a:defRPr>
            </a:pPr>
            <a:r>
              <a:t>배송관리시스템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</a:defRPr>
            </a:pPr>
            <a:r>
              <a:t>배차 | 경로최적화 | 추적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8229600"/>
            <a:ext cx="5486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800" b="1">
                <a:solidFill>
                  <a:srgbClr val="E9B86E"/>
                </a:solidFill>
              </a:defRPr>
            </a:pPr>
            <a:r>
              <a:t>OMS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</a:defRPr>
            </a:pPr>
            <a:r>
              <a:t>주문관리시스템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</a:defRPr>
            </a:pPr>
            <a:r>
              <a:t>주문접수 | 할당 | 정산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8229600"/>
            <a:ext cx="5486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bIns="137160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Dashboard</a:t>
            </a:r>
          </a:p>
          <a:p>
            <a:pPr>
              <a:spcBef>
                <a:spcPts val="200"/>
              </a:spcBef>
              <a:defRPr sz="1200">
                <a:solidFill>
                  <a:srgbClr val="666666"/>
                </a:solidFill>
              </a:defRPr>
            </a:pPr>
            <a:r>
              <a:t>통합모니터링</a:t>
            </a:r>
          </a:p>
          <a:p>
            <a:pPr>
              <a:spcBef>
                <a:spcPts val="400"/>
              </a:spcBef>
              <a:defRPr sz="1000">
                <a:solidFill>
                  <a:srgbClr val="000000"/>
                </a:solidFill>
              </a:defRPr>
            </a:pPr>
            <a:r>
              <a:t>실시간 현황 | KPI | 리포트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0" y="4572000"/>
            <a:ext cx="3657600" cy="6858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6666"/>
                </a:solidFill>
              </a:defRPr>
            </a:pPr>
            <a:r>
              <a:t>인터페이스만 (제외)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• 회계 시스템: 인터페이스만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• HR 시스템: 인터페이스만</a:t>
            </a:r>
          </a:p>
          <a:p>
            <a:pPr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• 기존 ERP: 인터페이스만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2. 추진 전략 및 방법론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675800" y="4572000"/>
            <a:ext cx="41148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 bIns="182880"/>
          <a:lstStyle/>
          <a:p>
            <a:pPr algn="ctr">
              <a:defRPr sz="4800" b="1">
                <a:solidFill>
                  <a:srgbClr val="C8C8C8"/>
                </a:solidFill>
              </a:defRPr>
            </a:pPr>
            <a:r>
              <a:t>01</a:t>
            </a:r>
          </a:p>
          <a:p>
            <a:pPr>
              <a:spcBef>
                <a:spcPts val="0"/>
              </a:spcBef>
              <a:defRPr sz="1400" b="1">
                <a:solidFill>
                  <a:srgbClr val="002452"/>
                </a:solidFill>
              </a:defRPr>
            </a:pPr>
            <a:r>
              <a:t>단계적 전환 전략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000">
                <a:solidFill>
                  <a:srgbClr val="666666"/>
                </a:solidFill>
              </a:defRPr>
            </a:pPr>
            <a:r>
              <a:t>Big Bang 방식이 아닌 모듈별 순차 전환으로 리스크 최소화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6200" y="4572000"/>
            <a:ext cx="41148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 bIns="182880"/>
          <a:lstStyle/>
          <a:p>
            <a:pPr algn="ctr">
              <a:defRPr sz="4800" b="1">
                <a:solidFill>
                  <a:srgbClr val="C8C8C8"/>
                </a:solidFill>
              </a:defRPr>
            </a:pPr>
            <a:r>
              <a:t>02</a:t>
            </a:r>
          </a:p>
          <a:p>
            <a:pPr>
              <a:spcBef>
                <a:spcPts val="0"/>
              </a:spcBef>
              <a:defRPr sz="1400" b="1">
                <a:solidFill>
                  <a:srgbClr val="C51F2A"/>
                </a:solidFill>
              </a:defRPr>
            </a:pPr>
            <a:r>
              <a:t>애자일 기반 개발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000">
                <a:solidFill>
                  <a:srgbClr val="666666"/>
                </a:solidFill>
              </a:defRPr>
            </a:pPr>
            <a:r>
              <a:t>2주 단위 스프린트로 빠른 피드백과 유연한 대응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8200" y="4572000"/>
            <a:ext cx="41148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 rIns="274320" bIns="182880"/>
          <a:lstStyle/>
          <a:p>
            <a:pPr algn="ctr">
              <a:defRPr sz="4800" b="1">
                <a:solidFill>
                  <a:srgbClr val="C8C8C8"/>
                </a:solidFill>
              </a:defRPr>
            </a:pPr>
            <a:r>
              <a:t>03</a:t>
            </a:r>
          </a:p>
          <a:p>
            <a:pPr>
              <a:spcBef>
                <a:spcPts val="0"/>
              </a:spcBef>
              <a:defRPr sz="1400" b="1">
                <a:solidFill>
                  <a:srgbClr val="2E7D32"/>
                </a:solidFill>
              </a:defRPr>
            </a:pPr>
            <a:r>
              <a:t>현업 밀착 협업</a:t>
            </a:r>
          </a:p>
          <a:p>
            <a:pPr>
              <a:lnSpc>
                <a:spcPct val="140000"/>
              </a:lnSpc>
              <a:spcBef>
                <a:spcPts val="600"/>
              </a:spcBef>
              <a:defRPr sz="1000">
                <a:solidFill>
                  <a:srgbClr val="666666"/>
                </a:solidFill>
              </a:defRPr>
            </a:pPr>
            <a:r>
              <a:t>주 2회 현업 리뷰를 통한 요구사항 정합성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2. 추진 전략 및 방법론</a:t>
            </a:r>
          </a:p>
        </p:txBody>
      </p:sp>
      <p:sp>
        <p:nvSpPr>
          <p:cNvPr id="4" name="Right Arrow 3"/>
          <p:cNvSpPr/>
          <p:nvPr/>
        </p:nvSpPr>
        <p:spPr>
          <a:xfrm>
            <a:off x="-304200" y="5212080"/>
            <a:ext cx="2286000" cy="5486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133000" y="4572000"/>
            <a:ext cx="1828800" cy="1828800"/>
          </a:xfrm>
          <a:prstGeom prst="ellipse">
            <a:avLst/>
          </a:prstGeom>
          <a:solidFill>
            <a:srgbClr val="002452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  <a:br/>
            <a:r>
              <a:t>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2315880" y="6675120"/>
            <a:ext cx="219456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요구사항 정의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</a:defRPr>
            </a:pPr>
            <a:r>
              <a:t>• 현행 분석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10600" y="5212080"/>
            <a:ext cx="2286000" cy="5486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81800" y="4572000"/>
            <a:ext cx="1828800" cy="1828800"/>
          </a:xfrm>
          <a:prstGeom prst="ellipse">
            <a:avLst/>
          </a:prstGeom>
          <a:solidFill>
            <a:srgbClr val="4B6580"/>
          </a:solidFill>
          <a:ln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  <a:br/>
            <a:r>
              <a:t>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98920" y="6675120"/>
            <a:ext cx="219456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아키텍처 설계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</a:defRPr>
            </a:pPr>
            <a:r>
              <a:t>• UI/DB 설계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25400" y="5212080"/>
            <a:ext cx="2286000" cy="5486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96600" y="4572000"/>
            <a:ext cx="1828800" cy="1828800"/>
          </a:xfrm>
          <a:prstGeom prst="ellipse">
            <a:avLst/>
          </a:prstGeom>
          <a:solidFill>
            <a:srgbClr val="E9B86E"/>
          </a:solidFill>
          <a:ln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  <a:br/>
            <a:r>
              <a:t>개발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3720" y="6675120"/>
            <a:ext cx="219456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기능 구현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</a:defRPr>
            </a:pPr>
            <a:r>
              <a:t>• 단위 테스트</a:t>
            </a:r>
          </a:p>
        </p:txBody>
      </p:sp>
      <p:sp>
        <p:nvSpPr>
          <p:cNvPr id="13" name="Oval 12"/>
          <p:cNvSpPr/>
          <p:nvPr/>
        </p:nvSpPr>
        <p:spPr>
          <a:xfrm>
            <a:off x="10211400" y="4572000"/>
            <a:ext cx="1828800" cy="18288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  <a:br/>
            <a:r>
              <a:t>테스트/이행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28520" y="6675120"/>
            <a:ext cx="219456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통합/인수 테스트</a:t>
            </a:r>
          </a:p>
          <a:p>
            <a:pPr>
              <a:spcBef>
                <a:spcPts val="200"/>
              </a:spcBef>
              <a:defRPr sz="900">
                <a:solidFill>
                  <a:srgbClr val="000000"/>
                </a:solidFill>
              </a:defRPr>
            </a:pPr>
            <a:r>
              <a:t>• 시스템 전환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2. 추진 전략 및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310040" y="4572000"/>
            <a:ext cx="1252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452"/>
                </a:solidFill>
                <a:latin typeface="본고딕"/>
              </a:defRPr>
            </a:pPr>
            <a:r>
              <a:t>MSA (Microservices 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1310040" y="5486400"/>
            <a:ext cx="2286000" cy="1828800"/>
          </a:xfrm>
          <a:prstGeom prst="roundRect">
            <a:avLst/>
          </a:prstGeom>
          <a:solidFill>
            <a:srgbClr val="42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pPr algn="ct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Vue.js 3, TypeScript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0280" y="5486400"/>
            <a:ext cx="2286000" cy="1828800"/>
          </a:xfrm>
          <a:prstGeom prst="round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pPr algn="ct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Spring Boot, 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0600" y="5486400"/>
            <a:ext cx="2286000" cy="1828800"/>
          </a:xfrm>
          <a:prstGeom prst="round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Database</a:t>
            </a:r>
          </a:p>
          <a:p>
            <a:pPr algn="ct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PostgreSQL, Redis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0920" y="5486400"/>
            <a:ext cx="2286000" cy="18288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Infrastructure</a:t>
            </a:r>
          </a:p>
          <a:p>
            <a:pPr algn="ct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AWS EKS, AWS RDS/S3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1240" y="5486400"/>
            <a:ext cx="2286000" cy="182880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AI/ML</a:t>
            </a:r>
          </a:p>
          <a:p>
            <a:pPr algn="ct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Python, TensorFlow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3. 조직 및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48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452"/>
                </a:solidFill>
                <a:latin typeface="본고딕"/>
              </a:defRPr>
            </a:pPr>
            <a:r>
              <a:t>발주기관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3400" y="2743200"/>
            <a:ext cx="3200400" cy="73152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발주PM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정민호 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48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1F2A"/>
                </a:solidFill>
                <a:latin typeface="본고딕"/>
              </a:defRPr>
            </a:pPr>
            <a:r>
              <a:t>수행사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3400" y="4114800"/>
            <a:ext cx="3200400" cy="73152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PM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김철수 차장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990000" y="5486400"/>
            <a:ext cx="3657600" cy="137160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002452"/>
                </a:solidFill>
              </a:defRPr>
            </a:pPr>
            <a:r>
              <a:t>PMO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이영희 과장 (고급)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4800" y="5486400"/>
            <a:ext cx="3657600" cy="137160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002452"/>
                </a:solidFill>
              </a:defRPr>
            </a:pPr>
            <a:r>
              <a:t>개발팀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박준형 책임 (특급)</a:t>
            </a:r>
            <a:br/>
            <a:r>
              <a:t>최수진 선임 (고급)</a:t>
            </a:r>
            <a:br/>
            <a:r>
              <a:t>임동현/강서연/윤재호 (고급/중급)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9600" y="5486400"/>
            <a:ext cx="3657600" cy="137160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002452"/>
                </a:solidFill>
              </a:defRPr>
            </a:pPr>
            <a:r>
              <a:t>품질팀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오현우 대리 (고급)</a:t>
            </a:r>
            <a:br/>
            <a:r>
              <a:t>한미영 대리 (중급)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3. 조직 및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840480"/>
            <a:ext cx="274320" cy="27432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latin typeface="본고딕"/>
              </a:defRPr>
            </a:pPr>
            <a:r>
              <a:t>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840480"/>
            <a:ext cx="274320" cy="27432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3840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latin typeface="본고딕"/>
              </a:defRPr>
            </a:pPr>
            <a:r>
              <a:t>AA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74320" cy="27432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3840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latin typeface="본고딕"/>
              </a:defRPr>
            </a:pPr>
            <a:r>
              <a:t>개발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84048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840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latin typeface="본고딕"/>
              </a:defRPr>
            </a:pPr>
            <a:r>
              <a:t>DBA/QA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9600" y="3840480"/>
            <a:ext cx="2286000" cy="4572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총 78 M/M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8580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73152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7772400"/>
            <a:ext cx="1325880" cy="4572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4008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68580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7315200"/>
            <a:ext cx="1325880" cy="9144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2월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59436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64008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6858000"/>
            <a:ext cx="1325880" cy="9144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7772400"/>
            <a:ext cx="1325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3월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59436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64008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6858000"/>
            <a:ext cx="1325880" cy="9144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7772400"/>
            <a:ext cx="1325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4월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4864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59436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6400800"/>
            <a:ext cx="1325880" cy="13716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7772400"/>
            <a:ext cx="1325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5월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50292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0" y="54864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0" y="5943600"/>
            <a:ext cx="1325880" cy="18288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80" y="7772400"/>
            <a:ext cx="1325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6월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50292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69680" y="54864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69680" y="5943600"/>
            <a:ext cx="1325880" cy="18288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69680" y="7772400"/>
            <a:ext cx="1325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7월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80" y="50292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41280" y="54864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241280" y="5943600"/>
            <a:ext cx="1325880" cy="18288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41280" y="7772400"/>
            <a:ext cx="1325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8월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612880" y="50292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12880" y="54864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612880" y="5943600"/>
            <a:ext cx="1325880" cy="18288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612880" y="7772400"/>
            <a:ext cx="1325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128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9월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984480" y="50292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984480" y="5486400"/>
            <a:ext cx="1325880" cy="4572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984480" y="5943600"/>
            <a:ext cx="1325880" cy="13716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984480" y="7315200"/>
            <a:ext cx="132588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9844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10월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356080" y="59436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356080" y="6400800"/>
            <a:ext cx="1325880" cy="9144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356080" y="7315200"/>
            <a:ext cx="132588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3560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11월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727680" y="6858000"/>
            <a:ext cx="1325880" cy="4572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5727680" y="7315200"/>
            <a:ext cx="1325880" cy="4572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727680" y="7772400"/>
            <a:ext cx="13258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727680" y="8321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본고딕"/>
              </a:defRPr>
            </a:pPr>
            <a:r>
              <a:t>12월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3. 조직 및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572000"/>
            <a:ext cx="1266092" cy="4572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착수 (4주)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6172" y="5212080"/>
            <a:ext cx="2532184" cy="4572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분석 (8주)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8356" y="5852160"/>
            <a:ext cx="2532184" cy="4572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설계 (8주)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70541" y="6492240"/>
            <a:ext cx="5064369" cy="4572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개발 (16주)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34910" y="7132320"/>
            <a:ext cx="1899138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테스트 (6주)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34049" y="7772400"/>
            <a:ext cx="1899138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이행/안정화 (6주)</a:t>
            </a:r>
          </a:p>
        </p:txBody>
      </p:sp>
      <p:sp>
        <p:nvSpPr>
          <p:cNvPr id="10" name="Diamond 9"/>
          <p:cNvSpPr/>
          <p:nvPr/>
        </p:nvSpPr>
        <p:spPr>
          <a:xfrm>
            <a:off x="457200" y="8686800"/>
            <a:ext cx="365760" cy="36576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9144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latin typeface="본고딕"/>
              </a:defRPr>
            </a:pPr>
            <a:r>
              <a:t>M1 착수보고</a:t>
            </a:r>
          </a:p>
        </p:txBody>
      </p:sp>
      <p:sp>
        <p:nvSpPr>
          <p:cNvPr id="12" name="Diamond 11"/>
          <p:cNvSpPr/>
          <p:nvPr/>
        </p:nvSpPr>
        <p:spPr>
          <a:xfrm>
            <a:off x="2989384" y="8686800"/>
            <a:ext cx="365760" cy="36576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184" y="9144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latin typeface="본고딕"/>
              </a:defRPr>
            </a:pPr>
            <a:r>
              <a:t>M2 요구사항 확정</a:t>
            </a:r>
          </a:p>
        </p:txBody>
      </p:sp>
      <p:sp>
        <p:nvSpPr>
          <p:cNvPr id="14" name="Diamond 13"/>
          <p:cNvSpPr/>
          <p:nvPr/>
        </p:nvSpPr>
        <p:spPr>
          <a:xfrm>
            <a:off x="5521569" y="8686800"/>
            <a:ext cx="365760" cy="36576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4369" y="9144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latin typeface="본고딕"/>
              </a:defRPr>
            </a:pPr>
            <a:r>
              <a:t>M3 설계 완료</a:t>
            </a:r>
          </a:p>
        </p:txBody>
      </p:sp>
      <p:sp>
        <p:nvSpPr>
          <p:cNvPr id="16" name="Diamond 15"/>
          <p:cNvSpPr/>
          <p:nvPr/>
        </p:nvSpPr>
        <p:spPr>
          <a:xfrm>
            <a:off x="10585938" y="8686800"/>
            <a:ext cx="365760" cy="36576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8738" y="9144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latin typeface="본고딕"/>
              </a:defRPr>
            </a:pPr>
            <a:r>
              <a:t>M4 개발 완료</a:t>
            </a:r>
          </a:p>
        </p:txBody>
      </p:sp>
      <p:sp>
        <p:nvSpPr>
          <p:cNvPr id="18" name="Diamond 17"/>
          <p:cNvSpPr/>
          <p:nvPr/>
        </p:nvSpPr>
        <p:spPr>
          <a:xfrm>
            <a:off x="13118123" y="8686800"/>
            <a:ext cx="365760" cy="36576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60923" y="9144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latin typeface="본고딕"/>
              </a:defRPr>
            </a:pPr>
            <a:r>
              <a:t>M5 테스트 완료</a:t>
            </a:r>
          </a:p>
        </p:txBody>
      </p:sp>
      <p:sp>
        <p:nvSpPr>
          <p:cNvPr id="20" name="Diamond 19"/>
          <p:cNvSpPr/>
          <p:nvPr/>
        </p:nvSpPr>
        <p:spPr>
          <a:xfrm>
            <a:off x="14384215" y="8686800"/>
            <a:ext cx="365760" cy="36576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27015" y="9144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latin typeface="본고딕"/>
              </a:defRPr>
            </a:pPr>
            <a:r>
              <a:t>M6 시스템 오픈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3. 조직 및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310040" y="4572000"/>
            <a:ext cx="2286000" cy="4572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착수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1310040" y="502920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착수보고서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1310040" y="585216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수행계획서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PM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50280" y="4572000"/>
            <a:ext cx="2286000" cy="4572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50280" y="502920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요구사항정의서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0280" y="585216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현행시스템분석서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PL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600" y="4572000"/>
            <a:ext cx="2286000" cy="4572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600" y="502920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아키텍처설계서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AA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600" y="585216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데이터베이스설계서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DBA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0600" y="667512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화면설계서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PL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0920" y="4572000"/>
            <a:ext cx="2286000" cy="4572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개발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0920" y="502920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소스코드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개발팀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1240" y="4572000"/>
            <a:ext cx="22860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테스트/이행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1240" y="502920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통합테스트결과서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1240" y="585216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운영자매뉴얼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PL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1240" y="6675120"/>
            <a:ext cx="2286000" cy="7315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• 완료보고서</a:t>
            </a:r>
          </a:p>
          <a:p>
            <a:pPr>
              <a:spcBef>
                <a:spcPts val="100"/>
              </a:spcBef>
              <a:defRPr sz="700">
                <a:solidFill>
                  <a:srgbClr val="999999"/>
                </a:solidFill>
              </a:defRPr>
            </a:pPr>
            <a:r>
              <a:t>담당: PM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4. 품질·위험·소통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2133000" y="4114800"/>
            <a:ext cx="6858000" cy="5486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품질 보증 활동</a:t>
            </a:r>
          </a:p>
          <a:p>
            <a:pPr>
              <a:spcBef>
                <a:spcPts val="600"/>
              </a:spcBef>
              <a:defRPr sz="1000" b="1">
                <a:solidFill>
                  <a:srgbClr val="2E7D32"/>
                </a:solidFill>
              </a:defRPr>
            </a:pPr>
            <a:r>
              <a:t>✓ 산출물 검토</a:t>
            </a:r>
          </a:p>
          <a:p>
            <a:pPr>
              <a:spcBef>
                <a:spcPts val="0"/>
              </a:spcBef>
              <a:defRPr sz="800">
                <a:solidFill>
                  <a:srgbClr val="000000"/>
                </a:solidFill>
              </a:defRPr>
            </a:pPr>
            <a:r>
              <a:t>발주 담당자 검토 및 승인 (단계별 말)</a:t>
            </a:r>
          </a:p>
          <a:p>
            <a:pPr>
              <a:spcBef>
                <a:spcPts val="600"/>
              </a:spcBef>
              <a:defRPr sz="1000" b="1">
                <a:solidFill>
                  <a:srgbClr val="2E7D32"/>
                </a:solidFill>
              </a:defRPr>
            </a:pPr>
            <a:r>
              <a:t>✓ 코드 리뷰</a:t>
            </a:r>
          </a:p>
          <a:p>
            <a:pPr>
              <a:spcBef>
                <a:spcPts val="0"/>
              </a:spcBef>
              <a:defRPr sz="800">
                <a:solidFill>
                  <a:srgbClr val="000000"/>
                </a:solidFill>
              </a:defRPr>
            </a:pPr>
            <a:r>
              <a:t>GitHub PR 필수, 2인 이상 승인 (개발 기간)</a:t>
            </a:r>
          </a:p>
          <a:p>
            <a:pPr>
              <a:spcBef>
                <a:spcPts val="600"/>
              </a:spcBef>
              <a:defRPr sz="1000" b="1">
                <a:solidFill>
                  <a:srgbClr val="2E7D32"/>
                </a:solidFill>
              </a:defRPr>
            </a:pPr>
            <a:r>
              <a:t>✓ 정적 분석</a:t>
            </a:r>
          </a:p>
          <a:p>
            <a:pPr>
              <a:spcBef>
                <a:spcPts val="0"/>
              </a:spcBef>
              <a:defRPr sz="800">
                <a:solidFill>
                  <a:srgbClr val="000000"/>
                </a:solidFill>
              </a:defRPr>
            </a:pPr>
            <a:r>
              <a:t>SonarQube 품질 게이트 적용 (개발 기간)</a:t>
            </a:r>
          </a:p>
          <a:p>
            <a:pPr>
              <a:spcBef>
                <a:spcPts val="600"/>
              </a:spcBef>
              <a:defRPr sz="1000" b="1">
                <a:solidFill>
                  <a:srgbClr val="2E7D32"/>
                </a:solidFill>
              </a:defRPr>
            </a:pPr>
            <a:r>
              <a:t>✓ 테스트</a:t>
            </a:r>
          </a:p>
          <a:p>
            <a:pPr>
              <a:spcBef>
                <a:spcPts val="0"/>
              </a:spcBef>
              <a:defRPr sz="800">
                <a:solidFill>
                  <a:srgbClr val="000000"/>
                </a:solidFill>
              </a:defRPr>
            </a:pPr>
            <a:r>
              <a:t>시나리오 기반 테스트 (통합/인수)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2200" y="4114800"/>
            <a:ext cx="6858000" cy="5486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400" b="1">
                <a:solidFill>
                  <a:srgbClr val="002452"/>
                </a:solidFill>
              </a:defRPr>
            </a:pPr>
            <a:r>
              <a:t>보안 관리 계획</a:t>
            </a:r>
          </a:p>
          <a:p>
            <a:pPr>
              <a:spcBef>
                <a:spcPts val="600"/>
              </a:spcBef>
              <a:defRPr sz="1000" b="1">
                <a:solidFill>
                  <a:srgbClr val="002452"/>
                </a:solidFill>
              </a:defRPr>
            </a:pPr>
            <a:r>
              <a:t>🛡️ 인적 보안</a:t>
            </a:r>
          </a:p>
          <a:p>
            <a:pPr>
              <a:spcBef>
                <a:spcPts val="0"/>
              </a:spcBef>
              <a:defRPr sz="800">
                <a:solidFill>
                  <a:srgbClr val="000000"/>
                </a:solidFill>
              </a:defRPr>
            </a:pPr>
            <a:r>
              <a:t>보안서약서 징구, 보안 교육 실시</a:t>
            </a:r>
          </a:p>
          <a:p>
            <a:pPr>
              <a:spcBef>
                <a:spcPts val="600"/>
              </a:spcBef>
              <a:defRPr sz="1000" b="1">
                <a:solidFill>
                  <a:srgbClr val="002452"/>
                </a:solidFill>
              </a:defRPr>
            </a:pPr>
            <a:r>
              <a:t>🛡️ 물리 보안</a:t>
            </a:r>
          </a:p>
          <a:p>
            <a:pPr>
              <a:spcBef>
                <a:spcPts val="0"/>
              </a:spcBef>
              <a:defRPr sz="800">
                <a:solidFill>
                  <a:srgbClr val="000000"/>
                </a:solidFill>
              </a:defRPr>
            </a:pPr>
            <a:r>
              <a:t>통제구역 출입 관리, 반입 장비 통제</a:t>
            </a:r>
          </a:p>
          <a:p>
            <a:pPr>
              <a:spcBef>
                <a:spcPts val="600"/>
              </a:spcBef>
              <a:defRPr sz="1000" b="1">
                <a:solidFill>
                  <a:srgbClr val="002452"/>
                </a:solidFill>
              </a:defRPr>
            </a:pPr>
            <a:r>
              <a:t>🛡️ 기술 보안</a:t>
            </a:r>
          </a:p>
          <a:p>
            <a:pPr>
              <a:spcBef>
                <a:spcPts val="0"/>
              </a:spcBef>
              <a:defRPr sz="800">
                <a:solidFill>
                  <a:srgbClr val="000000"/>
                </a:solidFill>
              </a:defRPr>
            </a:pPr>
            <a:r>
              <a:t>소스코드 보안약점 진단, DB 암호화</a:t>
            </a:r>
          </a:p>
          <a:p>
            <a:pPr>
              <a:spcBef>
                <a:spcPts val="600"/>
              </a:spcBef>
              <a:defRPr sz="1000" b="1">
                <a:solidFill>
                  <a:srgbClr val="002452"/>
                </a:solidFill>
              </a:defRPr>
            </a:pPr>
            <a:r>
              <a:t>🛡️ PC 보안</a:t>
            </a:r>
          </a:p>
          <a:p>
            <a:pPr>
              <a:spcBef>
                <a:spcPts val="0"/>
              </a:spcBef>
              <a:defRPr sz="800">
                <a:solidFill>
                  <a:srgbClr val="000000"/>
                </a:solidFill>
              </a:defRPr>
            </a:pPr>
            <a:r>
              <a:t>백신, 화면보호기, DLP 솔루션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4. 품질·위험·소통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172880" y="4572000"/>
            <a:ext cx="5943600" cy="10972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 b="1">
                <a:solidFill>
                  <a:srgbClr val="C51F2A"/>
                </a:solidFill>
              </a:defRPr>
            </a:pPr>
            <a:r>
              <a:t>요구사항 변경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</a:defRPr>
            </a:pPr>
            <a:r>
              <a:t>영향도: 상 | 확률: 상</a:t>
            </a:r>
          </a:p>
          <a:p>
            <a:pPr>
              <a:spcBef>
                <a:spcPts val="100"/>
              </a:spcBef>
              <a:defRPr sz="800">
                <a:solidFill>
                  <a:srgbClr val="000000"/>
                </a:solidFill>
              </a:defRPr>
            </a:pPr>
            <a:r>
              <a:t>대응: 변경관리위원회(CCB) 통해 통제, 영향도 분석 필수</a:t>
            </a:r>
          </a:p>
          <a:p>
            <a:pPr>
              <a:spcBef>
                <a:spcPts val="0"/>
              </a:spcBef>
              <a:defRPr sz="700">
                <a:solidFill>
                  <a:srgbClr val="666666"/>
                </a:solidFill>
              </a:defRPr>
            </a:pPr>
            <a:r>
              <a:t>담당: 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6480" y="4572000"/>
            <a:ext cx="5943600" cy="10972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 b="1">
                <a:solidFill>
                  <a:srgbClr val="F39C12"/>
                </a:solidFill>
              </a:defRPr>
            </a:pPr>
            <a:r>
              <a:t>일정 지연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</a:defRPr>
            </a:pPr>
            <a:r>
              <a:t>영향도: 상 | 확률: 중</a:t>
            </a:r>
          </a:p>
          <a:p>
            <a:pPr>
              <a:spcBef>
                <a:spcPts val="100"/>
              </a:spcBef>
              <a:defRPr sz="800">
                <a:solidFill>
                  <a:srgbClr val="000000"/>
                </a:solidFill>
              </a:defRPr>
            </a:pPr>
            <a:r>
              <a:t>대응: 주간 진척관리, Critical Path 집중 모니터링</a:t>
            </a:r>
          </a:p>
          <a:p>
            <a:pPr>
              <a:spcBef>
                <a:spcPts val="0"/>
              </a:spcBef>
              <a:defRPr sz="700">
                <a:solidFill>
                  <a:srgbClr val="666666"/>
                </a:solidFill>
              </a:defRPr>
            </a:pPr>
            <a:r>
              <a:t>담당: 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1172880" y="5943600"/>
            <a:ext cx="5943600" cy="10972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 b="1">
                <a:solidFill>
                  <a:srgbClr val="E9B86E"/>
                </a:solidFill>
              </a:defRPr>
            </a:pPr>
            <a:r>
              <a:t>기술적 난제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</a:defRPr>
            </a:pPr>
            <a:r>
              <a:t>영향도: 중 | 확률: 중</a:t>
            </a:r>
          </a:p>
          <a:p>
            <a:pPr>
              <a:spcBef>
                <a:spcPts val="100"/>
              </a:spcBef>
              <a:defRPr sz="800">
                <a:solidFill>
                  <a:srgbClr val="000000"/>
                </a:solidFill>
              </a:defRPr>
            </a:pPr>
            <a:r>
              <a:t>대응: PoC 선행, 외부 전문가 자문</a:t>
            </a:r>
          </a:p>
          <a:p>
            <a:pPr>
              <a:spcBef>
                <a:spcPts val="0"/>
              </a:spcBef>
              <a:defRPr sz="700">
                <a:solidFill>
                  <a:srgbClr val="666666"/>
                </a:solidFill>
              </a:defRPr>
            </a:pPr>
            <a:r>
              <a:t>담당: AA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6480" y="5943600"/>
            <a:ext cx="5943600" cy="10972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 b="1">
                <a:solidFill>
                  <a:srgbClr val="E9B86E"/>
                </a:solidFill>
              </a:defRPr>
            </a:pPr>
            <a:r>
              <a:t>인력 이탈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</a:defRPr>
            </a:pPr>
            <a:r>
              <a:t>영향도: 상 | 확률: 하</a:t>
            </a:r>
          </a:p>
          <a:p>
            <a:pPr>
              <a:spcBef>
                <a:spcPts val="100"/>
              </a:spcBef>
              <a:defRPr sz="800">
                <a:solidFill>
                  <a:srgbClr val="000000"/>
                </a:solidFill>
              </a:defRPr>
            </a:pPr>
            <a:r>
              <a:t>대응: 대체 인력 풀 확보, 기술 문서화 강화</a:t>
            </a:r>
          </a:p>
          <a:p>
            <a:pPr>
              <a:spcBef>
                <a:spcPts val="0"/>
              </a:spcBef>
              <a:defRPr sz="700">
                <a:solidFill>
                  <a:srgbClr val="666666"/>
                </a:solidFill>
              </a:defRPr>
            </a:pPr>
            <a:r>
              <a:t>담당: PM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1172880" y="7315200"/>
            <a:ext cx="5943600" cy="109728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 b="1">
                <a:solidFill>
                  <a:srgbClr val="F39C12"/>
                </a:solidFill>
              </a:defRPr>
            </a:pPr>
            <a:r>
              <a:t>데이터 마이그레이션</a:t>
            </a:r>
          </a:p>
          <a:p>
            <a:pPr>
              <a:spcBef>
                <a:spcPts val="100"/>
              </a:spcBef>
              <a:defRPr sz="800">
                <a:solidFill>
                  <a:srgbClr val="666666"/>
                </a:solidFill>
              </a:defRPr>
            </a:pPr>
            <a:r>
              <a:t>영향도: 상 | 확률: 중</a:t>
            </a:r>
          </a:p>
          <a:p>
            <a:pPr>
              <a:spcBef>
                <a:spcPts val="100"/>
              </a:spcBef>
              <a:defRPr sz="800">
                <a:solidFill>
                  <a:srgbClr val="000000"/>
                </a:solidFill>
              </a:defRPr>
            </a:pPr>
            <a:r>
              <a:t>대응: 사전 검증, 롤백 계획 수립</a:t>
            </a:r>
          </a:p>
          <a:p>
            <a:pPr>
              <a:spcBef>
                <a:spcPts val="0"/>
              </a:spcBef>
              <a:defRPr sz="700">
                <a:solidFill>
                  <a:srgbClr val="666666"/>
                </a:solidFill>
              </a:defRPr>
            </a:pPr>
            <a:r>
              <a:t>담당: DBA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4. 품질·위험·소통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995840" y="4572000"/>
            <a:ext cx="3200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4B6580"/>
                </a:solidFill>
              </a:defRPr>
            </a:pPr>
            <a:r>
              <a:t>일일 스탠드업</a:t>
            </a:r>
          </a:p>
          <a:p>
            <a:pPr algn="ctr"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매일 09:30</a:t>
            </a:r>
          </a:p>
          <a:p>
            <a:pPr algn="ctr">
              <a:spcBef>
                <a:spcPts val="200"/>
              </a:spcBef>
              <a:defRPr sz="800">
                <a:solidFill>
                  <a:srgbClr val="666666"/>
                </a:solidFill>
              </a:defRPr>
            </a:pPr>
            <a:r>
              <a:t>참여: 개발팀</a:t>
            </a:r>
          </a:p>
          <a:p>
            <a:pPr algn="ctr">
              <a:spcBef>
                <a:spcPts val="200"/>
              </a:spcBef>
              <a:defRPr sz="800">
                <a:solidFill>
                  <a:srgbClr val="999999"/>
                </a:solidFill>
              </a:defRPr>
            </a:pPr>
            <a:r>
              <a:t>진행 현황, 블로커 공유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0320" y="4572000"/>
            <a:ext cx="3200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002452"/>
                </a:solidFill>
              </a:defRPr>
            </a:pPr>
            <a:r>
              <a:t>주간보고</a:t>
            </a:r>
          </a:p>
          <a:p>
            <a:pPr algn="ctr"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매주 금 14:00</a:t>
            </a:r>
          </a:p>
          <a:p>
            <a:pPr algn="ctr">
              <a:spcBef>
                <a:spcPts val="200"/>
              </a:spcBef>
              <a:defRPr sz="800">
                <a:solidFill>
                  <a:srgbClr val="666666"/>
                </a:solidFill>
              </a:defRPr>
            </a:pPr>
            <a:r>
              <a:t>참여: PM, 발주PM</a:t>
            </a:r>
          </a:p>
          <a:p>
            <a:pPr algn="ctr">
              <a:spcBef>
                <a:spcPts val="200"/>
              </a:spcBef>
              <a:defRPr sz="800">
                <a:solidFill>
                  <a:srgbClr val="999999"/>
                </a:solidFill>
              </a:defRPr>
            </a:pPr>
            <a:r>
              <a:t>주간 실적/계획, 이슈 공유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6480" y="4572000"/>
            <a:ext cx="3200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E9B86E"/>
                </a:solidFill>
              </a:defRPr>
            </a:pPr>
            <a:r>
              <a:t>스프린트 리뷰</a:t>
            </a:r>
          </a:p>
          <a:p>
            <a:pPr algn="ctr"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격주 금요일</a:t>
            </a:r>
          </a:p>
          <a:p>
            <a:pPr algn="ctr">
              <a:spcBef>
                <a:spcPts val="200"/>
              </a:spcBef>
              <a:defRPr sz="800">
                <a:solidFill>
                  <a:srgbClr val="666666"/>
                </a:solidFill>
              </a:defRPr>
            </a:pPr>
            <a:r>
              <a:t>참여: 전체</a:t>
            </a:r>
          </a:p>
          <a:p>
            <a:pPr algn="ctr">
              <a:spcBef>
                <a:spcPts val="200"/>
              </a:spcBef>
              <a:defRPr sz="800">
                <a:solidFill>
                  <a:srgbClr val="999999"/>
                </a:solidFill>
              </a:defRPr>
            </a:pPr>
            <a:r>
              <a:t>데모, 피드백 수렴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640" y="4572000"/>
            <a:ext cx="3200400" cy="32004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C51F2A"/>
                </a:solidFill>
              </a:defRPr>
            </a:pPr>
            <a:r>
              <a:t>월간보고</a:t>
            </a:r>
          </a:p>
          <a:p>
            <a:pPr algn="ctr">
              <a:spcBef>
                <a:spcPts val="400"/>
              </a:spcBef>
              <a:defRPr sz="1000">
                <a:solidFill>
                  <a:srgbClr val="666666"/>
                </a:solidFill>
              </a:defRPr>
            </a:pPr>
            <a:r>
              <a:t>매월 말</a:t>
            </a:r>
          </a:p>
          <a:p>
            <a:pPr algn="ctr">
              <a:spcBef>
                <a:spcPts val="200"/>
              </a:spcBef>
              <a:defRPr sz="800">
                <a:solidFill>
                  <a:srgbClr val="666666"/>
                </a:solidFill>
              </a:defRPr>
            </a:pPr>
            <a:r>
              <a:t>참여: 경영진</a:t>
            </a:r>
          </a:p>
          <a:p>
            <a:pPr algn="ctr">
              <a:spcBef>
                <a:spcPts val="200"/>
              </a:spcBef>
              <a:defRPr sz="800">
                <a:solidFill>
                  <a:srgbClr val="999999"/>
                </a:solidFill>
              </a:defRPr>
            </a:pPr>
            <a:r>
              <a:t>마일스톤 점검, 리스크 보고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4. 품질·위험·소통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675800" y="4572000"/>
            <a:ext cx="4114800" cy="20116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4B6580"/>
                </a:solidFill>
              </a:defRPr>
            </a:pPr>
            <a:r>
              <a:t>사용자 교육</a:t>
            </a:r>
          </a:p>
          <a:p>
            <a:pPr algn="ctr"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대상: 현업 담당자 30명</a:t>
            </a:r>
          </a:p>
          <a:p>
            <a:pPr algn="ctr">
              <a:spcBef>
                <a:spcPts val="200"/>
              </a:spcBef>
              <a:defRPr sz="800">
                <a:solidFill>
                  <a:srgbClr val="666666"/>
                </a:solidFill>
              </a:defRPr>
            </a:pPr>
            <a:r>
              <a:t>시기: 오픈 2주 전</a:t>
            </a:r>
          </a:p>
          <a:p>
            <a:pPr algn="ctr">
              <a:spcBef>
                <a:spcPts val="200"/>
              </a:spcBef>
              <a:defRPr sz="800">
                <a:solidFill>
                  <a:srgbClr val="999999"/>
                </a:solidFill>
              </a:defRPr>
            </a:pPr>
            <a:r>
              <a:t>시스템 주요 기능 및 사용법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6200" y="4572000"/>
            <a:ext cx="4114800" cy="20116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002452"/>
                </a:solidFill>
              </a:defRPr>
            </a:pPr>
            <a:r>
              <a:t>운영자 교육</a:t>
            </a:r>
          </a:p>
          <a:p>
            <a:pPr algn="ctr"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대상: IT 운영팀 5명</a:t>
            </a:r>
          </a:p>
          <a:p>
            <a:pPr algn="ctr">
              <a:spcBef>
                <a:spcPts val="200"/>
              </a:spcBef>
              <a:defRPr sz="800">
                <a:solidFill>
                  <a:srgbClr val="666666"/>
                </a:solidFill>
              </a:defRPr>
            </a:pPr>
            <a:r>
              <a:t>시기: 오픈 3주 전</a:t>
            </a:r>
          </a:p>
          <a:p>
            <a:pPr algn="ctr">
              <a:spcBef>
                <a:spcPts val="200"/>
              </a:spcBef>
              <a:defRPr sz="800">
                <a:solidFill>
                  <a:srgbClr val="999999"/>
                </a:solidFill>
              </a:defRPr>
            </a:pPr>
            <a:r>
              <a:t>시스템 구성, 백업/복구, 장애대응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8200" y="4572000"/>
            <a:ext cx="4114800" cy="201168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E9B86E"/>
                </a:solidFill>
              </a:defRPr>
            </a:pPr>
            <a:r>
              <a:t>관리자 교육</a:t>
            </a:r>
          </a:p>
          <a:p>
            <a:pPr algn="ctr"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대상: 관리자 10명</a:t>
            </a:r>
          </a:p>
          <a:p>
            <a:pPr algn="ctr">
              <a:spcBef>
                <a:spcPts val="200"/>
              </a:spcBef>
              <a:defRPr sz="800">
                <a:solidFill>
                  <a:srgbClr val="666666"/>
                </a:solidFill>
              </a:defRPr>
            </a:pPr>
            <a:r>
              <a:t>시기: 오픈 1주 전</a:t>
            </a:r>
          </a:p>
          <a:p>
            <a:pPr algn="ctr">
              <a:spcBef>
                <a:spcPts val="200"/>
              </a:spcBef>
              <a:defRPr sz="800">
                <a:solidFill>
                  <a:srgbClr val="999999"/>
                </a:solidFill>
              </a:defRPr>
            </a:pPr>
            <a:r>
              <a:t>권한 관리, 리포트 활용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-1675800" y="6949440"/>
            <a:ext cx="13258800" cy="13716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기술이전 계획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이전 대상: 시스템 소스코드, 설계 산출물, 운영 매뉴얼 일체</a:t>
            </a:r>
          </a:p>
          <a:p>
            <a:pPr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방법: 담당자 1:1 멘토링 및 인계인수서 작성 | 지원: 오픈 후 3개월 안정화 지원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pPr>
              <a:defRPr sz="1900">
                <a:solidFill>
                  <a:srgbClr val="002452"/>
                </a:solidFill>
              </a:defRPr>
            </a:pPr>
            <a:r>
              <a:t>4. 품질·위험·소통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995840" y="45720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002452"/>
                </a:solidFill>
              </a:defRPr>
            </a:pPr>
            <a:r>
              <a:t>환경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☐ 프로젝트 룸 (10석 규모)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☐ 네트워크(VPN) 접근권한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☐ 출입증 발급</a:t>
            </a:r>
          </a:p>
          <a:p>
            <a:pPr>
              <a:spcBef>
                <a:spcPts val="600"/>
              </a:spcBef>
              <a:defRPr sz="800">
                <a:solidFill>
                  <a:srgbClr val="002452"/>
                </a:solidFill>
              </a:defRPr>
            </a:pPr>
            <a:r>
              <a:t>시기: 착수 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0320" y="45720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B6580"/>
                </a:solidFill>
              </a:defRPr>
            </a:pPr>
            <a:r>
              <a:t>데이터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☐ 테스트용 샘플 데이터 제공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☐ 개인정보 비식별화 필수</a:t>
            </a:r>
          </a:p>
          <a:p>
            <a:pPr>
              <a:spcBef>
                <a:spcPts val="600"/>
              </a:spcBef>
              <a:defRPr sz="800">
                <a:solidFill>
                  <a:srgbClr val="4B6580"/>
                </a:solidFill>
              </a:defRPr>
            </a:pPr>
            <a:r>
              <a:t>시기: 설계/개발 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6480" y="45720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E9B86E"/>
                </a:solidFill>
              </a:defRPr>
            </a:pPr>
            <a:r>
              <a:t>인프라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☐ AWS 계정 및 권한 부여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☐ 개발/스테이징/운영 3개 환경</a:t>
            </a:r>
          </a:p>
          <a:p>
            <a:pPr>
              <a:spcBef>
                <a:spcPts val="600"/>
              </a:spcBef>
              <a:defRPr sz="800">
                <a:solidFill>
                  <a:srgbClr val="E9B86E"/>
                </a:solidFill>
              </a:defRPr>
            </a:pPr>
            <a:r>
              <a:t>시기: 착수 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640" y="45720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참여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☐ 요구사항 인터뷰 지원</a:t>
            </a:r>
          </a:p>
          <a:p>
            <a:pPr>
              <a:spcBef>
                <a:spcPts val="400"/>
              </a:spcBef>
              <a:defRPr sz="900">
                <a:solidFill>
                  <a:srgbClr val="000000"/>
                </a:solidFill>
              </a:defRPr>
            </a:pPr>
            <a:r>
              <a:t>☐ UAT 테스트 참여</a:t>
            </a:r>
          </a:p>
          <a:p>
            <a:pPr>
              <a:spcBef>
                <a:spcPts val="600"/>
              </a:spcBef>
              <a:defRPr sz="800">
                <a:solidFill>
                  <a:srgbClr val="2E7D32"/>
                </a:solidFill>
              </a:defRPr>
            </a:pPr>
            <a:r>
              <a:t>시기: 해당 단계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2452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7828</TotalTime>
  <Words>50</Words>
  <Application>Microsoft Office PowerPoint</Application>
  <PresentationFormat>A4 용지(210x297mm)</PresentationFormat>
  <Paragraphs>26</Paragraphs>
  <Slides>5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Microsoft 계정</cp:lastModifiedBy>
  <cp:revision>299</cp:revision>
  <cp:lastPrinted>2025-07-23T03:28:55Z</cp:lastPrinted>
  <dcterms:created xsi:type="dcterms:W3CDTF">2019-03-13T02:13:57Z</dcterms:created>
  <dcterms:modified xsi:type="dcterms:W3CDTF">2025-12-23T23:46:14Z</dcterms:modified>
</cp:coreProperties>
</file>