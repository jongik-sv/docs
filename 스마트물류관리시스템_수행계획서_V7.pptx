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400" b="1">
                <a:solidFill>
                  <a:srgbClr val="002452"/>
                </a:solidFill>
                <a:latin typeface="맑은 고딕"/>
              </a:rPr>
              <a:t>스마트 물류관리 시스템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>
                <a:solidFill>
                  <a:srgbClr val="666666"/>
                </a:solidFill>
                <a:latin typeface="맑은 고딕"/>
              </a:rPr>
              <a:t>(주)테크솔루션 I 2025.01.03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572000"/>
            <a:ext cx="4572000" cy="4572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737360"/>
            <a:ext cx="6400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2452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783080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400" b="0">
                <a:solidFill>
                  <a:srgbClr val="999999"/>
                </a:solidFill>
                <a:latin typeface="맑은 고딕"/>
              </a:rPr>
              <a:t>p.03-05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23160"/>
            <a:ext cx="10058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743200"/>
            <a:ext cx="6400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2452"/>
                </a:solidFill>
                <a:latin typeface="맑은 고딕"/>
              </a:rPr>
              <a:t>추진 전략 및 방법론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788920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400" b="0">
                <a:solidFill>
                  <a:srgbClr val="999999"/>
                </a:solidFill>
                <a:latin typeface="맑은 고딕"/>
              </a:rPr>
              <a:t>p.06-08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29000"/>
            <a:ext cx="10058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39"/>
            <a:ext cx="6400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2452"/>
                </a:solidFill>
                <a:latin typeface="맑은 고딕"/>
              </a:rPr>
              <a:t>조직 및 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794760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400" b="0">
                <a:solidFill>
                  <a:srgbClr val="999999"/>
                </a:solidFill>
                <a:latin typeface="맑은 고딕"/>
              </a:rPr>
              <a:t>p.09-12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100584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754880"/>
            <a:ext cx="6400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2452"/>
                </a:solidFill>
                <a:latin typeface="맑은 고딕"/>
              </a:rPr>
              <a:t>품질·위험·소통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800600"/>
            <a:ext cx="1828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400" b="0">
                <a:solidFill>
                  <a:srgbClr val="999999"/>
                </a:solidFill>
                <a:latin typeface="맑은 고딕"/>
              </a:rPr>
              <a:t>p.13-17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글로벌물류의 차세대 물류관리 시스템을 12개월 내 구축합니다.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286000" cy="73152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발주기관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2452"/>
                </a:solidFill>
                <a:latin typeface="맑은 고딕"/>
              </a:rPr>
              <a:t>(주)글로벌물류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국내 Top 5 물류기업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56032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560320"/>
            <a:ext cx="2286000" cy="73152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계약금액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2452"/>
                </a:solidFill>
                <a:latin typeface="맑은 고딕"/>
              </a:rPr>
              <a:t>15억원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1188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VAT 별도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56032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560320"/>
            <a:ext cx="2286000" cy="73152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74320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계약기간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01752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2452"/>
                </a:solidFill>
                <a:latin typeface="맑은 고딕"/>
              </a:rPr>
              <a:t>12개월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61188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2025.01 ~ 2025.12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256032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2560320"/>
            <a:ext cx="2286000" cy="73152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274320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투입인력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1752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800" b="1">
                <a:solidFill>
                  <a:srgbClr val="002452"/>
                </a:solidFill>
                <a:latin typeface="맑은 고딕"/>
              </a:rPr>
              <a:t>8명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611880"/>
            <a:ext cx="2011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78 M/M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레거시 시스템 노후화 문제를 해결하고 물류 처리 효율 30%를 향상시킵니다.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572000" cy="256032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5720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현황 및 문제점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4114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• 10년+ 레거시 시스템 노후화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4114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• 처리 속도 저하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4114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• 실시간 재고 파악 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41148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• 타 시스템 연동 한계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2560320"/>
            <a:ext cx="731520" cy="457200"/>
          </a:xfrm>
          <a:prstGeom prst="rightArrow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502920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50292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19072"/>
            <a:ext cx="3657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추진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✓ AI 기반 물류 최적화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✓ 실시간 재고/배송 추적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✓ 클라우드 기반 확장성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480560"/>
            <a:ext cx="3200400" cy="54864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물류 처리 효율  +30%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480560"/>
            <a:ext cx="3200400" cy="54864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572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재고 정확도  99.5%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480560"/>
            <a:ext cx="3200400" cy="54864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572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운영 비용  -20%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1.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WMS, TMS, OMS, Dashboard 4개 핵심 모듈로 통합 물류 플랫폼을 구축합니다.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09728" cy="16459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560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02452"/>
                </a:solidFill>
                <a:latin typeface="맑은 고딕"/>
              </a:rPr>
              <a:t>WMS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창고관리시스템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5603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입출고 · 재고 · 피킹/패킹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6459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645920"/>
            <a:ext cx="109728" cy="164592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783080"/>
            <a:ext cx="2560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4B6580"/>
                </a:solidFill>
                <a:latin typeface="맑은 고딕"/>
              </a:rPr>
              <a:t>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0312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배송관리시스템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468880"/>
            <a:ext cx="25603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배차 · 경로최적화 · 추적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09728" cy="164592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2560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E9B86E"/>
                </a:solidFill>
                <a:latin typeface="맑은 고딕"/>
              </a:rPr>
              <a:t>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주문관리시스템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25603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주문접수 · 할당 · 정산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474720"/>
            <a:ext cx="2926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3474720"/>
            <a:ext cx="109728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3611880"/>
            <a:ext cx="25603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2E7D32"/>
                </a:solidFill>
                <a:latin typeface="맑은 고딕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93192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통합모니터링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297680"/>
            <a:ext cx="256032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실시간 현황 · KPI · 리포트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645920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999999"/>
                </a:solidFill>
                <a:latin typeface="맑은 고딕"/>
              </a:rPr>
              <a:t>인터페이스 연동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103120"/>
            <a:ext cx="36576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2194560"/>
            <a:ext cx="3383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회계 시스템 (인터페이스만)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743200"/>
            <a:ext cx="36576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834640"/>
            <a:ext cx="3383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HR 시스템 (인터페이스만)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383280"/>
            <a:ext cx="3657600" cy="502920"/>
          </a:xfrm>
          <a:prstGeom prst="roundRect">
            <a:avLst/>
          </a:prstGeom>
          <a:solidFill>
            <a:srgbClr val="F5F5F5"/>
          </a:solidFill>
          <a:ln>
            <a:solidFill>
              <a:srgbClr val="CCCCCC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474720"/>
            <a:ext cx="3383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기존 ERP (인터페이스만)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2. 추진 전략 및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안정적 전환과 혁신적 기능 구현의 균형을 핵심 가치로 추진합니다.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91840" cy="9144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800" b="1">
                <a:solidFill>
                  <a:srgbClr val="E0E0E0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9260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02452"/>
                </a:solidFill>
                <a:latin typeface="맑은 고딕"/>
              </a:rPr>
              <a:t>단계적 전환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9260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Big Bang 방식이 아닌 모듈별 순차 전환으로 리스크 최소화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291840" cy="9144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9144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800" b="1">
                <a:solidFill>
                  <a:srgbClr val="E0E0E0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29260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51F2A"/>
                </a:solidFill>
                <a:latin typeface="맑은 고딕"/>
              </a:rPr>
              <a:t>애자일 기반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91840"/>
            <a:ext cx="29260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2주 단위 스프린트로 빠른 피드백과 유연한 대응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82880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828800"/>
            <a:ext cx="329184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800" b="1">
                <a:solidFill>
                  <a:srgbClr val="E0E0E0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51760"/>
            <a:ext cx="29260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2E7D32"/>
                </a:solidFill>
                <a:latin typeface="맑은 고딕"/>
              </a:rPr>
              <a:t>현업 밀착 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91840"/>
            <a:ext cx="29260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주 2회 현업 리뷰를 통한 요구사항 정합성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2. 추진 전략 및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Agile-Waterfall 하이브리드 방법론으로 안정성과 유연성을 확보합니다.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분석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2331720"/>
            <a:ext cx="109728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2103120" cy="1645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활동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• 요구사항 정의
• 현행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산출물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→ 요구사항정의서
→ AS-IS 분석서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011680"/>
            <a:ext cx="914400" cy="91440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설계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2331720"/>
            <a:ext cx="109728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3200400"/>
            <a:ext cx="2103120" cy="1645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329184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활동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2044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• 아키텍처 설계
• UI/DB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1480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산출물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34340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→ 설계서 일체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2011680"/>
            <a:ext cx="914400" cy="91440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개발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92240" y="2331720"/>
            <a:ext cx="109728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0" y="3200400"/>
            <a:ext cx="2103120" cy="1645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29184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2044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• 기능 구현
• 단위 테스트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11480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34340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→ 소스코드
→ 단위테스트결과서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01168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테스트/이행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3200400"/>
            <a:ext cx="2103120" cy="1645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29184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활동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520440"/>
            <a:ext cx="19202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• 통합/인수 테스트
• 시스템 전환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114800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>
                <a:solidFill>
                  <a:srgbClr val="666666"/>
                </a:solidFill>
                <a:latin typeface="맑은 고딕"/>
              </a:rPr>
              <a:t>산출물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343400"/>
            <a:ext cx="19202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→ 테스트결과서
→ 이행계획서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2. 추진 전략 및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Vue.js + Spring Boot + PostgreSQL + AWS 기반 클라우드 네이티브 아키텍처입니다.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011680" cy="457200"/>
          </a:xfrm>
          <a:prstGeom prst="roundRect">
            <a:avLst/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B8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42B883"/>
                </a:solidFill>
                <a:latin typeface="맑은 고딕"/>
              </a:rPr>
              <a:t>Vue.js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v3.4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B8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42B883"/>
                </a:solidFill>
                <a:latin typeface="맑은 고딕"/>
              </a:rPr>
              <a:t>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828800"/>
            <a:ext cx="2011680" cy="457200"/>
          </a:xfrm>
          <a:prstGeom prst="round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46888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54203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6DB33F"/>
                </a:solidFill>
                <a:latin typeface="맑은 고딕"/>
              </a:rPr>
              <a:t>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8892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v3.2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B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327355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6DB33F"/>
                </a:solidFill>
                <a:latin typeface="맑은 고딕"/>
              </a:rPr>
              <a:t>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2044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828800"/>
            <a:ext cx="2011680" cy="457200"/>
          </a:xfrm>
          <a:prstGeom prst="round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46888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54203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6791"/>
                </a:solidFill>
                <a:latin typeface="맑은 고딕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78892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27355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6791"/>
                </a:solidFill>
                <a:latin typeface="맑은 고딕"/>
              </a:rPr>
              <a:t>Redis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52044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828800"/>
            <a:ext cx="201168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246888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254203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FF9900"/>
                </a:solidFill>
                <a:latin typeface="맑은 고딕"/>
              </a:rPr>
              <a:t>AWS EKS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327355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FF9900"/>
                </a:solidFill>
                <a:latin typeface="맑은 고딕"/>
              </a:rPr>
              <a:t>AWS RDS/S3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828800"/>
            <a:ext cx="2011680" cy="45720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AI/ML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46888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54203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FF6F00"/>
                </a:solidFill>
                <a:latin typeface="맑은 고딕"/>
              </a:rP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78892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v3.11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20040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273552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FF6F00"/>
                </a:solidFill>
                <a:latin typeface="맑은 고딕"/>
              </a:rPr>
              <a:t>TensorFlow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520440"/>
            <a:ext cx="164592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999999"/>
                </a:solidFill>
                <a:latin typeface="맑은 고딕"/>
              </a:rPr>
              <a:t>v2.15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3. 조직 및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PM 김철수를 중심으로 8명의 전문가가 프로젝트를 수행합니다.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3200400" cy="73152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정민호 부장
발주PM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2103120"/>
            <a:ext cx="18288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2468880"/>
            <a:ext cx="320040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2452"/>
                </a:solidFill>
                <a:latin typeface="맑은 고딕"/>
              </a:rPr>
              <a:t>김철수 차장
PM · 수행 총괄, 품질/위험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840480"/>
            <a:ext cx="3474720" cy="41148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343400"/>
            <a:ext cx="34747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389120"/>
            <a:ext cx="3291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PMO 이영희 과장 (고급)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840480"/>
            <a:ext cx="3474720" cy="41148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개발팀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4343400"/>
            <a:ext cx="34747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4389120"/>
            <a:ext cx="3291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AA 박준형 책임 (특급)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4754880"/>
            <a:ext cx="34747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4800600"/>
            <a:ext cx="3291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PL 최수진 선임 (고급)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5166360"/>
            <a:ext cx="34747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5212080"/>
            <a:ext cx="3291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Dev 임동현/강서연/윤재호 (고급/중급)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840480"/>
            <a:ext cx="347472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343400"/>
            <a:ext cx="34747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389120"/>
            <a:ext cx="3291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DBA 오현우 대리 (고급)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754880"/>
            <a:ext cx="34747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4800600"/>
            <a:ext cx="32918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QA 한미영 대리 (중급)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3. 조직 및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총 78M/M 투입으로 PM/AA 주도의 12개월 프로젝트를 수행합니다.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96012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480560"/>
            <a:ext cx="36576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666666"/>
                </a:solidFill>
                <a:latin typeface="맑은 고딕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96012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749040"/>
            <a:ext cx="36576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96012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017520"/>
            <a:ext cx="36576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96012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86000"/>
            <a:ext cx="36576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45920"/>
            <a:ext cx="96012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554480"/>
            <a:ext cx="36576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900" b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474720"/>
            <a:ext cx="594360" cy="34747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1월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87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687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68780" y="3108960"/>
            <a:ext cx="594360" cy="71323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73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2월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688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68880" y="3108960"/>
            <a:ext cx="594360" cy="71323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68880" y="274320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3월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89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689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68980" y="3108960"/>
            <a:ext cx="594360" cy="71323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68980" y="274320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75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4월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690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69080" y="2743200"/>
            <a:ext cx="594360" cy="107899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69080" y="237744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5월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691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691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69180" y="2377440"/>
            <a:ext cx="594360" cy="144475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69180" y="201168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777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6월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0" y="2377440"/>
            <a:ext cx="594360" cy="144475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69280" y="201168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7월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93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693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69380" y="2377440"/>
            <a:ext cx="594360" cy="144475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69380" y="201168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79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8월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694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2694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269480" y="2377440"/>
            <a:ext cx="594360" cy="144475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269480" y="201168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780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9월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695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69580" y="3840480"/>
            <a:ext cx="594360" cy="347472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69580" y="2743200"/>
            <a:ext cx="594360" cy="107899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069580" y="2011680"/>
            <a:ext cx="594360" cy="7132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781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10월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696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869680" y="3474720"/>
            <a:ext cx="594360" cy="71323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869680" y="2743200"/>
            <a:ext cx="594360" cy="7132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11월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69780" y="4206240"/>
            <a:ext cx="594360" cy="347472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669780" y="3840480"/>
            <a:ext cx="594360" cy="347472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669780" y="3474720"/>
            <a:ext cx="59436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78340" y="4617720"/>
            <a:ext cx="7315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12월</a:t>
            </a:r>
          </a:p>
        </p:txBody>
      </p:sp>
      <p:sp>
        <p:nvSpPr>
          <p:cNvPr id="71" name="Oval 70"/>
          <p:cNvSpPr/>
          <p:nvPr/>
        </p:nvSpPr>
        <p:spPr>
          <a:xfrm>
            <a:off x="8229600" y="1188720"/>
            <a:ext cx="137160" cy="1371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0" y="1161288"/>
            <a:ext cx="914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PM</a:t>
            </a:r>
          </a:p>
        </p:txBody>
      </p:sp>
      <p:sp>
        <p:nvSpPr>
          <p:cNvPr id="73" name="Oval 72"/>
          <p:cNvSpPr/>
          <p:nvPr/>
        </p:nvSpPr>
        <p:spPr>
          <a:xfrm>
            <a:off x="9601200" y="1188720"/>
            <a:ext cx="137160" cy="13716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4080" y="1161288"/>
            <a:ext cx="914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AA</a:t>
            </a:r>
          </a:p>
        </p:txBody>
      </p:sp>
      <p:sp>
        <p:nvSpPr>
          <p:cNvPr id="75" name="Oval 74"/>
          <p:cNvSpPr/>
          <p:nvPr/>
        </p:nvSpPr>
        <p:spPr>
          <a:xfrm>
            <a:off x="8229600" y="1508760"/>
            <a:ext cx="137160" cy="13716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1481328"/>
            <a:ext cx="914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개발</a:t>
            </a:r>
          </a:p>
        </p:txBody>
      </p:sp>
      <p:sp>
        <p:nvSpPr>
          <p:cNvPr id="77" name="Oval 76"/>
          <p:cNvSpPr/>
          <p:nvPr/>
        </p:nvSpPr>
        <p:spPr>
          <a:xfrm>
            <a:off x="9601200" y="150876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84080" y="1481328"/>
            <a:ext cx="91440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333333"/>
                </a:solidFill>
                <a:latin typeface="맑은 고딕"/>
              </a:rPr>
              <a:t>DBA/QA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1188720"/>
            <a:ext cx="1645920" cy="36576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총 78 M/M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3. 조직 및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6개 단계, 6개 마일스톤으로 12개월 프로젝트를 체계적으로 관리합니다.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1월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2월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3월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4월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5월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6월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7월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8월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9월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10월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11월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371600"/>
            <a:ext cx="777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666666"/>
                </a:solidFill>
                <a:latin typeface="맑은 고딕"/>
              </a:rPr>
              <a:t>12월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691640"/>
            <a:ext cx="9144" cy="3474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18288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333333"/>
                </a:solidFill>
                <a:latin typeface="맑은 고딕"/>
              </a:rPr>
              <a:t>착수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1828800"/>
            <a:ext cx="777240" cy="32004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22860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333333"/>
                </a:solidFill>
                <a:latin typeface="맑은 고딕"/>
              </a:rPr>
              <a:t>분석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2286000"/>
            <a:ext cx="1554480" cy="32004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27432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333333"/>
                </a:solidFill>
                <a:latin typeface="맑은 고딕"/>
              </a:rPr>
              <a:t>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2743200"/>
            <a:ext cx="1554480" cy="32004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32004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333333"/>
                </a:solidFill>
                <a:latin typeface="맑은 고딕"/>
              </a:rPr>
              <a:t>개발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3200400"/>
            <a:ext cx="3108960" cy="32004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36576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333333"/>
                </a:solidFill>
                <a:latin typeface="맑은 고딕"/>
              </a:rPr>
              <a:t>테스트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3657600"/>
            <a:ext cx="116586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41148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1">
                <a:solidFill>
                  <a:srgbClr val="333333"/>
                </a:solidFill>
                <a:latin typeface="맑은 고딕"/>
              </a:rPr>
              <a:t>이행/안정화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32620" y="4114800"/>
            <a:ext cx="116586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1513332" y="4663440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7572" y="4892040"/>
            <a:ext cx="1097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>M1 착수보고</a:t>
            </a:r>
          </a:p>
        </p:txBody>
      </p:sp>
      <p:sp>
        <p:nvSpPr>
          <p:cNvPr id="43" name="Diamond 42"/>
          <p:cNvSpPr/>
          <p:nvPr/>
        </p:nvSpPr>
        <p:spPr>
          <a:xfrm>
            <a:off x="3534156" y="4663440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8396" y="4892040"/>
            <a:ext cx="1097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>M2 요구사항 확정</a:t>
            </a:r>
          </a:p>
        </p:txBody>
      </p:sp>
      <p:sp>
        <p:nvSpPr>
          <p:cNvPr id="45" name="Diamond 44"/>
          <p:cNvSpPr/>
          <p:nvPr/>
        </p:nvSpPr>
        <p:spPr>
          <a:xfrm>
            <a:off x="5088636" y="4663440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22876" y="4892040"/>
            <a:ext cx="1097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>M3 설계 완료</a:t>
            </a:r>
          </a:p>
        </p:txBody>
      </p:sp>
      <p:sp>
        <p:nvSpPr>
          <p:cNvPr id="47" name="Diamond 46"/>
          <p:cNvSpPr/>
          <p:nvPr/>
        </p:nvSpPr>
        <p:spPr>
          <a:xfrm>
            <a:off x="8197596" y="4663440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1836" y="4892040"/>
            <a:ext cx="1097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>M4 개발 완료</a:t>
            </a:r>
          </a:p>
        </p:txBody>
      </p:sp>
      <p:sp>
        <p:nvSpPr>
          <p:cNvPr id="49" name="Diamond 48"/>
          <p:cNvSpPr/>
          <p:nvPr/>
        </p:nvSpPr>
        <p:spPr>
          <a:xfrm>
            <a:off x="9363456" y="4663440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97696" y="4892040"/>
            <a:ext cx="1097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>M5 테스트 완료</a:t>
            </a:r>
          </a:p>
        </p:txBody>
      </p:sp>
      <p:sp>
        <p:nvSpPr>
          <p:cNvPr id="51" name="Diamond 50"/>
          <p:cNvSpPr/>
          <p:nvPr/>
        </p:nvSpPr>
        <p:spPr>
          <a:xfrm>
            <a:off x="9752076" y="4663440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86316" y="4892040"/>
            <a:ext cx="1097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>
                <a:solidFill>
                  <a:srgbClr val="333333"/>
                </a:solidFill>
                <a:latin typeface="맑은 고딕"/>
              </a:rPr>
              <a:t>M6 시스템 오픈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3. 조직 및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11개 핵심 산출물을 단계별로 작성하고 품질을 관리합니다.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2103120" cy="36576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착수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2024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54864" cy="54864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착수보고서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4028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54864" cy="54864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60604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수행계획서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8036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1463040"/>
            <a:ext cx="2103120" cy="36576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92024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1920240"/>
            <a:ext cx="54864" cy="54864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8608" y="196596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요구사항정의서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24028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56032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2560320"/>
            <a:ext cx="54864" cy="54864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260604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현행시스템분석서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88036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463040"/>
            <a:ext cx="2103120" cy="365760"/>
          </a:xfrm>
          <a:prstGeom prst="round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설계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92024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1920240"/>
            <a:ext cx="54864" cy="54864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96596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아키텍처설계서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24028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AA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256032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2560320"/>
            <a:ext cx="54864" cy="548640"/>
          </a:xfrm>
          <a:prstGeom prst="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260604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데이터베이스설계서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288036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DBA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320040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3440" y="3200400"/>
            <a:ext cx="54864" cy="54864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324612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화면설계서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3168" y="352044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1463040"/>
            <a:ext cx="2103120" cy="365760"/>
          </a:xfrm>
          <a:prstGeom prst="round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개발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192024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1920240"/>
            <a:ext cx="54864" cy="54864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7728" y="196596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소스코드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224028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개발팀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1463040"/>
            <a:ext cx="210312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테스트/이행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192024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52560" y="1920240"/>
            <a:ext cx="54864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62288" y="196596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통합테스트결과서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224028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QA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56032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52560" y="2560320"/>
            <a:ext cx="54864" cy="54864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260604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운영자매뉴얼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62288" y="288036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52560" y="3200400"/>
            <a:ext cx="2103120" cy="5486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60" y="3200400"/>
            <a:ext cx="54864" cy="54864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62288" y="3246120"/>
            <a:ext cx="1920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333333"/>
                </a:solidFill>
                <a:latin typeface="맑은 고딕"/>
              </a:rPr>
              <a:t>완료보고서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3520440"/>
            <a:ext cx="192024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888888"/>
                </a:solidFill>
                <a:latin typeface="맑은 고딕"/>
              </a:rPr>
              <a:t>담당: PM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4. 품질·위험·소통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코드 리뷰, 정적 분석, 테스트로 품질을 확보하고 4대 보안 영역을 관리합니다.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21208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✓ 품질 보증 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산출물 검토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134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발주 담당자 검토 및 승인 (단계별 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코드 리뷰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992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GitHub PR 필수, 2인 이상 승인 (개발 기간)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정적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850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SonarQube 품질 게이트 적용 (개발 기간)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708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시나리오 기반 테스트 (통합/인수)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46304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1463040"/>
            <a:ext cx="5212080" cy="4572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536192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🛡 보안 관리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0574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인적 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134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보안서약서 징구, 보안 교육 실시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432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물리 보안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992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통제구역 출입 관리, 반입 장비 통제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290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기술 보안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850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소스코드 보안약점 진단, DB 암호화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14800"/>
            <a:ext cx="4846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PC 보안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370832"/>
            <a:ext cx="4846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백신, 화면보호기, DLP 솔루션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4. 품질·위험·소통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5대 위험을 사전 식별하고 체계적인 대응 방안을 수립합니다.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645920"/>
            <a:ext cx="1737360" cy="1737360"/>
          </a:xfrm>
          <a:prstGeom prst="rect">
            <a:avLst/>
          </a:prstGeom>
          <a:solidFill>
            <a:srgbClr val="FFEBE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737360" cy="1737360"/>
          </a:xfrm>
          <a:prstGeom prst="rect">
            <a:avLst/>
          </a:prstGeom>
          <a:solidFill>
            <a:srgbClr val="FFF8E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3383280"/>
            <a:ext cx="1737360" cy="1737360"/>
          </a:xfrm>
          <a:prstGeom prst="rect">
            <a:avLst/>
          </a:prstGeom>
          <a:solidFill>
            <a:srgbClr val="FFF8E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1737360" cy="1737360"/>
          </a:xfrm>
          <a:prstGeom prst="rect">
            <a:avLst/>
          </a:prstGeom>
          <a:solidFill>
            <a:srgbClr val="E8F5E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34747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666666"/>
                </a:solidFill>
                <a:latin typeface="맑은 고딕"/>
              </a:rPr>
              <a:t>발생확률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3291840"/>
            <a:ext cx="457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>
                <a:solidFill>
                  <a:srgbClr val="666666"/>
                </a:solidFill>
                <a:latin typeface="맑은 고딕"/>
              </a:rPr>
              <a:t>영향도↑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0" y="237744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2377440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57400" y="3246120"/>
            <a:ext cx="274320" cy="27432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2377440"/>
            <a:ext cx="274320" cy="27432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57400" y="2551176"/>
            <a:ext cx="274320" cy="2743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463040"/>
            <a:ext cx="64008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463040"/>
            <a:ext cx="73152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536192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요구사항 변경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536192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영향:상 / 확률:상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828800"/>
            <a:ext cx="5943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대응: 변경관리위원회(CCB) 통해 통제, 영향도 분석 필수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286000"/>
            <a:ext cx="64008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2286000"/>
            <a:ext cx="73152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359152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일정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359152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영향:상 / 확률:중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651760"/>
            <a:ext cx="5943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대응: 주간 진척관리, Critical Path 집중 모니터링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108960"/>
            <a:ext cx="64008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108960"/>
            <a:ext cx="73152" cy="731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182112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기술적 난제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182112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영향:중 / 확률:중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74720"/>
            <a:ext cx="5943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대응: PoC 선행, 외부 전문가 자문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931920"/>
            <a:ext cx="64008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3931920"/>
            <a:ext cx="73152" cy="731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005072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인력 이탈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005072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영향:상 / 확률:하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297680"/>
            <a:ext cx="5943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대응: 대체 인력 풀 확보, 기술 문서화 강화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754880"/>
            <a:ext cx="64008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4754880"/>
            <a:ext cx="73152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4828032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>
                <a:solidFill>
                  <a:srgbClr val="333333"/>
                </a:solidFill>
                <a:latin typeface="맑은 고딕"/>
              </a:rPr>
              <a:t>데이터 마이그레이션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828032"/>
            <a:ext cx="18288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영향:상 / 확률:중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120640"/>
            <a:ext cx="5943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대응: 사전 검증, 롤백 계획 수립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4. 품질·위험·소통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일일 스탠드업부터 월간보고까지 체계적인 보고·회의 체계를 운영합니다.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468880" cy="9144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2194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4B6580"/>
                </a:solidFill>
                <a:latin typeface="맑은 고딕"/>
              </a:rPr>
              <a:t>일일 스탠드업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21945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1031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4B6580"/>
                </a:solidFill>
                <a:latin typeface="맑은 고딕"/>
              </a:rPr>
              <a:t>매일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21945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참석: 개발팀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8328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진행 현황, 블로커 공유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828800"/>
            <a:ext cx="2468880" cy="9144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057400"/>
            <a:ext cx="2194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주간보고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560320"/>
            <a:ext cx="21945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606040"/>
            <a:ext cx="21031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002452"/>
                </a:solidFill>
                <a:latin typeface="맑은 고딕"/>
              </a:rPr>
              <a:t>매주 금 14:00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17520"/>
            <a:ext cx="21945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참석: PM, 발주PM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38328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주간 실적/계획, 이슈 공유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82880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828800"/>
            <a:ext cx="2468880" cy="9144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057400"/>
            <a:ext cx="2194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E9B86E"/>
                </a:solidFill>
                <a:latin typeface="맑은 고딕"/>
              </a:rPr>
              <a:t>스프린트 리뷰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2560320"/>
            <a:ext cx="21945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606040"/>
            <a:ext cx="21031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E9B86E"/>
                </a:solidFill>
                <a:latin typeface="맑은 고딕"/>
              </a:rPr>
              <a:t>격주 금요일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017520"/>
            <a:ext cx="21945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참석: 전체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38328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데모, 피드백 수렴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828800"/>
            <a:ext cx="2468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1828800"/>
            <a:ext cx="2468880" cy="9144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057400"/>
            <a:ext cx="21945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C51F2A"/>
                </a:solidFill>
                <a:latin typeface="맑은 고딕"/>
              </a:rPr>
              <a:t>월간보고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2560320"/>
            <a:ext cx="219456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606040"/>
            <a:ext cx="21031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C51F2A"/>
                </a:solidFill>
                <a:latin typeface="맑은 고딕"/>
              </a:rPr>
              <a:t>매월 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017520"/>
            <a:ext cx="21945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참석: 경영진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383280"/>
            <a:ext cx="21945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마일스톤 점검, 리스크 보고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4. 품질·위험·소통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45명 대상 3종 교육을 오픈 3주 전부터 체계적으로 실시합니다.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91440" cy="164592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8346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4B6580"/>
                </a:solidFill>
                <a:latin typeface="맑은 고딕"/>
              </a:rPr>
              <a:t>사용자 교육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283464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27432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현업 담당자 30명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834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시기: 오픈 2주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834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시스템 주요 기능 및 사용법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6459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1645920"/>
            <a:ext cx="91440" cy="16459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783080"/>
            <a:ext cx="28346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운영자 교육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194560"/>
            <a:ext cx="283464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240280"/>
            <a:ext cx="27432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IT 운영팀 5명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06040"/>
            <a:ext cx="2834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시기: 오픈 3주 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80360"/>
            <a:ext cx="2834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시스템 구성, 백업/복구, 장애대응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6459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645920"/>
            <a:ext cx="91440" cy="164592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1783080"/>
            <a:ext cx="28346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E9B86E"/>
                </a:solidFill>
                <a:latin typeface="맑은 고딕"/>
              </a:rPr>
              <a:t>관리자 교육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194560"/>
            <a:ext cx="283464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240280"/>
            <a:ext cx="27432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맑은 고딕"/>
              </a:rPr>
              <a:t>관리자 10명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606040"/>
            <a:ext cx="283464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시기: 오픈 1주 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880360"/>
            <a:ext cx="2834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888888"/>
                </a:solidFill>
                <a:latin typeface="맑은 고딕"/>
              </a:rPr>
              <a:t>권한 관리, 리포트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57600"/>
            <a:ext cx="10241280" cy="109728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2743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기술 이전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9601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대상: 시스템 소스코드, 설계 산출물, 운영 매뉴얼 일체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89120"/>
            <a:ext cx="9601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E0E0E0"/>
                </a:solidFill>
                <a:latin typeface="맑은 고딕"/>
              </a:rPr>
              <a:t>방법: 담당자 1:1 멘토링 및 인계인수서 작성 | 지원: 오픈 후 3개월 안정화 지원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4. 품질·위험·소통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002452"/>
                </a:solidFill>
                <a:latin typeface="맑은 고딕"/>
              </a:rPr>
              <a:t>프로젝트 착수 시 4가지 환경/자원 협조를 요청드립니다.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468880" cy="2743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1828800"/>
            <a:ext cx="548640" cy="54864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286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002452"/>
                </a:solidFill>
                <a:latin typeface="맑은 고딕"/>
              </a:rPr>
              <a:t>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☐ 프로젝트 룸 (10석 규모)
☐ 네트워크(VPN) 접근권한
☐ 출입증 발급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40"/>
            <a:ext cx="2103120" cy="274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05072"/>
            <a:ext cx="20116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002452"/>
                </a:solidFill>
                <a:latin typeface="맑은 고딕"/>
              </a:rPr>
              <a:t>착수 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645920"/>
            <a:ext cx="2468880" cy="2743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B6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1828800"/>
            <a:ext cx="548640" cy="548640"/>
          </a:xfrm>
          <a:prstGeom prst="ellipse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286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4B6580"/>
                </a:solidFill>
                <a:latin typeface="맑은 고딕"/>
              </a:rPr>
              <a:t>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2608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☐ 테스트용 샘플 데이터 제공
☐ 개인정보 비식별화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977640"/>
            <a:ext cx="2103120" cy="274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005072"/>
            <a:ext cx="20116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4B6580"/>
                </a:solidFill>
                <a:latin typeface="맑은 고딕"/>
              </a:rPr>
              <a:t>설계/개발 단계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645920"/>
            <a:ext cx="2468880" cy="2743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9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468880"/>
            <a:ext cx="2286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E9B86E"/>
                </a:solidFill>
                <a:latin typeface="맑은 고딕"/>
              </a:rPr>
              <a:t>인프라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92608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☐ AWS 계정 및 권한 부여
☐ 개발/스테이징/운영 3개 환경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77640"/>
            <a:ext cx="2103120" cy="274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05072"/>
            <a:ext cx="20116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E9B86E"/>
                </a:solidFill>
                <a:latin typeface="맑은 고딕"/>
              </a:rPr>
              <a:t>착수 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645920"/>
            <a:ext cx="2468880" cy="27432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46920" y="18288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468880"/>
            <a:ext cx="2286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2E7D32"/>
                </a:solidFill>
                <a:latin typeface="맑은 고딕"/>
              </a:rPr>
              <a:t>참여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92608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>
                <a:solidFill>
                  <a:srgbClr val="333333"/>
                </a:solidFill>
                <a:latin typeface="맑은 고딕"/>
              </a:rPr>
              <a:t>☐ 요구사항 인터뷰 지원
☐ UAT 테스트 참여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977640"/>
            <a:ext cx="2103120" cy="274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4005072"/>
            <a:ext cx="201168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>
                <a:solidFill>
                  <a:srgbClr val="2E7D32"/>
                </a:solidFill>
                <a:latin typeface="맑은 고딕"/>
              </a:rPr>
              <a:t>해당 단계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486400" cy="228600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4864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291840"/>
            <a:ext cx="54864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>
                <a:solidFill>
                  <a:srgbClr val="E0E0E0"/>
                </a:solidFill>
                <a:latin typeface="맑은 고딕"/>
              </a:rPr>
              <a:t>(주)테크솔루션 PM팀 I 김철수 차장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572000"/>
            <a:ext cx="2743200" cy="4572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