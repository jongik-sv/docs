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6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</c:v>
                </c:pt>
              </c:strCache>
            </c:strRef>
          </c:tx>
          <c:spPr>
            <a:solidFill>
              <a:srgbClr val="002452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D7-429C-A24F-40095BCB1A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</c:v>
                </c:pt>
              </c:strCache>
            </c:strRef>
          </c:tx>
          <c:spPr>
            <a:solidFill>
              <a:srgbClr val="4B658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D7-429C-A24F-40095BCB1A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개발</c:v>
                </c:pt>
              </c:strCache>
            </c:strRef>
          </c:tx>
          <c:spPr>
            <a:solidFill>
              <a:srgbClr val="E9B86E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D7-429C-A24F-40095BCB1AF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DBA/QA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D7-429C-A24F-40095BCB1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973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5166" y="1722388"/>
            <a:ext cx="6373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63901" y="2712988"/>
            <a:ext cx="1015901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85166" y="3144738"/>
            <a:ext cx="63735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I 2025.01.03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217563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575" y="1217563"/>
            <a:ext cx="0" cy="657225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6702" y="1369963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61852" y="1408063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50859" y="1460450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77938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90575" y="2077938"/>
            <a:ext cx="0" cy="657225"/>
          </a:xfrm>
          <a:prstGeom prst="line">
            <a:avLst/>
          </a:prstGeom>
          <a:noFill/>
          <a:ln w="57150">
            <a:solidFill>
              <a:srgbClr val="4B6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702" y="2230338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61852" y="2268438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50859" y="2320826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06-08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2938314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0575" y="2938314"/>
            <a:ext cx="0" cy="657225"/>
          </a:xfrm>
          <a:prstGeom prst="line">
            <a:avLst/>
          </a:prstGeom>
          <a:noFill/>
          <a:ln w="57150">
            <a:solidFill>
              <a:srgbClr val="E9B8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6702" y="3090714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61852" y="3128814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및 일정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50859" y="3181201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000" y="3798689"/>
            <a:ext cx="7620000" cy="657225"/>
          </a:xfrm>
          <a:prstGeom prst="roundRect">
            <a:avLst>
              <a:gd name="adj" fmla="val 154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90575" y="3798689"/>
            <a:ext cx="0" cy="657225"/>
          </a:xfrm>
          <a:prstGeom prst="line">
            <a:avLst/>
          </a:prstGeom>
          <a:noFill/>
          <a:ln w="5715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6702" y="3951089"/>
            <a:ext cx="6475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961852" y="3989189"/>
            <a:ext cx="55123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품질·위험·소통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50859" y="4041577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글로벌물류의 차세대 물류관리 시스템을 12개월 내 구축합니다.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2231975"/>
            <a:ext cx="2031950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pic>
        <p:nvPicPr>
          <p:cNvPr id="7" name="Image 0" descr="C:/project/docs/workspace/slides/images/icon-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51" y="245893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3079" y="3055739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3079" y="3303389"/>
            <a:ext cx="176169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0643" y="3751064"/>
            <a:ext cx="1761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Top 5 물류기업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39901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539901" y="2231975"/>
            <a:ext cx="2031950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pic>
        <p:nvPicPr>
          <p:cNvPr id="13" name="Image 1" descr="C:/project/docs/workspace/slides/images/icon-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202" y="245893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75029" y="3055739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계약금액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675029" y="3303389"/>
            <a:ext cx="17616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15억원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675029" y="3751064"/>
            <a:ext cx="1761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1851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4571851" y="2231975"/>
            <a:ext cx="2031950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pic>
        <p:nvPicPr>
          <p:cNvPr id="19" name="Image 2" descr="C:/project/docs/workspace/slides/images/icon-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152" y="245893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6980" y="3055739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706980" y="3303389"/>
            <a:ext cx="17616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706980" y="3751064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 ~ 2025.12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603802" y="2208163"/>
            <a:ext cx="2031950" cy="1850827"/>
          </a:xfrm>
          <a:prstGeom prst="roundRect">
            <a:avLst>
              <a:gd name="adj" fmla="val 548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6603802" y="2231975"/>
            <a:ext cx="2031950" cy="0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pic>
        <p:nvPicPr>
          <p:cNvPr id="25" name="Image 3" descr="C:/project/docs/workspace/slides/images/icon-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102" y="245893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38930" y="3055739"/>
            <a:ext cx="1761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투입인력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738930" y="3303389"/>
            <a:ext cx="17616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8명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738930" y="3751064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M/M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레거시 시스템 노후화 문제를 해결하고 물류 처리 효율 30%를 향상시킵니다.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26803"/>
            <a:ext cx="3606998" cy="3035796"/>
          </a:xfrm>
          <a:prstGeom prst="roundRect">
            <a:avLst>
              <a:gd name="adj" fmla="val 5020"/>
            </a:avLst>
          </a:prstGeom>
          <a:solidFill>
            <a:srgbClr val="E74C3C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529953"/>
            <a:ext cx="32647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및 문제점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1920478"/>
            <a:ext cx="3200698" cy="9906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10년+ 레거시 시스템 노후화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속도 저하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파악 불가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시스템 연동 한계</a:t>
            </a:r>
            <a:endParaRPr lang="en-US" sz="1100" dirty="0"/>
          </a:p>
        </p:txBody>
      </p:sp>
      <p:pic>
        <p:nvPicPr>
          <p:cNvPr id="8" name="Image 0" descr="C:/project/docs/workspace/slides/images/icon-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99" y="2590651"/>
            <a:ext cx="507950" cy="5079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0" y="1326803"/>
            <a:ext cx="3606998" cy="3035796"/>
          </a:xfrm>
          <a:prstGeom prst="roundRect">
            <a:avLst>
              <a:gd name="adj" fmla="val 5020"/>
            </a:avLst>
          </a:prstGeom>
          <a:solidFill>
            <a:srgbClr val="2E7D3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232350" y="1529953"/>
            <a:ext cx="32647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목표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32350" y="1920478"/>
            <a:ext cx="3200698" cy="7239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물류 최적화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재고/배송 추적</a:t>
            </a:r>
            <a:endParaRPr lang="en-US" sz="11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기반 확장성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0" y="4565749"/>
            <a:ext cx="9144000" cy="5777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787700" y="4641949"/>
            <a:ext cx="1155650" cy="425351"/>
          </a:xfrm>
          <a:prstGeom prst="roundRect">
            <a:avLst>
              <a:gd name="adj" fmla="val 3582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983357" y="4692700"/>
            <a:ext cx="764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처리 효율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83357" y="4845100"/>
            <a:ext cx="7643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97251" y="4641949"/>
            <a:ext cx="1009650" cy="425351"/>
          </a:xfrm>
          <a:prstGeom prst="roundRect">
            <a:avLst>
              <a:gd name="adj" fmla="val 3582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94368" y="4692700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정확도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394368" y="4845100"/>
            <a:ext cx="6154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60802" y="4641949"/>
            <a:ext cx="895350" cy="425351"/>
          </a:xfrm>
          <a:prstGeom prst="roundRect">
            <a:avLst>
              <a:gd name="adj" fmla="val 3582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59061" y="4692700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59061" y="4845100"/>
            <a:ext cx="4988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WMS, TMS, OMS, Dashboard 4개 핵심 모듈로 통합 물류 플랫폼을 구축합니다.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299865"/>
            <a:ext cx="1554510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95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 · 재고 · 피킹/패킹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87910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087910" y="1299865"/>
            <a:ext cx="1554510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486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1486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1486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 · 경로최적화 · 추적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94820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794820" y="1299865"/>
            <a:ext cx="1554510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177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2177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2177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주문접수 · 할당 · 정산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01729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01729" y="1299865"/>
            <a:ext cx="1554510" cy="0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8680" y="1450628"/>
            <a:ext cx="1326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8680" y="1685479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8680" y="1888629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 · KPI · 리포트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08639" y="1276052"/>
            <a:ext cx="1554510" cy="3486448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208639" y="1299865"/>
            <a:ext cx="1554510" cy="0"/>
          </a:xfrm>
          <a:prstGeom prst="line">
            <a:avLst/>
          </a:prstGeom>
          <a:noFill/>
          <a:ln w="47625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5589" y="1450628"/>
            <a:ext cx="13266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 범위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5589" y="1653778"/>
            <a:ext cx="1326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회계, HR, 기존 ERP (I/F만)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전환과 혁신적 기능 구현의 균형을 핵심 가치로 추진합니다.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98575"/>
            <a:ext cx="2709416" cy="2870002"/>
          </a:xfrm>
          <a:prstGeom prst="roundRect">
            <a:avLst>
              <a:gd name="adj" fmla="val 5625"/>
            </a:avLst>
          </a:prstGeom>
          <a:solidFill>
            <a:srgbClr val="002452">
              <a:alpha val="5000"/>
            </a:srgbClr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736675"/>
            <a:ext cx="2709416" cy="0"/>
          </a:xfrm>
          <a:prstGeom prst="line">
            <a:avLst/>
          </a:prstGeom>
          <a:noFill/>
          <a:ln w="76200">
            <a:solidFill>
              <a:srgbClr val="002452"/>
            </a:solidFill>
            <a:prstDash val="solid"/>
          </a:ln>
        </p:spPr>
      </p:sp>
      <p:pic>
        <p:nvPicPr>
          <p:cNvPr id="7" name="Image 0" descr="C:/project/docs/workspace/slides/images/icon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83" y="2028676"/>
            <a:ext cx="507950" cy="507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9835" y="2676227"/>
            <a:ext cx="224564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452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9835" y="3162002"/>
            <a:ext cx="22456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 전략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9835" y="3466802"/>
            <a:ext cx="224564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6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 모듈별 순차 전환으로 리스크 최소화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17366" y="1698575"/>
            <a:ext cx="2709416" cy="2870002"/>
          </a:xfrm>
          <a:prstGeom prst="roundRect">
            <a:avLst>
              <a:gd name="adj" fmla="val 5625"/>
            </a:avLst>
          </a:prstGeom>
          <a:solidFill>
            <a:srgbClr val="C51F2A">
              <a:alpha val="5000"/>
            </a:srgbClr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17366" y="1736675"/>
            <a:ext cx="2709416" cy="0"/>
          </a:xfrm>
          <a:prstGeom prst="line">
            <a:avLst/>
          </a:prstGeom>
          <a:noFill/>
          <a:ln w="76200">
            <a:solidFill>
              <a:srgbClr val="C51F2A"/>
            </a:solidFill>
            <a:prstDash val="solid"/>
          </a:ln>
        </p:spPr>
      </p:sp>
      <p:pic>
        <p:nvPicPr>
          <p:cNvPr id="13" name="Image 1" descr="C:/project/docs/workspace/slides/images/icon-ag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99" y="2028676"/>
            <a:ext cx="507950" cy="507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9251" y="2676227"/>
            <a:ext cx="224564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51F2A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449251" y="3162002"/>
            <a:ext cx="22456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49251" y="3466802"/>
            <a:ext cx="224564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6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스프린트로 빠른 피드백과 유연한 대응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26782" y="1698575"/>
            <a:ext cx="2709416" cy="2870002"/>
          </a:xfrm>
          <a:prstGeom prst="roundRect">
            <a:avLst>
              <a:gd name="adj" fmla="val 5625"/>
            </a:avLst>
          </a:prstGeom>
          <a:solidFill>
            <a:srgbClr val="2E7D32">
              <a:alpha val="5000"/>
            </a:srgbClr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5926782" y="1736675"/>
            <a:ext cx="2709416" cy="0"/>
          </a:xfrm>
          <a:prstGeom prst="line">
            <a:avLst/>
          </a:prstGeom>
          <a:noFill/>
          <a:ln w="76200">
            <a:solidFill>
              <a:srgbClr val="2E7D32"/>
            </a:solidFill>
            <a:prstDash val="solid"/>
          </a:ln>
        </p:spPr>
      </p:sp>
      <p:pic>
        <p:nvPicPr>
          <p:cNvPr id="19" name="Image 2" descr="C:/project/docs/workspace/slides/images/icon-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515" y="2028676"/>
            <a:ext cx="507950" cy="5079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8667" y="2676227"/>
            <a:ext cx="224564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6158667" y="3162002"/>
            <a:ext cx="22456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58667" y="3466802"/>
            <a:ext cx="224564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6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현업 리뷰를 통한 요구사항 정합성 확보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Agile-Waterfall 하이브리드 방법론으로 안정성과 유연성을 확보합니다.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7347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52898" y="2287637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40198" y="2374999"/>
            <a:ext cx="507950" cy="25301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75099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30650" y="2287637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7950" y="2374999"/>
            <a:ext cx="507950" cy="25301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2851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8402" y="2287637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5702" y="2374999"/>
            <a:ext cx="507950" cy="25301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30603" y="18796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09954" y="2287637"/>
            <a:ext cx="4663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8099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499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0499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9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0499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2000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35300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87700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87700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설계</a:t>
            </a:r>
            <a:endParaRPr lang="en-US" sz="9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87700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89200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일체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2500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4900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4900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구현</a:t>
            </a:r>
            <a:endParaRPr lang="en-US" sz="9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4900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6401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89700" y="3149501"/>
            <a:ext cx="1746200" cy="1237952"/>
          </a:xfrm>
          <a:prstGeom prst="roundRect">
            <a:avLst>
              <a:gd name="adj" fmla="val 82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42100" y="3301901"/>
            <a:ext cx="1470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2100" y="3574852"/>
            <a:ext cx="1441400" cy="3301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통합/인수 테스트</a:t>
            </a:r>
            <a:endParaRPr lang="en-US" sz="900" dirty="0"/>
          </a:p>
          <a:p>
            <a:pPr marL="88900" indent="-88900" algn="l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2100" y="3981152"/>
            <a:ext cx="1441400" cy="253901"/>
          </a:xfrm>
          <a:prstGeom prst="roundRect">
            <a:avLst>
              <a:gd name="adj" fmla="val 20008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43601" y="4031903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236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+ Spring Boot + PostgreSQL + AWS 기반 클라우드 네이티브 아키텍처입니다.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42B88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6710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701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24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B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024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v3.4 / MIT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701" y="2780407"/>
            <a:ext cx="1199108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024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B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240" y="3059609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구조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7910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6DB33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5361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65611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5715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D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715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v3.2 / Apache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5611" y="2780407"/>
            <a:ext cx="1199108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5715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D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57150" y="3059609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구조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820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33679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6052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2520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6406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6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406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v16 / RDBMS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72520" y="2780407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6406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6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4060" y="3059609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 / Cache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1729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6743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79430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7097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7097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79430" y="2780407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7097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RDS/S3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70970" y="3059609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Native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08639" y="1682353"/>
            <a:ext cx="1554510" cy="3207246"/>
          </a:xfrm>
          <a:prstGeom prst="roundRect">
            <a:avLst>
              <a:gd name="adj" fmla="val 6536"/>
            </a:avLst>
          </a:prstGeom>
          <a:solidFill>
            <a:srgbClr val="FF6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74349" y="1860054"/>
            <a:ext cx="1223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6340" y="2164854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477880" y="2266355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77880" y="2444055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v3.11 / PSF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86340" y="2780407"/>
            <a:ext cx="1199108" cy="514052"/>
          </a:xfrm>
          <a:prstGeom prst="roundRect">
            <a:avLst>
              <a:gd name="adj" fmla="val 9882"/>
            </a:avLst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77880" y="2881908"/>
            <a:ext cx="101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77880" y="3059609"/>
            <a:ext cx="101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v2.15 / Apache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김철수를 중심으로 8명의 전문가가 프로젝트를 수행합니다.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33800" y="1225153"/>
            <a:ext cx="1676251" cy="625376"/>
          </a:xfrm>
          <a:prstGeom prst="roundRect">
            <a:avLst>
              <a:gd name="adj" fmla="val 1218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24251" y="1352104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발주PM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24251" y="1523554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 부장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59350" y="2002929"/>
            <a:ext cx="25301" cy="1524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07594" y="2155329"/>
            <a:ext cx="1928664" cy="806351"/>
          </a:xfrm>
          <a:prstGeom prst="roundRect">
            <a:avLst>
              <a:gd name="adj" fmla="val 94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07594" y="2164854"/>
            <a:ext cx="1928664" cy="0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26732" y="2155329"/>
            <a:ext cx="0" cy="806351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7594" y="2952155"/>
            <a:ext cx="1928664" cy="0"/>
          </a:xfrm>
          <a:prstGeom prst="line">
            <a:avLst/>
          </a:prstGeom>
          <a:noFill/>
          <a:ln w="19050">
            <a:solidFill>
              <a:srgbClr val="C51F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6169" y="2155329"/>
            <a:ext cx="0" cy="806351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3433" y="2301329"/>
            <a:ext cx="14750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53433" y="2444204"/>
            <a:ext cx="14750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 차장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3433" y="2644229"/>
            <a:ext cx="14750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총괄, 품질/위험 관리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9350" y="3088630"/>
            <a:ext cx="25301" cy="1524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02197" y="3241030"/>
            <a:ext cx="1301502" cy="295275"/>
          </a:xfrm>
          <a:prstGeom prst="roundRect">
            <a:avLst>
              <a:gd name="adj" fmla="val 17204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44630" y="3317230"/>
            <a:ext cx="1016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2197" y="3536305"/>
            <a:ext cx="1301502" cy="4697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03698" y="3637806"/>
            <a:ext cx="10985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6244" y="3675906"/>
            <a:ext cx="9134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이영희 과장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8499" y="3241030"/>
            <a:ext cx="1739801" cy="323850"/>
          </a:xfrm>
          <a:prstGeom prst="roundRect">
            <a:avLst>
              <a:gd name="adj" fmla="val 1568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46549" y="3317230"/>
            <a:ext cx="14637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8499" y="3564880"/>
            <a:ext cx="1739801" cy="10031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10000" y="3666381"/>
            <a:ext cx="1536799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98163" y="3704481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박준형 책임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0" y="3933081"/>
            <a:ext cx="1536799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98163" y="3971181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최수진 선임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10000" y="4199781"/>
            <a:ext cx="1536799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98163" y="4237881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임동현/강서연/윤재호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53100" y="3241030"/>
            <a:ext cx="1288703" cy="323850"/>
          </a:xfrm>
          <a:prstGeom prst="roundRect">
            <a:avLst>
              <a:gd name="adj" fmla="val 1568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95661" y="3317230"/>
            <a:ext cx="10035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53100" y="3564880"/>
            <a:ext cx="1288703" cy="7364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54601" y="3666381"/>
            <a:ext cx="1085701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47275" y="3704481"/>
            <a:ext cx="9003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오현우 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54601" y="3933081"/>
            <a:ext cx="1085701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47275" y="3971181"/>
            <a:ext cx="9003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한미영 대리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78M/M 투입으로 PM/AA 주도의 12개월 프로젝트를 수행합니다.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77553"/>
            <a:ext cx="3356521" cy="441127"/>
          </a:xfrm>
          <a:prstGeom prst="roundRect">
            <a:avLst>
              <a:gd name="adj" fmla="val 5758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479054"/>
            <a:ext cx="30092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78 M/M | Peak 6-9월 (최대 8명)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1267" y="3064818"/>
            <a:ext cx="1727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투입 인력 현황 차트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49797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54448" y="4541044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(12M/M)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57699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2350" y="4541044"/>
            <a:ext cx="6837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(10M/M)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7472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2123" y="4526756"/>
            <a:ext cx="7770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(32M/M)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08774" y="451098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3425" y="4541044"/>
            <a:ext cx="1000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DBA/QA (24M/M)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7950" y="2021830"/>
          <a:ext cx="7620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단계, 6개 마일스톤으로 12개월 프로젝트를 체계적으로 관리합니다.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650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71699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06749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1798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76848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1898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46947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81997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046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2096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87146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22195" y="1250603"/>
            <a:ext cx="647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1622078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1580852"/>
            <a:ext cx="634603" cy="253901"/>
          </a:xfrm>
          <a:prstGeom prst="roundRect">
            <a:avLst>
              <a:gd name="adj" fmla="val 2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81274" y="1636365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1000" y="1977628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77603" y="1936403"/>
            <a:ext cx="1269355" cy="253901"/>
          </a:xfrm>
          <a:prstGeom prst="roundRect">
            <a:avLst>
              <a:gd name="adj" fmla="val 2000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33179" y="1991916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1000" y="233317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48000" y="2291953"/>
            <a:ext cx="1269355" cy="253901"/>
          </a:xfrm>
          <a:prstGeom prst="roundRect">
            <a:avLst>
              <a:gd name="adj" fmla="val 20008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3575" y="2347466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268872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17355" y="2647504"/>
            <a:ext cx="2539603" cy="253901"/>
          </a:xfrm>
          <a:prstGeom prst="roundRect">
            <a:avLst>
              <a:gd name="adj" fmla="val 20008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79852" y="2703016"/>
            <a:ext cx="218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1000" y="3044279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003054"/>
            <a:ext cx="952500" cy="253901"/>
          </a:xfrm>
          <a:prstGeom prst="roundRect">
            <a:avLst>
              <a:gd name="adj" fmla="val 20008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55222" y="3058567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1000" y="3399830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10500" y="3358604"/>
            <a:ext cx="952500" cy="253901"/>
          </a:xfrm>
          <a:prstGeom prst="roundRect">
            <a:avLst>
              <a:gd name="adj" fmla="val 20008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07722" y="3414117"/>
            <a:ext cx="1612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1000" y="3841105"/>
            <a:ext cx="8382000" cy="790575"/>
          </a:xfrm>
          <a:prstGeom prst="roundRect">
            <a:avLst>
              <a:gd name="adj" fmla="val 128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13322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7645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착수보고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7645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74529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088852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요구사항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088852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03/31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35736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650059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설계완료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0059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05/31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96943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11266" y="4222105"/>
            <a:ext cx="5870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개발완료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11266" y="4364980"/>
            <a:ext cx="587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09/30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07399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73488" y="4222105"/>
            <a:ext cx="483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테스트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73488" y="4364980"/>
            <a:ext cx="483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16355" y="3961942"/>
            <a:ext cx="215526" cy="215526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234211" y="4222105"/>
            <a:ext cx="3798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오픈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34211" y="4364980"/>
            <a:ext cx="3798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12/01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핵심 산출물을 단계별로 작성하고 품질을 관리합니다.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986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1701254"/>
            <a:ext cx="1554510" cy="16049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501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1551" y="1802755"/>
            <a:ext cx="0" cy="624780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102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102" y="2107257"/>
            <a:ext cx="767358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302" y="2132558"/>
            <a:ext cx="627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501" y="250373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1551" y="2503736"/>
            <a:ext cx="0" cy="624780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102" y="260523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수행계획서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2102" y="2808238"/>
            <a:ext cx="767358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8302" y="2833539"/>
            <a:ext cx="627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87910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7589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7910" y="1701254"/>
            <a:ext cx="1554510" cy="16049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89411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208461" y="1802755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2901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29011" y="2107257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05211" y="2132558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89411" y="250373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208461" y="2503736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9011" y="260523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현행시스템분석서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29011" y="2808238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405211" y="2833539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94820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8280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820" y="1701254"/>
            <a:ext cx="1554510" cy="230594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96320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915370" y="1802755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3592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아키텍처설계서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35921" y="2107257"/>
            <a:ext cx="795635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112121" y="2132558"/>
            <a:ext cx="656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→ 발주PM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96320" y="250373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915370" y="2503736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35921" y="260523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DB설계서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35921" y="2808238"/>
            <a:ext cx="869007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12121" y="2833539"/>
            <a:ext cx="7309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→ 발주PM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96320" y="3204716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3915370" y="3204716"/>
            <a:ext cx="0" cy="624780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35921" y="3306217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35921" y="3509218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112121" y="3534519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01729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58971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01729" y="1701254"/>
            <a:ext cx="1554510" cy="90398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603230" y="1802755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622280" y="1802755"/>
            <a:ext cx="0" cy="624780"/>
          </a:xfrm>
          <a:prstGeom prst="line">
            <a:avLst/>
          </a:prstGeom>
          <a:noFill/>
          <a:ln w="38100">
            <a:solidFill>
              <a:srgbClr val="E9B8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4283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42831" y="2107257"/>
            <a:ext cx="73922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819031" y="2132558"/>
            <a:ext cx="5985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 → PL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08639" y="1326803"/>
            <a:ext cx="1554510" cy="374452"/>
          </a:xfrm>
          <a:prstGeom prst="roundRect">
            <a:avLst>
              <a:gd name="adj" fmla="val 2035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296625" y="1428304"/>
            <a:ext cx="1378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08639" y="1701254"/>
            <a:ext cx="1554510" cy="229016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310140" y="1802755"/>
            <a:ext cx="1351508" cy="609005"/>
          </a:xfrm>
          <a:prstGeom prst="roundRect">
            <a:avLst>
              <a:gd name="adj" fmla="val 83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7329190" y="1802755"/>
            <a:ext cx="0" cy="609005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49741" y="1904256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통합테스트결과서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49741" y="2120057"/>
            <a:ext cx="603796" cy="164902"/>
          </a:xfrm>
          <a:prstGeom prst="roundRect">
            <a:avLst>
              <a:gd name="adj" fmla="val 77015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525941" y="2145357"/>
            <a:ext cx="460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→ PM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10140" y="2487960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7329190" y="2487960"/>
            <a:ext cx="0" cy="62478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49741" y="2589461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운영자매뉴얼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449741" y="2792462"/>
            <a:ext cx="786259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7525941" y="2817763"/>
            <a:ext cx="6465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310140" y="3188940"/>
            <a:ext cx="1351508" cy="62478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7329190" y="3188940"/>
            <a:ext cx="0" cy="62478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49741" y="3290441"/>
            <a:ext cx="113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완료보고서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49741" y="3493443"/>
            <a:ext cx="767358" cy="193477"/>
          </a:xfrm>
          <a:prstGeom prst="roundRect">
            <a:avLst>
              <a:gd name="adj" fmla="val 65641"/>
            </a:avLst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525941" y="3518743"/>
            <a:ext cx="627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리뷰, 정적 분석, 테스트로 품질을 확보하고 4대 보안 영역을 관리합니다.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01353"/>
            <a:ext cx="3937099" cy="507802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C:/project/docs/workspace/slides/images/icon-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50" y="1402854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6651" y="1440954"/>
            <a:ext cx="110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보증 활동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7950" y="1809155"/>
            <a:ext cx="3937099" cy="29453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34901" y="1936105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36402" y="2037606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검토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6402" y="2278856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 담당자 검토 및 승인 (단계별)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4901" y="2608957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6402" y="2710458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6402" y="2951708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 필수, 2인 이상 승인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4901" y="3281809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36402" y="3383310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분석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6402" y="3624560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품질 게이트 적용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4901" y="3954661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36402" y="4056162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6402" y="4297412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기반 통합/인수 테스트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98950" y="1301353"/>
            <a:ext cx="3937099" cy="507802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C:/project/docs/workspace/slides/images/icon-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350" y="1402854"/>
            <a:ext cx="304800" cy="304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57651" y="1440954"/>
            <a:ext cx="110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관리 계획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698950" y="1809155"/>
            <a:ext cx="3937099" cy="294530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825901" y="1936105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927402" y="2037606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인적 보안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27402" y="2278856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보안서약서 징구, 보안 교육 실시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825901" y="2608957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927402" y="2710458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보안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927402" y="2951708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통제구역 출입 관리, 반입 장비 통제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825901" y="3281809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927402" y="3383310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보안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927402" y="3624560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 보안약점 진단, DB 암호화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825901" y="3954661"/>
            <a:ext cx="3683198" cy="596652"/>
          </a:xfrm>
          <a:prstGeom prst="roundRect">
            <a:avLst>
              <a:gd name="adj" fmla="val 12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927402" y="4056162"/>
            <a:ext cx="3549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보안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927402" y="4297412"/>
            <a:ext cx="3549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백신, 화면보호기, DLP 솔루션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5대 위험을 사전 식별하고 체계적인 대응 방안을 수립합니다.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8140" y="125060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매트릭스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479203"/>
            <a:ext cx="1015901" cy="1015901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96901" y="1479203"/>
            <a:ext cx="1015901" cy="1015901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33401" y="181570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2495104"/>
            <a:ext cx="1015901" cy="1015901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96901" y="2495104"/>
            <a:ext cx="1015901" cy="1015901"/>
          </a:xfrm>
          <a:prstGeom prst="rect">
            <a:avLst/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8140" y="3561904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발생확률 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70150" y="1250603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93963" y="1250603"/>
            <a:ext cx="0" cy="631627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726" y="1326803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변경 (상/상)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4726" y="1523554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 통해 통제, 영향도 분석 필수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4726" y="1691729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PM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870150" y="1945630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93963" y="1945630"/>
            <a:ext cx="0" cy="631627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726" y="2021830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지연 (상/중)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44726" y="2218581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진척관리, Critical Path 모니터링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4726" y="2386757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PM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70150" y="2640657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893963" y="2640657"/>
            <a:ext cx="0" cy="631627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726" y="2716857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마이그레이션 (상/중)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44726" y="2913608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검증, 롤백 계획 수립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44726" y="3081784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DBA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870150" y="3335685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893963" y="3335685"/>
            <a:ext cx="0" cy="631627"/>
          </a:xfrm>
          <a:prstGeom prst="line">
            <a:avLst/>
          </a:prstGeom>
          <a:noFill/>
          <a:ln w="47625">
            <a:solidFill>
              <a:srgbClr val="F1C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44726" y="3411885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난제 (중/중)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44726" y="3608636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선행, 외부 전문가 자문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44726" y="3776811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AA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870150" y="4030712"/>
            <a:ext cx="5892850" cy="631627"/>
          </a:xfrm>
          <a:prstGeom prst="roundRect">
            <a:avLst>
              <a:gd name="adj" fmla="val 120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893963" y="4030712"/>
            <a:ext cx="0" cy="631627"/>
          </a:xfrm>
          <a:prstGeom prst="line">
            <a:avLst/>
          </a:prstGeom>
          <a:noFill/>
          <a:ln w="47625">
            <a:solidFill>
              <a:srgbClr val="F1C4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4726" y="4106912"/>
            <a:ext cx="570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이탈 (상/하)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44726" y="4303663"/>
            <a:ext cx="5703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인력 풀 확보, 기술 문서화 강화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44726" y="4471839"/>
            <a:ext cx="5703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담당: PM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스탠드업부터 월간보고까지 체계적인 보고·회의 체계를 운영합니다.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533227"/>
            <a:ext cx="2031950" cy="0"/>
          </a:xfrm>
          <a:prstGeom prst="line">
            <a:avLst/>
          </a:prstGeom>
          <a:noFill/>
          <a:ln w="57150">
            <a:solidFill>
              <a:srgbClr val="4B6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844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4419" y="2120503"/>
            <a:ext cx="918865" cy="272951"/>
          </a:xfrm>
          <a:prstGeom prst="roundRect">
            <a:avLst>
              <a:gd name="adj" fmla="val 55834"/>
            </a:avLst>
          </a:prstGeom>
          <a:solidFill>
            <a:srgbClr val="4B658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10678" y="2171254"/>
            <a:ext cx="626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09:30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844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844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현황, 블로커 공유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9901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39901" y="1533227"/>
            <a:ext cx="2031950" cy="0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6795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주간보고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5258" y="2120503"/>
            <a:ext cx="1081088" cy="272951"/>
          </a:xfrm>
          <a:prstGeom prst="roundRect">
            <a:avLst>
              <a:gd name="adj" fmla="val 55834"/>
            </a:avLst>
          </a:prstGeom>
          <a:solidFill>
            <a:srgbClr val="00245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59895" y="2171254"/>
            <a:ext cx="79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금 14:00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6795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발주PM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26795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실적/계획, 이슈 공유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1851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1851" y="1533227"/>
            <a:ext cx="2031950" cy="0"/>
          </a:xfrm>
          <a:prstGeom prst="line">
            <a:avLst/>
          </a:prstGeom>
          <a:noFill/>
          <a:ln w="57150">
            <a:solidFill>
              <a:srgbClr val="E9B8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8745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 리뷰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0340" y="2120503"/>
            <a:ext cx="974973" cy="272951"/>
          </a:xfrm>
          <a:prstGeom prst="roundRect">
            <a:avLst>
              <a:gd name="adj" fmla="val 55834"/>
            </a:avLst>
          </a:prstGeom>
          <a:solidFill>
            <a:srgbClr val="E9B86E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46038" y="2171254"/>
            <a:ext cx="6835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격주 금요일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8745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8745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데모, 피드백 수렴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03802" y="1504652"/>
            <a:ext cx="2031950" cy="249540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603802" y="1533227"/>
            <a:ext cx="2031950" cy="0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0695" y="1764953"/>
            <a:ext cx="1658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월간보고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59241" y="2120503"/>
            <a:ext cx="721072" cy="272951"/>
          </a:xfrm>
          <a:prstGeom prst="roundRect">
            <a:avLst>
              <a:gd name="adj" fmla="val 55834"/>
            </a:avLst>
          </a:prstGeom>
          <a:solidFill>
            <a:srgbClr val="C51F2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07478" y="2171254"/>
            <a:ext cx="4245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90695" y="2520404"/>
            <a:ext cx="1658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90695" y="2768054"/>
            <a:ext cx="1658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 점검, 리스크 보고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45명 대상 3종 교육을 오픈 3주 전부터 체계적으로 실시합니다.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377553"/>
            <a:ext cx="2540050" cy="1272778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377553"/>
            <a:ext cx="0" cy="1272778"/>
          </a:xfrm>
          <a:prstGeom prst="line">
            <a:avLst/>
          </a:prstGeom>
          <a:noFill/>
          <a:ln w="57150">
            <a:solidFill>
              <a:srgbClr val="4B6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251" y="1580704"/>
            <a:ext cx="21181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교육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251" y="1920329"/>
            <a:ext cx="495449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5201" y="1971080"/>
            <a:ext cx="246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6100" y="1920329"/>
            <a:ext cx="838200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43050" y="1971080"/>
            <a:ext cx="595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2주 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251" y="2275731"/>
            <a:ext cx="2118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주요 기능 및 사용법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01901" y="1377553"/>
            <a:ext cx="2540050" cy="1272778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30476" y="1377553"/>
            <a:ext cx="0" cy="1272778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2201" y="1580704"/>
            <a:ext cx="21181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교육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2201" y="1920329"/>
            <a:ext cx="431899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89152" y="1971080"/>
            <a:ext cx="1815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46500" y="1920329"/>
            <a:ext cx="838200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73451" y="1971080"/>
            <a:ext cx="595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3주 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2201" y="2275731"/>
            <a:ext cx="2118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구성, 백업/복구, 장애대응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5851" y="1377553"/>
            <a:ext cx="2540050" cy="1272778"/>
          </a:xfrm>
          <a:prstGeom prst="roundRect">
            <a:avLst>
              <a:gd name="adj" fmla="val 7983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124426" y="1377553"/>
            <a:ext cx="0" cy="1272778"/>
          </a:xfrm>
          <a:prstGeom prst="line">
            <a:avLst/>
          </a:prstGeom>
          <a:noFill/>
          <a:ln w="57150">
            <a:solidFill>
              <a:srgbClr val="E9B8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6152" y="1580704"/>
            <a:ext cx="21181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교육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6152" y="1920329"/>
            <a:ext cx="495449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83102" y="1971080"/>
            <a:ext cx="246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04000" y="1920329"/>
            <a:ext cx="838200" cy="253901"/>
          </a:xfrm>
          <a:prstGeom prst="roundRect">
            <a:avLst>
              <a:gd name="adj" fmla="val 6002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30951" y="1971080"/>
            <a:ext cx="595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1주 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6152" y="2275731"/>
            <a:ext cx="2118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관리, 리포트 활용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950" y="2853482"/>
            <a:ext cx="8128099" cy="1291977"/>
          </a:xfrm>
          <a:prstGeom prst="roundRect">
            <a:avLst>
              <a:gd name="adj" fmla="val 1179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1851" y="3107382"/>
            <a:ext cx="777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기술이전 계획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1851" y="3497907"/>
            <a:ext cx="2324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대상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1851" y="3720108"/>
            <a:ext cx="2324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소스코드, 설계 산출물, 운영 매뉴얼 일체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1410" y="3497907"/>
            <a:ext cx="2173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방법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1410" y="3720108"/>
            <a:ext cx="2173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1:1 멘토링 및 인계인수서 작성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32884" y="3497907"/>
            <a:ext cx="1511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기간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32884" y="3720108"/>
            <a:ext cx="1511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후 3개월 안정화 지원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8890"/>
            <a:ext cx="9144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253901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55427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착수 시 4가지 환경/자원 협조를 요청드립니다.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002452">
              <a:alpha val="5000"/>
            </a:srgbClr>
          </a:solidFill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C:/project/docs/workspace/slides/images/icon-request-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51" y="1726853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275" y="231100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0151" y="2701528"/>
            <a:ext cx="1587550" cy="5587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룸 (10석)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네트워크(VPN) 접근권한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출입증 발급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0151" y="3412629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002452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43765" y="346337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39901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4B6580">
              <a:alpha val="5000"/>
            </a:srgbClr>
          </a:solidFill>
          <a:ln w="19050">
            <a:solidFill>
              <a:srgbClr val="4B658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C:/project/docs/workspace/slides/images/icon-request-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202" y="1726853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6226" y="231100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62101" y="2701528"/>
            <a:ext cx="1587550" cy="3555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테스트용 샘플 데이터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비식별화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762101" y="3209479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4B658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875715" y="326022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설계/개발 단계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1851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E9B86E">
              <a:alpha val="5000"/>
            </a:srgbClr>
          </a:solidFill>
          <a:ln w="19050">
            <a:solidFill>
              <a:srgbClr val="E9B86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C:/project/docs/workspace/slides/images/icon-request-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152" y="1726853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78176" y="231100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794052" y="2701528"/>
            <a:ext cx="1587550" cy="3555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계정 및 권한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개발/스테이징/운영 환경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94052" y="3209479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E9B86E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907665" y="326022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B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603802" y="1504652"/>
            <a:ext cx="2031950" cy="3257848"/>
          </a:xfrm>
          <a:prstGeom prst="roundRect">
            <a:avLst>
              <a:gd name="adj" fmla="val 7500"/>
            </a:avLst>
          </a:prstGeom>
          <a:solidFill>
            <a:srgbClr val="2E7D32">
              <a:alpha val="5000"/>
            </a:srgbClr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C:/project/docs/workspace/slides/images/icon-request-particip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102" y="1726853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0126" y="2311003"/>
            <a:ext cx="16193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26002" y="2701528"/>
            <a:ext cx="1587550" cy="3555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인터뷰 지원</a:t>
            </a:r>
            <a:endParaRPr lang="en-US" sz="90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테스트 참여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26002" y="3209479"/>
            <a:ext cx="1587550" cy="253901"/>
          </a:xfrm>
          <a:prstGeom prst="roundRect">
            <a:avLst>
              <a:gd name="adj" fmla="val 60023"/>
            </a:avLst>
          </a:prstGeom>
          <a:solidFill>
            <a:srgbClr val="2E7D32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939616" y="3260229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단계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7880" y="1622375"/>
            <a:ext cx="3368091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3901" y="2813000"/>
            <a:ext cx="1015901" cy="50750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87880" y="3244751"/>
            <a:ext cx="33680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PM팀 I 김철수 차장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1056</Words>
  <Application>Microsoft Office PowerPoint</Application>
  <PresentationFormat>화면 슬라이드 쇼(16:9)</PresentationFormat>
  <Paragraphs>330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(주)테크솔루션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프로젝트 수행계획서</dc:subject>
  <dc:creator>테크솔루션 PM팀</dc:creator>
  <cp:lastModifiedBy>장종익</cp:lastModifiedBy>
  <cp:revision>2</cp:revision>
  <dcterms:created xsi:type="dcterms:W3CDTF">2026-01-05T09:48:38Z</dcterms:created>
  <dcterms:modified xsi:type="dcterms:W3CDTF">2026-01-05T09:53:14Z</dcterms:modified>
</cp:coreProperties>
</file>