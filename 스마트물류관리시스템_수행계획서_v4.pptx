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7"/>
  </p:notesMasterIdLst>
  <p:handoutMasterIdLst>
    <p:handoutMasterId r:id="rId8"/>
  </p:handoutMasterIdLst>
  <p:sldIdLst>
    <p:sldId id="269" r:id="rId2"/>
    <p:sldId id="274" r:id="rId3"/>
    <p:sldId id="275" r:id="rId4"/>
    <p:sldId id="282" r:id="rId5"/>
    <p:sldId id="281" r:id="rId6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</p:sldIdLst>
  <p:sldSz cx="9907200" cy="6858000" type="A4"/>
  <p:notesSz cx="6735763" cy="9866313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452"/>
    <a:srgbClr val="8BA2BB"/>
    <a:srgbClr val="FBEEEA"/>
    <a:srgbClr val="F6EEE0"/>
    <a:srgbClr val="00734A"/>
    <a:srgbClr val="D55633"/>
    <a:srgbClr val="B6B6B6"/>
    <a:srgbClr val="B7D0D4"/>
    <a:srgbClr val="757575"/>
    <a:srgbClr val="E9B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6323" autoAdjust="0"/>
  </p:normalViewPr>
  <p:slideViewPr>
    <p:cSldViewPr snapToGrid="0">
      <p:cViewPr varScale="1">
        <p:scale>
          <a:sx n="251" d="100"/>
          <a:sy n="251" d="100"/>
        </p:scale>
        <p:origin x="2334" y="210"/>
      </p:cViewPr>
      <p:guideLst/>
    </p:cSldViewPr>
  </p:slideViewPr>
  <p:outlineViewPr>
    <p:cViewPr>
      <p:scale>
        <a:sx n="33" d="100"/>
        <a:sy n="33" d="100"/>
      </p:scale>
      <p:origin x="0" y="-231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690"/>
    </p:cViewPr>
  </p:sorterViewPr>
  <p:notesViewPr>
    <p:cSldViewPr snapToGrid="0">
      <p:cViewPr varScale="1">
        <p:scale>
          <a:sx n="183" d="100"/>
          <a:sy n="183" d="100"/>
        </p:scale>
        <p:origin x="7602" y="15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626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D2E4BD13-F898-49E6-A39C-3EB0AB04F83F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626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E2ABDA5-4518-4283-841F-7522E9446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867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r">
              <a:defRPr sz="1300"/>
            </a:lvl1pPr>
          </a:lstStyle>
          <a:p>
            <a:fld id="{C4F66D35-9081-4BC0-9692-D9FCDB08226D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5" tIns="47427" rIns="94855" bIns="4742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4855" tIns="47427" rIns="94855" bIns="47427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r">
              <a:defRPr sz="1300"/>
            </a:lvl1pPr>
          </a:lstStyle>
          <a:p>
            <a:fld id="{EC363959-1759-4AF2-BCD1-A82443016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58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05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178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028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855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7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3.bin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4.bin"/><Relationship Id="rId7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5.bin"/><Relationship Id="rId7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6.bin"/><Relationship Id="rId7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200496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02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3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 15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White_Big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35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74455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44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857551" y="2276475"/>
            <a:ext cx="632205" cy="3242876"/>
          </a:xfrm>
        </p:spPr>
        <p:txBody>
          <a:bodyPr>
            <a:noAutofit/>
          </a:bodyPr>
          <a:lstStyle>
            <a:lvl1pPr marL="0" indent="0" algn="r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</a:t>
            </a:r>
          </a:p>
          <a:p>
            <a:pPr lvl="0"/>
            <a:r>
              <a:rPr lang="en-US" altLang="ko-KR" dirty="0" smtClean="0"/>
              <a:t>02</a:t>
            </a:r>
          </a:p>
          <a:p>
            <a:pPr lvl="0"/>
            <a:r>
              <a:rPr lang="en-US" altLang="ko-KR" dirty="0" smtClean="0"/>
              <a:t>03</a:t>
            </a:r>
          </a:p>
          <a:p>
            <a:pPr lvl="0"/>
            <a:r>
              <a:rPr lang="en-US" altLang="ko-KR" dirty="0" smtClean="0"/>
              <a:t>04</a:t>
            </a:r>
          </a:p>
          <a:p>
            <a:pPr lvl="0"/>
            <a:r>
              <a:rPr lang="en-US" altLang="ko-KR" dirty="0" smtClean="0"/>
              <a:t>05</a:t>
            </a:r>
          </a:p>
        </p:txBody>
      </p:sp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0" y="0"/>
            <a:ext cx="2190750" cy="6858000"/>
          </a:xfrm>
          <a:prstGeom prst="rect">
            <a:avLst/>
          </a:prstGeom>
        </p:spPr>
      </p:pic>
      <p:sp>
        <p:nvSpPr>
          <p:cNvPr id="2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 smtClean="0">
                <a:solidFill>
                  <a:srgbClr val="002452"/>
                </a:solidFill>
              </a:rPr>
              <a:t>Contents</a:t>
            </a:r>
            <a:endParaRPr lang="ko-KR" altLang="en-US" dirty="0" smtClean="0">
              <a:solidFill>
                <a:srgbClr val="002452"/>
              </a:solidFill>
            </a:endParaRPr>
          </a:p>
        </p:txBody>
      </p:sp>
      <p:sp>
        <p:nvSpPr>
          <p:cNvPr id="17" name="텍스트 개체 틀 26"/>
          <p:cNvSpPr>
            <a:spLocks noGrp="1"/>
          </p:cNvSpPr>
          <p:nvPr>
            <p:ph type="body" sz="quarter" idx="14" hasCustomPrompt="1"/>
          </p:nvPr>
        </p:nvSpPr>
        <p:spPr>
          <a:xfrm>
            <a:off x="6772319" y="2284710"/>
            <a:ext cx="938297" cy="3127547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+mj-lt"/>
              <a:buNone/>
              <a:defRPr sz="1600" baseline="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endParaRPr lang="ko-KR" altLang="en-US" dirty="0"/>
          </a:p>
        </p:txBody>
      </p:sp>
      <p:sp>
        <p:nvSpPr>
          <p:cNvPr id="20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1505513" y="2276475"/>
            <a:ext cx="3447487" cy="3242876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8736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35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  <p15:guide id="11" orient="horz" pos="143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87825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93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8"/>
          </p:nvPr>
        </p:nvSpPr>
        <p:spPr>
          <a:xfrm>
            <a:off x="270064" y="1431130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9741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 userDrawn="1">
          <p15:clr>
            <a:srgbClr val="FBAE40"/>
          </p15:clr>
        </p15:guide>
        <p15:guide id="3" orient="horz" pos="4065" userDrawn="1">
          <p15:clr>
            <a:srgbClr val="F26B43"/>
          </p15:clr>
        </p15:guide>
        <p15:guide id="4" orient="horz" pos="822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4269" userDrawn="1">
          <p15:clr>
            <a:srgbClr val="FBAE40"/>
          </p15:clr>
        </p15:guide>
        <p15:guide id="7" orient="horz" pos="890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, Body삭제 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27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11765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4294967295" pos="6068">
          <p15:clr>
            <a:srgbClr val="FBAE40"/>
          </p15:clr>
        </p15:guide>
        <p15:guide id="4294967295" pos="172">
          <p15:clr>
            <a:srgbClr val="FBAE40"/>
          </p15:clr>
        </p15:guide>
        <p15:guide id="4294967295" orient="horz" pos="4065">
          <p15:clr>
            <a:srgbClr val="F26B43"/>
          </p15:clr>
        </p15:guide>
        <p15:guide id="4294967295" orient="horz" pos="822">
          <p15:clr>
            <a:srgbClr val="F26B43"/>
          </p15:clr>
        </p15:guide>
        <p15:guide id="4294967295" orient="horz" pos="346">
          <p15:clr>
            <a:srgbClr val="F26B43"/>
          </p15:clr>
        </p15:guide>
        <p15:guide id="4294967295" orient="horz" pos="4269">
          <p15:clr>
            <a:srgbClr val="FBAE40"/>
          </p15:clr>
        </p15:guide>
        <p15:guide id="4294967295" orient="horz" pos="890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 (Action Title 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2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34345"/>
            <a:ext cx="9357781" cy="443198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270064" y="931201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 smtClean="0"/>
              <a:t>Action Title </a:t>
            </a:r>
            <a:r>
              <a:rPr lang="ko-KR" altLang="en-US" dirty="0" smtClean="0"/>
              <a:t>미사용 내지양식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295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1139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1207">
          <p15:clr>
            <a:srgbClr val="F26B43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696537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79" name="think-cell 슬라이드" r:id="rId9" imgW="381" imgH="381" progId="TCLayout.ActiveDocument.1">
                  <p:embed/>
                </p:oleObj>
              </mc:Choice>
              <mc:Fallback>
                <p:oleObj name="think-cell 슬라이드" r:id="rId9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9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B6B6B6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_OOOO</a:t>
            </a:r>
            <a:r>
              <a:rPr lang="ko-KR" altLang="en-US" smtClean="0"/>
              <a:t>팀 </a:t>
            </a:r>
            <a:r>
              <a:rPr lang="en-US" altLang="ko-KR" smtClean="0"/>
              <a:t>OOO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61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8" r:id="rId2"/>
    <p:sldLayoutId id="2147483719" r:id="rId3"/>
    <p:sldLayoutId id="2147483730" r:id="rId4"/>
    <p:sldLayoutId id="2147483729" r:id="rId5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1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tags" Target="../tags/tag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7.bin"/><Relationship Id="rId6" Type="http://schemas.openxmlformats.org/officeDocument/2006/relationships/image" Target="../media/image1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tags" Target="../tags/tag1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Relationship Id="rId5" Type="http://schemas.openxmlformats.org/officeDocument/2006/relationships/oleObject" Target="../embeddings/oleObject8.bin"/><Relationship Id="rId6" Type="http://schemas.openxmlformats.org/officeDocument/2006/relationships/image" Target="../media/image1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959965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05" name="think-cell 슬라이드" r:id="rId5" imgW="381" imgH="381" progId="TCLayout.ActiveDocument.1">
                  <p:embed/>
                </p:oleObj>
              </mc:Choice>
              <mc:Fallback>
                <p:oleObj name="think-cell 슬라이드" r:id="rId5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3" y="2276475"/>
            <a:ext cx="5398943" cy="1105080"/>
          </a:xfrm>
        </p:spPr>
        <p:txBody>
          <a:bodyPr vert="horz"/>
          <a:lstStyle/>
          <a:p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108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07052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545" name="think-cell 슬라이드" r:id="rId5" imgW="381" imgH="381" progId="TCLayout.ActiveDocument.1">
                  <p:embed/>
                </p:oleObj>
              </mc:Choice>
              <mc:Fallback>
                <p:oleObj name="think-cell 슬라이드" r:id="rId5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983081" y="2388121"/>
            <a:ext cx="6641131" cy="4513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01</a:t>
            </a:r>
          </a:p>
          <a:p>
            <a:r>
              <a:rPr lang="en-US" altLang="ko-KR" dirty="0" smtClean="0"/>
              <a:t>02</a:t>
            </a:r>
          </a:p>
          <a:p>
            <a:r>
              <a:rPr lang="en-US" altLang="ko-KR" dirty="0" smtClean="0"/>
              <a:t>03</a:t>
            </a:r>
          </a:p>
          <a:p>
            <a:r>
              <a:rPr lang="en-US" altLang="ko-KR" dirty="0" smtClean="0"/>
              <a:t>04</a:t>
            </a:r>
          </a:p>
          <a:p>
            <a:r>
              <a:rPr lang="en-US" altLang="ko-KR" dirty="0" smtClean="0"/>
              <a:t>05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01 – 05</a:t>
            </a:r>
          </a:p>
          <a:p>
            <a:r>
              <a:rPr lang="en-US" altLang="ko-KR" dirty="0" smtClean="0"/>
              <a:t>01 – 05</a:t>
            </a:r>
          </a:p>
          <a:p>
            <a:r>
              <a:rPr lang="en-US" altLang="ko-KR" dirty="0" smtClean="0"/>
              <a:t>01 – 05</a:t>
            </a:r>
          </a:p>
          <a:p>
            <a:r>
              <a:rPr lang="en-US" altLang="ko-KR" dirty="0" smtClean="0"/>
              <a:t>01 – 05</a:t>
            </a:r>
          </a:p>
          <a:p>
            <a:r>
              <a:rPr lang="en-US" altLang="ko-KR" dirty="0" smtClean="0"/>
              <a:t>01 – 05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chemeClr val="bg1"/>
                </a:solidFill>
              </a:rPr>
              <a:t>텍스트를 입력하세요</a:t>
            </a:r>
            <a:endParaRPr lang="en-US" altLang="ko-KR" dirty="0" smtClean="0">
              <a:solidFill>
                <a:schemeClr val="bg1"/>
              </a:solidFill>
            </a:endParaRPr>
          </a:p>
          <a:p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791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309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950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099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2452"/>
                </a:solidFill>
              </a:defRPr>
            </a:pPr>
            <a:r>
              <a:t>스마트 물류관리 시스템 구축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t>01</a:t>
            </a:r>
          </a:p>
          <a:p>
            <a:pPr/>
            <a:r>
              <a:t>02</a:t>
            </a:r>
          </a:p>
          <a:p>
            <a:pPr/>
            <a:r>
              <a:t>03</a:t>
            </a:r>
          </a:p>
          <a:p>
            <a:pPr/>
            <a:r>
              <a:t>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01</a:t>
            </a:r>
          </a:p>
          <a:p>
            <a:pPr/>
            <a:r>
              <a:t>02</a:t>
            </a:r>
          </a:p>
          <a:p>
            <a:pPr/>
            <a:r>
              <a:t>03</a:t>
            </a:r>
          </a:p>
          <a:p>
            <a:pPr/>
            <a:r>
              <a:t>04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/>
            <a:r>
              <a:t>01</a:t>
            </a:r>
          </a:p>
          <a:p>
            <a:pPr/>
            <a:r>
              <a:t>02</a:t>
            </a:r>
          </a:p>
          <a:p>
            <a:pPr/>
            <a:r>
              <a:t>03</a:t>
            </a:r>
          </a:p>
          <a:p>
            <a:pPr/>
            <a: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270000" y="1980000"/>
            <a:ext cx="1800000" cy="126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54000" rIns="72000" bIns="54000"/>
          <a:lstStyle/>
          <a:p>
            <a:pPr algn="ctr">
              <a:defRPr sz="1000">
                <a:solidFill>
                  <a:srgbClr val="666666"/>
                </a:solidFill>
                <a:latin typeface="본고딕"/>
              </a:defRPr>
            </a:pPr>
            <a:r>
              <a:t>발주기관</a:t>
            </a:r>
          </a:p>
          <a:p>
            <a:pPr>
              <a:spcBef>
                <a:spcPts val="400"/>
              </a:spcBef>
              <a:defRPr sz="2400" b="1">
                <a:solidFill>
                  <a:srgbClr val="002452"/>
                </a:solidFill>
                <a:latin typeface="본고딕"/>
              </a:defRPr>
            </a:pPr>
            <a:r>
              <a:t>(주)글로벌물류</a:t>
            </a:r>
          </a:p>
          <a:p>
            <a:pPr>
              <a:spcBef>
                <a:spcPts val="200"/>
              </a:spcBef>
              <a:defRPr sz="900">
                <a:solidFill>
                  <a:srgbClr val="B6B6B6"/>
                </a:solidFill>
                <a:latin typeface="본고딕"/>
              </a:defRPr>
            </a:pPr>
            <a:r>
              <a:t>국내 Top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0000" y="1980000"/>
            <a:ext cx="1800000" cy="126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54000" rIns="72000" bIns="54000"/>
          <a:lstStyle/>
          <a:p>
            <a:pPr algn="ctr">
              <a:defRPr sz="1000">
                <a:solidFill>
                  <a:srgbClr val="666666"/>
                </a:solidFill>
                <a:latin typeface="본고딕"/>
              </a:defRPr>
            </a:pPr>
            <a:r>
              <a:t>계약금액</a:t>
            </a:r>
          </a:p>
          <a:p>
            <a:pPr>
              <a:spcBef>
                <a:spcPts val="400"/>
              </a:spcBef>
              <a:defRPr sz="2400" b="1">
                <a:solidFill>
                  <a:srgbClr val="C51F2A"/>
                </a:solidFill>
                <a:latin typeface="본고딕"/>
              </a:defRPr>
            </a:pPr>
            <a:r>
              <a:t>15억원</a:t>
            </a:r>
          </a:p>
          <a:p>
            <a:pPr>
              <a:spcBef>
                <a:spcPts val="200"/>
              </a:spcBef>
              <a:defRPr sz="900">
                <a:solidFill>
                  <a:srgbClr val="B6B6B6"/>
                </a:solidFill>
                <a:latin typeface="본고딕"/>
              </a:defRPr>
            </a:pPr>
            <a:r>
              <a:t>VAT 별도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30000" y="1980000"/>
            <a:ext cx="1800000" cy="126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54000" rIns="72000" bIns="54000"/>
          <a:lstStyle/>
          <a:p>
            <a:pPr algn="ctr">
              <a:defRPr sz="1000">
                <a:solidFill>
                  <a:srgbClr val="666666"/>
                </a:solidFill>
                <a:latin typeface="본고딕"/>
              </a:defRPr>
            </a:pPr>
            <a:r>
              <a:t>계약기간</a:t>
            </a:r>
          </a:p>
          <a:p>
            <a:pPr>
              <a:spcBef>
                <a:spcPts val="400"/>
              </a:spcBef>
              <a:defRPr sz="2400" b="1">
                <a:solidFill>
                  <a:srgbClr val="4B6580"/>
                </a:solidFill>
                <a:latin typeface="본고딕"/>
              </a:defRPr>
            </a:pPr>
            <a:r>
              <a:t>12개월</a:t>
            </a:r>
          </a:p>
          <a:p>
            <a:pPr>
              <a:spcBef>
                <a:spcPts val="200"/>
              </a:spcBef>
              <a:defRPr sz="900">
                <a:solidFill>
                  <a:srgbClr val="B6B6B6"/>
                </a:solidFill>
                <a:latin typeface="본고딕"/>
              </a:defRPr>
            </a:pPr>
            <a:r>
              <a:t>2025.01~12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000" y="1980000"/>
            <a:ext cx="1800000" cy="126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54000" rIns="72000" bIns="54000"/>
          <a:lstStyle/>
          <a:p>
            <a:pPr algn="ctr">
              <a:defRPr sz="1000">
                <a:solidFill>
                  <a:srgbClr val="666666"/>
                </a:solidFill>
                <a:latin typeface="본고딕"/>
              </a:defRPr>
            </a:pPr>
            <a:r>
              <a:t>투입인력</a:t>
            </a:r>
          </a:p>
          <a:p>
            <a:pPr>
              <a:spcBef>
                <a:spcPts val="400"/>
              </a:spcBef>
              <a:defRPr sz="2400" b="1">
                <a:solidFill>
                  <a:srgbClr val="2E7D32"/>
                </a:solidFill>
                <a:latin typeface="본고딕"/>
              </a:defRPr>
            </a:pPr>
            <a:r>
              <a:t>8명</a:t>
            </a:r>
          </a:p>
          <a:p>
            <a:pPr>
              <a:spcBef>
                <a:spcPts val="200"/>
              </a:spcBef>
              <a:defRPr sz="900">
                <a:solidFill>
                  <a:srgbClr val="B6B6B6"/>
                </a:solidFill>
                <a:latin typeface="본고딕"/>
              </a:defRPr>
            </a:pPr>
            <a:r>
              <a:t>78 M/M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270000" y="1800000"/>
            <a:ext cx="2880000" cy="2160000"/>
          </a:xfrm>
          <a:prstGeom prst="roundRect">
            <a:avLst/>
          </a:prstGeom>
          <a:solidFill>
            <a:srgbClr val="FDEBE9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72000" rIns="108000" bIns="72000"/>
          <a:lstStyle/>
          <a:p>
            <a:pPr algn="ctr">
              <a:defRPr sz="1400" b="1">
                <a:solidFill>
                  <a:srgbClr val="E74C3C"/>
                </a:solidFill>
                <a:latin typeface="본고딕"/>
              </a:defRPr>
            </a:pPr>
            <a:r>
              <a:t>현황 및 문제점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  <a:latin typeface="본고딕"/>
              </a:defRPr>
            </a:pPr>
            <a:r>
              <a:t>• 10년+ 레거시 시스템 노후화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  <a:latin typeface="본고딕"/>
              </a:defRPr>
            </a:pPr>
            <a:r>
              <a:t>• 처리 속도 저하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  <a:latin typeface="본고딕"/>
              </a:defRPr>
            </a:pPr>
            <a:r>
              <a:t>• 실시간 재고 파악 불가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  <a:latin typeface="본고딕"/>
              </a:defRPr>
            </a:pPr>
            <a:r>
              <a:t>• 타 시스템 연동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10000" y="1800000"/>
            <a:ext cx="2880000" cy="216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72000" rIns="108000" bIns="72000"/>
          <a:lstStyle/>
          <a:p>
            <a:pPr algn="ctr">
              <a:defRPr sz="1400" b="1">
                <a:solidFill>
                  <a:srgbClr val="2E7D32"/>
                </a:solidFill>
                <a:latin typeface="본고딕"/>
              </a:defRPr>
            </a:pPr>
            <a:r>
              <a:t>추진 목표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  <a:latin typeface="본고딕"/>
              </a:defRPr>
            </a:pPr>
            <a:r>
              <a:t>• AI 기반 물류 최적화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  <a:latin typeface="본고딕"/>
              </a:defRPr>
            </a:pPr>
            <a:r>
              <a:t>• 실시간 재고/배송 추적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  <a:latin typeface="본고딕"/>
              </a:defRPr>
            </a:pPr>
            <a:r>
              <a:t>• 클라우드 기반 확장성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000" y="4140000"/>
            <a:ext cx="1440000" cy="54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본고딕"/>
              </a:defRPr>
            </a:pPr>
            <a:r>
              <a:t>물류 처리 효율: +30%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0000" y="4140000"/>
            <a:ext cx="1440000" cy="5400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본고딕"/>
              </a:defRPr>
            </a:pPr>
            <a:r>
              <a:t>재고 정확도: 99.5%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10000" y="4140000"/>
            <a:ext cx="1440000" cy="540000"/>
          </a:xfrm>
          <a:prstGeom prst="round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본고딕"/>
              </a:defRPr>
            </a:pPr>
            <a:r>
              <a:t>운영 비용: -20%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270000" y="1800000"/>
            <a:ext cx="1980000" cy="144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72000" rIns="108000" bIns="72000"/>
          <a:lstStyle/>
          <a:p>
            <a:pPr algn="ctr">
              <a:defRPr sz="1600" b="1">
                <a:solidFill>
                  <a:srgbClr val="002452"/>
                </a:solidFill>
                <a:latin typeface="본고딕"/>
              </a:defRPr>
            </a:pPr>
            <a:r>
              <a:t>WMS</a:t>
            </a:r>
          </a:p>
          <a:p>
            <a:pPr>
              <a:spcBef>
                <a:spcPts val="200"/>
              </a:spcBef>
              <a:defRPr sz="1100">
                <a:solidFill>
                  <a:srgbClr val="666666"/>
                </a:solidFill>
                <a:latin typeface="본고딕"/>
              </a:defRPr>
            </a:pPr>
            <a:r>
              <a:t>창고관리시스템</a:t>
            </a:r>
          </a:p>
          <a:p>
            <a:pPr>
              <a:spcBef>
                <a:spcPts val="400"/>
              </a:spcBef>
              <a:defRPr sz="1000">
                <a:solidFill>
                  <a:srgbClr val="000000"/>
                </a:solidFill>
                <a:latin typeface="본고딕"/>
              </a:defRPr>
            </a:pPr>
            <a:r>
              <a:t>• 입출고 • 재고 • 피킹/패킹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8000" y="1800000"/>
            <a:ext cx="1980000" cy="144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72000" rIns="108000" bIns="72000"/>
          <a:lstStyle/>
          <a:p>
            <a:pPr algn="ctr">
              <a:defRPr sz="1600" b="1">
                <a:solidFill>
                  <a:srgbClr val="4B6580"/>
                </a:solidFill>
                <a:latin typeface="본고딕"/>
              </a:defRPr>
            </a:pPr>
            <a:r>
              <a:t>TMS</a:t>
            </a:r>
          </a:p>
          <a:p>
            <a:pPr>
              <a:spcBef>
                <a:spcPts val="200"/>
              </a:spcBef>
              <a:defRPr sz="1100">
                <a:solidFill>
                  <a:srgbClr val="666666"/>
                </a:solidFill>
                <a:latin typeface="본고딕"/>
              </a:defRPr>
            </a:pPr>
            <a:r>
              <a:t>배송관리시스템</a:t>
            </a:r>
          </a:p>
          <a:p>
            <a:pPr>
              <a:spcBef>
                <a:spcPts val="400"/>
              </a:spcBef>
              <a:defRPr sz="1000">
                <a:solidFill>
                  <a:srgbClr val="000000"/>
                </a:solidFill>
                <a:latin typeface="본고딕"/>
              </a:defRPr>
            </a:pPr>
            <a:r>
              <a:t>• 배차 • 경로최적화 • 추적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000" y="3528000"/>
            <a:ext cx="1980000" cy="144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72000" rIns="108000" bIns="72000"/>
          <a:lstStyle/>
          <a:p>
            <a:pPr algn="ctr">
              <a:defRPr sz="1600" b="1">
                <a:solidFill>
                  <a:srgbClr val="E9B86E"/>
                </a:solidFill>
                <a:latin typeface="본고딕"/>
              </a:defRPr>
            </a:pPr>
            <a:r>
              <a:t>OMS</a:t>
            </a:r>
          </a:p>
          <a:p>
            <a:pPr>
              <a:spcBef>
                <a:spcPts val="200"/>
              </a:spcBef>
              <a:defRPr sz="1100">
                <a:solidFill>
                  <a:srgbClr val="666666"/>
                </a:solidFill>
                <a:latin typeface="본고딕"/>
              </a:defRPr>
            </a:pPr>
            <a:r>
              <a:t>주문관리시스템</a:t>
            </a:r>
          </a:p>
          <a:p>
            <a:pPr>
              <a:spcBef>
                <a:spcPts val="400"/>
              </a:spcBef>
              <a:defRPr sz="1000">
                <a:solidFill>
                  <a:srgbClr val="000000"/>
                </a:solidFill>
                <a:latin typeface="본고딕"/>
              </a:defRPr>
            </a:pPr>
            <a:r>
              <a:t>• 주문접수 • 할당 • 정산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38000" y="3528000"/>
            <a:ext cx="1980000" cy="144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72000" rIns="108000" bIns="72000"/>
          <a:lstStyle/>
          <a:p>
            <a:pPr algn="ctr">
              <a:defRPr sz="1600" b="1">
                <a:solidFill>
                  <a:srgbClr val="2E7D32"/>
                </a:solidFill>
                <a:latin typeface="본고딕"/>
              </a:defRPr>
            </a:pPr>
            <a:r>
              <a:t>Dashboard</a:t>
            </a:r>
          </a:p>
          <a:p>
            <a:pPr>
              <a:spcBef>
                <a:spcPts val="200"/>
              </a:spcBef>
              <a:defRPr sz="1100">
                <a:solidFill>
                  <a:srgbClr val="666666"/>
                </a:solidFill>
                <a:latin typeface="본고딕"/>
              </a:defRPr>
            </a:pPr>
            <a:r>
              <a:t>통합모니터링</a:t>
            </a:r>
          </a:p>
          <a:p>
            <a:pPr>
              <a:spcBef>
                <a:spcPts val="400"/>
              </a:spcBef>
              <a:defRPr sz="1000">
                <a:solidFill>
                  <a:srgbClr val="000000"/>
                </a:solidFill>
                <a:latin typeface="본고딕"/>
              </a:defRPr>
            </a:pPr>
            <a:r>
              <a:t>• 실시간 현황 • KPI • 리포트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6000" y="1800000"/>
            <a:ext cx="1440000" cy="3168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6B6B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66666"/>
                </a:solidFill>
                <a:latin typeface="본고딕"/>
              </a:defRPr>
            </a:pPr>
            <a:r>
              <a:t>인터페이스만 (제외)</a:t>
            </a:r>
          </a:p>
          <a:p>
            <a:pPr>
              <a:spcBef>
                <a:spcPts val="600"/>
              </a:spcBef>
              <a:defRPr sz="1000">
                <a:solidFill>
                  <a:srgbClr val="666666"/>
                </a:solidFill>
                <a:latin typeface="본고딕"/>
              </a:defRPr>
            </a:pPr>
            <a:r>
              <a:t>• 회계 시스템</a:t>
            </a:r>
            <a:br/>
            <a:r>
              <a:t>• HR 시스템</a:t>
            </a:r>
            <a:br/>
            <a:r>
              <a:t>• 기존 ERP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5600" y="1980000"/>
            <a:ext cx="2520000" cy="180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72000" rIns="108000" bIns="72000"/>
          <a:lstStyle/>
          <a:p>
            <a:pPr algn="ctr">
              <a:defRPr sz="3600" b="1">
                <a:solidFill>
                  <a:srgbClr val="C8C8C8"/>
                </a:solidFill>
                <a:latin typeface="본고딕"/>
              </a:defRPr>
            </a:pPr>
            <a:r>
              <a:t>01</a:t>
            </a:r>
          </a:p>
          <a:p>
            <a:pPr>
              <a:spcBef>
                <a:spcPts val="0"/>
              </a:spcBef>
              <a:defRPr sz="1400" b="1">
                <a:solidFill>
                  <a:srgbClr val="002452"/>
                </a:solidFill>
                <a:latin typeface="본고딕"/>
              </a:defRPr>
            </a:pPr>
            <a:r>
              <a:t>단계적 전환 전략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100">
                <a:solidFill>
                  <a:srgbClr val="666666"/>
                </a:solidFill>
                <a:latin typeface="본고딕"/>
              </a:defRPr>
            </a:pPr>
            <a:r>
              <a:t>Big Bang 방식이 아닌 모듈별 순차 전환으로 리스크 최소화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3600" y="1980000"/>
            <a:ext cx="2520000" cy="180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72000" rIns="108000" bIns="72000"/>
          <a:lstStyle/>
          <a:p>
            <a:pPr algn="ctr">
              <a:defRPr sz="3600" b="1">
                <a:solidFill>
                  <a:srgbClr val="C8C8C8"/>
                </a:solidFill>
                <a:latin typeface="본고딕"/>
              </a:defRPr>
            </a:pPr>
            <a:r>
              <a:t>02</a:t>
            </a:r>
          </a:p>
          <a:p>
            <a:pPr>
              <a:spcBef>
                <a:spcPts val="0"/>
              </a:spcBef>
              <a:defRPr sz="1400" b="1">
                <a:solidFill>
                  <a:srgbClr val="C51F2A"/>
                </a:solidFill>
                <a:latin typeface="본고딕"/>
              </a:defRPr>
            </a:pPr>
            <a:r>
              <a:t>애자일 기반 개발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100">
                <a:solidFill>
                  <a:srgbClr val="666666"/>
                </a:solidFill>
                <a:latin typeface="본고딕"/>
              </a:defRPr>
            </a:pPr>
            <a:r>
              <a:t>2주 단위 스프린트로 빠른 피드백과 유연한 대응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01600" y="1980000"/>
            <a:ext cx="2520000" cy="180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72000" rIns="108000" bIns="72000"/>
          <a:lstStyle/>
          <a:p>
            <a:pPr algn="ctr">
              <a:defRPr sz="3600" b="1">
                <a:solidFill>
                  <a:srgbClr val="C8C8C8"/>
                </a:solidFill>
                <a:latin typeface="본고딕"/>
              </a:defRPr>
            </a:pPr>
            <a:r>
              <a:t>03</a:t>
            </a:r>
          </a:p>
          <a:p>
            <a:pPr>
              <a:spcBef>
                <a:spcPts val="0"/>
              </a:spcBef>
              <a:defRPr sz="1400" b="1">
                <a:solidFill>
                  <a:srgbClr val="2E7D32"/>
                </a:solidFill>
                <a:latin typeface="본고딕"/>
              </a:defRPr>
            </a:pPr>
            <a:r>
              <a:t>현업 밀착 협업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100">
                <a:solidFill>
                  <a:srgbClr val="666666"/>
                </a:solidFill>
                <a:latin typeface="본고딕"/>
              </a:defRPr>
            </a:pPr>
            <a:r>
              <a:t>주 2회 현업 리뷰를 통한 요구사항 정합성 확보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1263600" y="1800000"/>
            <a:ext cx="900000" cy="900000"/>
          </a:xfrm>
          <a:prstGeom prst="ellipse">
            <a:avLst/>
          </a:prstGeom>
          <a:solidFill>
            <a:srgbClr val="002452"/>
          </a:solidFill>
          <a:ln w="127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본고딕"/>
              </a:defRPr>
            </a:pPr>
            <a:r>
              <a:t>1</a:t>
            </a:r>
            <a:br/>
            <a:r>
              <a:t>분석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63600" y="2088000"/>
            <a:ext cx="1260000" cy="288000"/>
          </a:xfrm>
          <a:prstGeom prst="rightArrow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55600" y="2880000"/>
            <a:ext cx="1116000" cy="900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54000" rIns="72000" bIns="54000"/>
          <a:lstStyle/>
          <a:p>
            <a:pPr algn="ctr">
              <a:defRPr sz="900">
                <a:solidFill>
                  <a:srgbClr val="000000"/>
                </a:solidFill>
                <a:latin typeface="본고딕"/>
              </a:defRPr>
            </a:pPr>
            <a:r>
              <a:t>• 요구사항 정의</a:t>
            </a:r>
          </a:p>
          <a:p>
            <a:pPr>
              <a:spcBef>
                <a:spcPts val="2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• AS-IS 분석</a:t>
            </a:r>
          </a:p>
          <a:p>
            <a:pPr>
              <a:spcBef>
                <a:spcPts val="300"/>
              </a:spcBef>
              <a:defRPr sz="800">
                <a:solidFill>
                  <a:srgbClr val="666666"/>
                </a:solidFill>
                <a:latin typeface="본고딕"/>
              </a:defRPr>
            </a:pPr>
            <a:r>
              <a:t>산출: 요구사항정의서, 분석서</a:t>
            </a:r>
          </a:p>
        </p:txBody>
      </p:sp>
      <p:sp>
        <p:nvSpPr>
          <p:cNvPr id="7" name="Oval 6"/>
          <p:cNvSpPr/>
          <p:nvPr/>
        </p:nvSpPr>
        <p:spPr>
          <a:xfrm>
            <a:off x="3423600" y="1800000"/>
            <a:ext cx="900000" cy="900000"/>
          </a:xfrm>
          <a:prstGeom prst="ellipse">
            <a:avLst/>
          </a:prstGeom>
          <a:solidFill>
            <a:srgbClr val="4B6580"/>
          </a:solidFill>
          <a:ln w="127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본고딕"/>
              </a:defRPr>
            </a:pPr>
            <a:r>
              <a:t>2</a:t>
            </a:r>
            <a:br/>
            <a:r>
              <a:t>설계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23600" y="2088000"/>
            <a:ext cx="1260000" cy="288000"/>
          </a:xfrm>
          <a:prstGeom prst="rightArrow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15600" y="2880000"/>
            <a:ext cx="1116000" cy="900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54000" rIns="72000" bIns="54000"/>
          <a:lstStyle/>
          <a:p>
            <a:pPr algn="ctr">
              <a:defRPr sz="900">
                <a:solidFill>
                  <a:srgbClr val="000000"/>
                </a:solidFill>
                <a:latin typeface="본고딕"/>
              </a:defRPr>
            </a:pPr>
            <a:r>
              <a:t>• 아키텍처 설계</a:t>
            </a:r>
          </a:p>
          <a:p>
            <a:pPr>
              <a:spcBef>
                <a:spcPts val="2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• UI/DB 설계</a:t>
            </a:r>
          </a:p>
          <a:p>
            <a:pPr>
              <a:spcBef>
                <a:spcPts val="300"/>
              </a:spcBef>
              <a:defRPr sz="800">
                <a:solidFill>
                  <a:srgbClr val="666666"/>
                </a:solidFill>
                <a:latin typeface="본고딕"/>
              </a:defRPr>
            </a:pPr>
            <a:r>
              <a:t>산출: 설계서 일체</a:t>
            </a:r>
          </a:p>
        </p:txBody>
      </p:sp>
      <p:sp>
        <p:nvSpPr>
          <p:cNvPr id="10" name="Oval 9"/>
          <p:cNvSpPr/>
          <p:nvPr/>
        </p:nvSpPr>
        <p:spPr>
          <a:xfrm>
            <a:off x="5583600" y="1800000"/>
            <a:ext cx="900000" cy="900000"/>
          </a:xfrm>
          <a:prstGeom prst="ellipse">
            <a:avLst/>
          </a:prstGeom>
          <a:solidFill>
            <a:srgbClr val="E9B86E"/>
          </a:solidFill>
          <a:ln w="127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본고딕"/>
              </a:defRPr>
            </a:pPr>
            <a:r>
              <a:t>3</a:t>
            </a:r>
            <a:br/>
            <a:r>
              <a:t>개발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83600" y="2088000"/>
            <a:ext cx="1260000" cy="288000"/>
          </a:xfrm>
          <a:prstGeom prst="rightArrow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75600" y="2880000"/>
            <a:ext cx="1116000" cy="900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54000" rIns="72000" bIns="54000"/>
          <a:lstStyle/>
          <a:p>
            <a:pPr algn="ctr">
              <a:defRPr sz="900">
                <a:solidFill>
                  <a:srgbClr val="000000"/>
                </a:solidFill>
                <a:latin typeface="본고딕"/>
              </a:defRPr>
            </a:pPr>
            <a:r>
              <a:t>• 기능 구현</a:t>
            </a:r>
          </a:p>
          <a:p>
            <a:pPr>
              <a:spcBef>
                <a:spcPts val="2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• 단위 테스트</a:t>
            </a:r>
          </a:p>
          <a:p>
            <a:pPr>
              <a:spcBef>
                <a:spcPts val="300"/>
              </a:spcBef>
              <a:defRPr sz="800">
                <a:solidFill>
                  <a:srgbClr val="666666"/>
                </a:solidFill>
                <a:latin typeface="본고딕"/>
              </a:defRPr>
            </a:pPr>
            <a:r>
              <a:t>산출: 소스코드, 테스트결과서</a:t>
            </a:r>
          </a:p>
        </p:txBody>
      </p:sp>
      <p:sp>
        <p:nvSpPr>
          <p:cNvPr id="13" name="Oval 12"/>
          <p:cNvSpPr/>
          <p:nvPr/>
        </p:nvSpPr>
        <p:spPr>
          <a:xfrm>
            <a:off x="7743600" y="1800000"/>
            <a:ext cx="900000" cy="9000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본고딕"/>
              </a:defRPr>
            </a:pPr>
            <a:r>
              <a:t>4</a:t>
            </a:r>
            <a:br/>
            <a:r>
              <a:t>테스트/이행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600" y="2880000"/>
            <a:ext cx="1116000" cy="900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54000" rIns="72000" bIns="54000"/>
          <a:lstStyle/>
          <a:p>
            <a:pPr algn="ctr">
              <a:defRPr sz="900">
                <a:solidFill>
                  <a:srgbClr val="000000"/>
                </a:solidFill>
                <a:latin typeface="본고딕"/>
              </a:defRPr>
            </a:pPr>
            <a:r>
              <a:t>• 통합/인수 테스트</a:t>
            </a:r>
          </a:p>
          <a:p>
            <a:pPr>
              <a:spcBef>
                <a:spcPts val="2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• 시스템 전환</a:t>
            </a:r>
          </a:p>
          <a:p>
            <a:pPr>
              <a:spcBef>
                <a:spcPts val="300"/>
              </a:spcBef>
              <a:defRPr sz="800">
                <a:solidFill>
                  <a:srgbClr val="666666"/>
                </a:solidFill>
                <a:latin typeface="본고딕"/>
              </a:defRPr>
            </a:pPr>
            <a:r>
              <a:t>산출: 테스트결과서, 이행계획서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93600" y="2160000"/>
            <a:ext cx="1440000" cy="900000"/>
          </a:xfrm>
          <a:prstGeom prst="roundRect">
            <a:avLst/>
          </a:prstGeom>
          <a:solidFill>
            <a:srgbClr val="42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54000" rIns="72000" bIns="54000"/>
          <a:lstStyle/>
          <a:p>
            <a:pPr algn="ctr">
              <a:defRPr sz="1100" b="1">
                <a:solidFill>
                  <a:srgbClr val="FFFFFF"/>
                </a:solidFill>
                <a:latin typeface="본고딕"/>
              </a:defRPr>
            </a:pPr>
            <a:r>
              <a:t>Frontend</a:t>
            </a:r>
          </a:p>
          <a:p>
            <a:pPr algn="ctr">
              <a:spcBef>
                <a:spcPts val="200"/>
              </a:spcBef>
              <a:defRPr sz="900">
                <a:solidFill>
                  <a:srgbClr val="FFFFFF"/>
                </a:solidFill>
                <a:latin typeface="본고딕"/>
              </a:defRPr>
            </a:pPr>
            <a:r>
              <a:t>Vue.js 3, TypeScript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3600" y="2160000"/>
            <a:ext cx="1440000" cy="900000"/>
          </a:xfrm>
          <a:prstGeom prst="round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54000" rIns="72000" bIns="54000"/>
          <a:lstStyle/>
          <a:p>
            <a:pPr algn="ctr">
              <a:defRPr sz="1100" b="1">
                <a:solidFill>
                  <a:srgbClr val="FFFFFF"/>
                </a:solidFill>
                <a:latin typeface="본고딕"/>
              </a:defRPr>
            </a:pPr>
            <a:r>
              <a:t>Backend</a:t>
            </a:r>
          </a:p>
          <a:p>
            <a:pPr algn="ctr">
              <a:spcBef>
                <a:spcPts val="200"/>
              </a:spcBef>
              <a:defRPr sz="900">
                <a:solidFill>
                  <a:srgbClr val="FFFFFF"/>
                </a:solidFill>
                <a:latin typeface="본고딕"/>
              </a:defRPr>
            </a:pPr>
            <a:r>
              <a:t>Spring Boot, Java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33600" y="2160000"/>
            <a:ext cx="1440000" cy="900000"/>
          </a:xfrm>
          <a:prstGeom prst="roundRect">
            <a:avLst/>
          </a:prstGeom>
          <a:solidFill>
            <a:srgbClr val="336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54000" rIns="72000" bIns="54000"/>
          <a:lstStyle/>
          <a:p>
            <a:pPr algn="ctr">
              <a:defRPr sz="1100" b="1">
                <a:solidFill>
                  <a:srgbClr val="FFFFFF"/>
                </a:solidFill>
                <a:latin typeface="본고딕"/>
              </a:defRPr>
            </a:pPr>
            <a:r>
              <a:t>Database</a:t>
            </a:r>
          </a:p>
          <a:p>
            <a:pPr algn="ctr">
              <a:spcBef>
                <a:spcPts val="200"/>
              </a:spcBef>
              <a:defRPr sz="900">
                <a:solidFill>
                  <a:srgbClr val="FFFFFF"/>
                </a:solidFill>
                <a:latin typeface="본고딕"/>
              </a:defRPr>
            </a:pPr>
            <a:r>
              <a:t>PostgreSQL, Redis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3600" y="2160000"/>
            <a:ext cx="1440000" cy="9000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54000" rIns="72000" bIns="54000"/>
          <a:lstStyle/>
          <a:p>
            <a:pPr algn="ctr">
              <a:defRPr sz="1100" b="1">
                <a:solidFill>
                  <a:srgbClr val="FFFFFF"/>
                </a:solidFill>
                <a:latin typeface="본고딕"/>
              </a:defRPr>
            </a:pPr>
            <a:r>
              <a:t>Infrastructure</a:t>
            </a:r>
          </a:p>
          <a:p>
            <a:pPr algn="ctr">
              <a:spcBef>
                <a:spcPts val="200"/>
              </a:spcBef>
              <a:defRPr sz="900">
                <a:solidFill>
                  <a:srgbClr val="FFFFFF"/>
                </a:solidFill>
                <a:latin typeface="본고딕"/>
              </a:defRPr>
            </a:pPr>
            <a:r>
              <a:t>AWS EKS, RDS/S3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73600" y="2160000"/>
            <a:ext cx="1440000" cy="90000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54000" rIns="72000" bIns="54000"/>
          <a:lstStyle/>
          <a:p>
            <a:pPr algn="ctr">
              <a:defRPr sz="1100" b="1">
                <a:solidFill>
                  <a:srgbClr val="FFFFFF"/>
                </a:solidFill>
                <a:latin typeface="본고딕"/>
              </a:defRPr>
            </a:pPr>
            <a:r>
              <a:t>AI/ML</a:t>
            </a:r>
          </a:p>
          <a:p>
            <a:pPr algn="ctr">
              <a:spcBef>
                <a:spcPts val="200"/>
              </a:spcBef>
              <a:defRPr sz="900">
                <a:solidFill>
                  <a:srgbClr val="FFFFFF"/>
                </a:solidFill>
                <a:latin typeface="본고딕"/>
              </a:defRPr>
            </a:pPr>
            <a:r>
              <a:t>Python 3.11, TensorFlow 2.15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600" y="1800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452"/>
                </a:solidFill>
                <a:latin typeface="본고딕"/>
              </a:defRPr>
            </a:pPr>
            <a:r>
              <a:t>MSA (Microservices Architecture)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600000" y="1620000"/>
            <a:ext cx="2160000" cy="432000"/>
          </a:xfrm>
          <a:prstGeom prst="roundRect">
            <a:avLst/>
          </a:prstGeom>
          <a:solidFill>
            <a:srgbClr val="002452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본고딕"/>
              </a:defRPr>
            </a:pPr>
            <a:r>
              <a:t>발주PM</a:t>
            </a:r>
          </a:p>
          <a:p>
            <a:pPr algn="ctr">
              <a:defRPr sz="1100">
                <a:solidFill>
                  <a:srgbClr val="FFFFFF"/>
                </a:solidFill>
                <a:latin typeface="본고딕"/>
              </a:defRPr>
            </a:pPr>
            <a:r>
              <a:t>정민호 부장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0" y="1440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452"/>
                </a:solidFill>
                <a:latin typeface="본고딕"/>
              </a:defRPr>
            </a:pPr>
            <a:r>
              <a:t>발주기관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0" y="2340000"/>
            <a:ext cx="2160000" cy="432000"/>
          </a:xfrm>
          <a:prstGeom prst="roundRect">
            <a:avLst/>
          </a:prstGeom>
          <a:solidFill>
            <a:srgbClr val="C51F2A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본고딕"/>
              </a:defRPr>
            </a:pPr>
            <a:r>
              <a:t>PM (수행 총괄)</a:t>
            </a:r>
          </a:p>
          <a:p>
            <a:pPr algn="ctr">
              <a:defRPr sz="1100">
                <a:solidFill>
                  <a:srgbClr val="FFFFFF"/>
                </a:solidFill>
                <a:latin typeface="본고딕"/>
              </a:defRPr>
            </a:pPr>
            <a:r>
              <a:t>김철수 차장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0" y="2160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1F2A"/>
                </a:solidFill>
                <a:latin typeface="본고딕"/>
              </a:defRPr>
            </a:pPr>
            <a:r>
              <a:t>수행사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0000" y="3060000"/>
            <a:ext cx="1260000" cy="900000"/>
          </a:xfrm>
          <a:prstGeom prst="round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2452"/>
                </a:solidFill>
                <a:latin typeface="본고딕"/>
              </a:defRPr>
            </a:pPr>
            <a:r>
              <a:t>PMO</a:t>
            </a:r>
          </a:p>
          <a:p>
            <a:pPr algn="ctr">
              <a:spcBef>
                <a:spcPts val="3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이영희 과장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0" y="3060000"/>
            <a:ext cx="1260000" cy="900000"/>
          </a:xfrm>
          <a:prstGeom prst="round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2452"/>
                </a:solidFill>
                <a:latin typeface="본고딕"/>
              </a:defRPr>
            </a:pPr>
            <a:r>
              <a:t>개발팀</a:t>
            </a:r>
          </a:p>
          <a:p>
            <a:pPr algn="ctr">
              <a:spcBef>
                <a:spcPts val="3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박준형 책임</a:t>
            </a:r>
            <a:br/>
            <a:r>
              <a:t>최수진 선임</a:t>
            </a:r>
            <a:br/>
            <a:r>
              <a:t>임동현/강서연/윤재호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0000" y="3060000"/>
            <a:ext cx="1260000" cy="900000"/>
          </a:xfrm>
          <a:prstGeom prst="round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2452"/>
                </a:solidFill>
                <a:latin typeface="본고딕"/>
              </a:defRPr>
            </a:pPr>
            <a:r>
              <a:t>품질팀</a:t>
            </a:r>
          </a:p>
          <a:p>
            <a:pPr algn="ctr">
              <a:spcBef>
                <a:spcPts val="3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오현우 대리</a:t>
            </a:r>
            <a:br/>
            <a:r>
              <a:t>한미영 대리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20000" y="1368000"/>
            <a:ext cx="180000" cy="1800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6000" y="1368000"/>
            <a:ext cx="86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본고딕"/>
              </a:defRPr>
            </a:pPr>
            <a:r>
              <a:t>PM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00000" y="1368000"/>
            <a:ext cx="180000" cy="180000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6000" y="1368000"/>
            <a:ext cx="86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본고딕"/>
              </a:defRPr>
            </a:pPr>
            <a:r>
              <a:t>AA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1368000"/>
            <a:ext cx="180000" cy="180000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6000" y="1368000"/>
            <a:ext cx="86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본고딕"/>
              </a:defRPr>
            </a:pPr>
            <a:r>
              <a:t>개발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60000" y="1368000"/>
            <a:ext cx="180000" cy="18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6000" y="1368000"/>
            <a:ext cx="86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본고딕"/>
              </a:defRPr>
            </a:pPr>
            <a:r>
              <a:t>DBA/QA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47200" y="1368000"/>
            <a:ext cx="1440000" cy="4320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본고딕"/>
              </a:defRPr>
            </a:pPr>
            <a:r>
              <a:t>총 78 M/M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3600000"/>
            <a:ext cx="564000" cy="36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0000" y="3960000"/>
            <a:ext cx="564000" cy="360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0000" y="4320000"/>
            <a:ext cx="564000" cy="360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0000" y="4680000"/>
            <a:ext cx="564000" cy="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4752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1월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0000" y="3240000"/>
            <a:ext cx="564000" cy="36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20000" y="3600000"/>
            <a:ext cx="564000" cy="360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20000" y="3960000"/>
            <a:ext cx="564000" cy="720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20000" y="4680000"/>
            <a:ext cx="564000" cy="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0000" y="4752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2월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000" y="2880000"/>
            <a:ext cx="564000" cy="36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20000" y="3240000"/>
            <a:ext cx="564000" cy="360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20000" y="3600000"/>
            <a:ext cx="564000" cy="720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20000" y="4320000"/>
            <a:ext cx="564000" cy="36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000" y="4752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3월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20000" y="2880000"/>
            <a:ext cx="564000" cy="36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20000" y="3240000"/>
            <a:ext cx="564000" cy="360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20000" y="3600000"/>
            <a:ext cx="564000" cy="720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20000" y="4320000"/>
            <a:ext cx="564000" cy="36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20000" y="4752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4월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20000" y="2520000"/>
            <a:ext cx="564000" cy="36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20000" y="2880000"/>
            <a:ext cx="564000" cy="360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20000" y="3240000"/>
            <a:ext cx="564000" cy="1080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20000" y="4320000"/>
            <a:ext cx="564000" cy="36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20000" y="4752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5월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20000" y="2160000"/>
            <a:ext cx="564000" cy="36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20000" y="2520000"/>
            <a:ext cx="564000" cy="360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20000" y="2880000"/>
            <a:ext cx="564000" cy="1440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20000" y="4320000"/>
            <a:ext cx="564000" cy="36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20000" y="4752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6월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20000" y="2160000"/>
            <a:ext cx="564000" cy="36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20000" y="2520000"/>
            <a:ext cx="564000" cy="360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0000" y="2880000"/>
            <a:ext cx="564000" cy="1440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20000" y="4320000"/>
            <a:ext cx="564000" cy="36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20000" y="4752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7월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20000" y="2160000"/>
            <a:ext cx="564000" cy="36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20000" y="2520000"/>
            <a:ext cx="564000" cy="360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20000" y="2880000"/>
            <a:ext cx="564000" cy="1440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20000" y="4320000"/>
            <a:ext cx="564000" cy="36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20000" y="4752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8월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20000" y="2160000"/>
            <a:ext cx="564000" cy="36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20000" y="2520000"/>
            <a:ext cx="564000" cy="360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520000" y="2880000"/>
            <a:ext cx="564000" cy="1440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20000" y="4320000"/>
            <a:ext cx="564000" cy="36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20000" y="4752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9월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0000" y="2160000"/>
            <a:ext cx="564000" cy="36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20000" y="2520000"/>
            <a:ext cx="564000" cy="360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20000" y="2880000"/>
            <a:ext cx="564000" cy="1080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20000" y="3960000"/>
            <a:ext cx="564000" cy="7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0000" y="4752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10월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20000" y="2880000"/>
            <a:ext cx="564000" cy="36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20000" y="3240000"/>
            <a:ext cx="564000" cy="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20000" y="3240000"/>
            <a:ext cx="564000" cy="720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720000" y="3960000"/>
            <a:ext cx="564000" cy="7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20000" y="4752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11월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20000" y="3600000"/>
            <a:ext cx="564000" cy="36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20000" y="3960000"/>
            <a:ext cx="564000" cy="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20000" y="3960000"/>
            <a:ext cx="564000" cy="360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20000" y="4320000"/>
            <a:ext cx="564000" cy="36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20000" y="4752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12월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20000" y="1800000"/>
            <a:ext cx="609230" cy="288000"/>
          </a:xfrm>
          <a:prstGeom prst="roundRect">
            <a:avLst/>
          </a:prstGeom>
          <a:solidFill>
            <a:srgbClr val="002452"/>
          </a:solidFill>
          <a:ln w="127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본고딕"/>
              </a:defRPr>
            </a:pPr>
            <a:r>
              <a:t>착수 (4주)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9230" y="2196000"/>
            <a:ext cx="1218461" cy="288000"/>
          </a:xfrm>
          <a:prstGeom prst="roundRect">
            <a:avLst/>
          </a:prstGeom>
          <a:solidFill>
            <a:srgbClr val="4B6580"/>
          </a:solidFill>
          <a:ln w="127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본고딕"/>
              </a:defRPr>
            </a:pPr>
            <a:r>
              <a:t>분석 (8주)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7692" y="2592000"/>
            <a:ext cx="1218461" cy="288000"/>
          </a:xfrm>
          <a:prstGeom prst="roundRect">
            <a:avLst/>
          </a:prstGeom>
          <a:solidFill>
            <a:srgbClr val="4B6580"/>
          </a:solidFill>
          <a:ln w="127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본고딕"/>
              </a:defRPr>
            </a:pPr>
            <a:r>
              <a:t>설계 (8주)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66153" y="2988000"/>
            <a:ext cx="2436923" cy="288000"/>
          </a:xfrm>
          <a:prstGeom prst="roundRect">
            <a:avLst/>
          </a:prstGeom>
          <a:solidFill>
            <a:srgbClr val="E9B86E"/>
          </a:solidFill>
          <a:ln w="127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본고딕"/>
              </a:defRPr>
            </a:pPr>
            <a:r>
              <a:t>개발 (16주)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3076" y="3384000"/>
            <a:ext cx="913846" cy="288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본고딕"/>
              </a:defRPr>
            </a:pPr>
            <a:r>
              <a:t>테스트 (6주)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16923" y="3780000"/>
            <a:ext cx="913846" cy="288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본고딕"/>
              </a:defRPr>
            </a:pPr>
            <a:r>
              <a:t>이행/안정화 (6주)</a:t>
            </a:r>
          </a:p>
        </p:txBody>
      </p:sp>
      <p:sp>
        <p:nvSpPr>
          <p:cNvPr id="10" name="Diamond 9"/>
          <p:cNvSpPr/>
          <p:nvPr/>
        </p:nvSpPr>
        <p:spPr>
          <a:xfrm>
            <a:off x="728307" y="4356000"/>
            <a:ext cx="288000" cy="28800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307" y="468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본고딕"/>
              </a:defRPr>
            </a:pPr>
            <a:r>
              <a:t>M1 착수보고</a:t>
            </a:r>
          </a:p>
        </p:txBody>
      </p:sp>
      <p:sp>
        <p:nvSpPr>
          <p:cNvPr id="12" name="Diamond 11"/>
          <p:cNvSpPr/>
          <p:nvPr/>
        </p:nvSpPr>
        <p:spPr>
          <a:xfrm>
            <a:off x="1185230" y="4356000"/>
            <a:ext cx="288000" cy="28800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230" y="468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본고딕"/>
              </a:defRPr>
            </a:pPr>
            <a:r>
              <a:t>M2 요구사항확정</a:t>
            </a:r>
          </a:p>
        </p:txBody>
      </p:sp>
      <p:sp>
        <p:nvSpPr>
          <p:cNvPr id="14" name="Diamond 13"/>
          <p:cNvSpPr/>
          <p:nvPr/>
        </p:nvSpPr>
        <p:spPr>
          <a:xfrm>
            <a:off x="1794461" y="4356000"/>
            <a:ext cx="288000" cy="28800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34461" y="468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본고딕"/>
              </a:defRPr>
            </a:pPr>
            <a:r>
              <a:t>M3 설계완료</a:t>
            </a:r>
          </a:p>
        </p:txBody>
      </p:sp>
      <p:sp>
        <p:nvSpPr>
          <p:cNvPr id="16" name="Diamond 15"/>
          <p:cNvSpPr/>
          <p:nvPr/>
        </p:nvSpPr>
        <p:spPr>
          <a:xfrm>
            <a:off x="3012923" y="4356000"/>
            <a:ext cx="288000" cy="28800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2923" y="468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본고딕"/>
              </a:defRPr>
            </a:pPr>
            <a:r>
              <a:t>M4 개발완료</a:t>
            </a:r>
          </a:p>
        </p:txBody>
      </p:sp>
      <p:sp>
        <p:nvSpPr>
          <p:cNvPr id="18" name="Diamond 17"/>
          <p:cNvSpPr/>
          <p:nvPr/>
        </p:nvSpPr>
        <p:spPr>
          <a:xfrm>
            <a:off x="3926769" y="4356000"/>
            <a:ext cx="288000" cy="28800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769" y="468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본고딕"/>
              </a:defRPr>
            </a:pPr>
            <a:r>
              <a:t>M5 테스트완료</a:t>
            </a:r>
          </a:p>
        </p:txBody>
      </p:sp>
      <p:sp>
        <p:nvSpPr>
          <p:cNvPr id="20" name="Diamond 19"/>
          <p:cNvSpPr/>
          <p:nvPr/>
        </p:nvSpPr>
        <p:spPr>
          <a:xfrm>
            <a:off x="4231384" y="4356000"/>
            <a:ext cx="288000" cy="28800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71384" y="468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본고딕"/>
              </a:defRPr>
            </a:pPr>
            <a:r>
              <a:t>M6 시스템오픈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3600" y="1800000"/>
            <a:ext cx="1620000" cy="2880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본고딕"/>
              </a:defRPr>
            </a:pPr>
            <a:r>
              <a:t>착수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3600" y="2124000"/>
            <a:ext cx="1620000" cy="39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  <a:latin typeface="본고딕"/>
              </a:defRPr>
            </a:pPr>
            <a:r>
              <a:t>• 착수보고서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3600" y="2592000"/>
            <a:ext cx="1620000" cy="39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  <a:latin typeface="본고딕"/>
              </a:defRPr>
            </a:pPr>
            <a:r>
              <a:t>• 수행계획서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43600" y="1800000"/>
            <a:ext cx="1620000" cy="288000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본고딕"/>
              </a:defRPr>
            </a:pPr>
            <a:r>
              <a:t>분석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43600" y="2124000"/>
            <a:ext cx="1620000" cy="39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  <a:latin typeface="본고딕"/>
              </a:defRPr>
            </a:pPr>
            <a:r>
              <a:t>• 요구사항정의서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43600" y="2592000"/>
            <a:ext cx="1620000" cy="39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  <a:latin typeface="본고딕"/>
              </a:defRPr>
            </a:pPr>
            <a:r>
              <a:t>• 현행시스템분석서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3600" y="1800000"/>
            <a:ext cx="1620000" cy="288000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본고딕"/>
              </a:defRPr>
            </a:pPr>
            <a:r>
              <a:t>설계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43600" y="2124000"/>
            <a:ext cx="1620000" cy="39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  <a:latin typeface="본고딕"/>
              </a:defRPr>
            </a:pPr>
            <a:r>
              <a:t>• 아키텍처설계서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43600" y="2592000"/>
            <a:ext cx="1620000" cy="39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  <a:latin typeface="본고딕"/>
              </a:defRPr>
            </a:pPr>
            <a:r>
              <a:t>• 데이터베이스설계서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43600" y="3060000"/>
            <a:ext cx="1620000" cy="39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  <a:latin typeface="본고딕"/>
              </a:defRPr>
            </a:pPr>
            <a:r>
              <a:t>• 화면설계서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800000"/>
            <a:ext cx="1620000" cy="288000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본고딕"/>
              </a:defRPr>
            </a:pPr>
            <a:r>
              <a:t>개발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124000"/>
            <a:ext cx="1620000" cy="39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  <a:latin typeface="본고딕"/>
              </a:defRPr>
            </a:pPr>
            <a:r>
              <a:t>• 소스코드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43600" y="1800000"/>
            <a:ext cx="1620000" cy="288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본고딕"/>
              </a:defRPr>
            </a:pPr>
            <a:r>
              <a:t>테스트/이행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43600" y="2124000"/>
            <a:ext cx="1620000" cy="39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  <a:latin typeface="본고딕"/>
              </a:defRPr>
            </a:pPr>
            <a:r>
              <a:t>• 통합테스트결과서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43600" y="2592000"/>
            <a:ext cx="1620000" cy="39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  <a:latin typeface="본고딕"/>
              </a:defRPr>
            </a:pPr>
            <a:r>
              <a:t>• 운영자매뉴얼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43600" y="3060000"/>
            <a:ext cx="1620000" cy="39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  <a:latin typeface="본고딕"/>
              </a:defRPr>
            </a:pPr>
            <a:r>
              <a:t>• 완료보고서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270000" y="1800000"/>
            <a:ext cx="3960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0000" y="1980000"/>
            <a:ext cx="3600000" cy="612000"/>
          </a:xfrm>
          <a:prstGeom prst="roundRect">
            <a:avLst/>
          </a:prstGeom>
          <a:solidFill>
            <a:srgbClr val="F6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54000"/>
          <a:lstStyle/>
          <a:p>
            <a:pPr algn="ctr">
              <a:defRPr sz="1100" b="1">
                <a:solidFill>
                  <a:srgbClr val="2E7D32"/>
                </a:solidFill>
                <a:latin typeface="본고딕"/>
              </a:defRPr>
            </a:pPr>
            <a:r>
              <a:t>✓ 산출물 검토</a:t>
            </a:r>
          </a:p>
          <a:p>
            <a:pPr>
              <a:spcBef>
                <a:spcPts val="2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발주 담당자 검토 및 승인 (단계별 말)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0000" y="2700000"/>
            <a:ext cx="3600000" cy="612000"/>
          </a:xfrm>
          <a:prstGeom prst="roundRect">
            <a:avLst/>
          </a:prstGeom>
          <a:solidFill>
            <a:srgbClr val="F6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54000"/>
          <a:lstStyle/>
          <a:p>
            <a:pPr algn="ctr">
              <a:defRPr sz="1100" b="1">
                <a:solidFill>
                  <a:srgbClr val="2E7D32"/>
                </a:solidFill>
                <a:latin typeface="본고딕"/>
              </a:defRPr>
            </a:pPr>
            <a:r>
              <a:t>✓ 코드 리뷰</a:t>
            </a:r>
          </a:p>
          <a:p>
            <a:pPr>
              <a:spcBef>
                <a:spcPts val="2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GitHub PR 필수, 2인 이상 승인 (개발 기간)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000" y="3420000"/>
            <a:ext cx="3600000" cy="612000"/>
          </a:xfrm>
          <a:prstGeom prst="roundRect">
            <a:avLst/>
          </a:prstGeom>
          <a:solidFill>
            <a:srgbClr val="F6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54000"/>
          <a:lstStyle/>
          <a:p>
            <a:pPr algn="ctr">
              <a:defRPr sz="1100" b="1">
                <a:solidFill>
                  <a:srgbClr val="2E7D32"/>
                </a:solidFill>
                <a:latin typeface="본고딕"/>
              </a:defRPr>
            </a:pPr>
            <a:r>
              <a:t>✓ 정적 분석</a:t>
            </a:r>
          </a:p>
          <a:p>
            <a:pPr>
              <a:spcBef>
                <a:spcPts val="2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SonarQube 품질 게이트 적용 (개발 기간)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000" y="4140000"/>
            <a:ext cx="3600000" cy="612000"/>
          </a:xfrm>
          <a:prstGeom prst="roundRect">
            <a:avLst/>
          </a:prstGeom>
          <a:solidFill>
            <a:srgbClr val="F6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54000"/>
          <a:lstStyle/>
          <a:p>
            <a:pPr algn="ctr">
              <a:defRPr sz="1100" b="1">
                <a:solidFill>
                  <a:srgbClr val="2E7D32"/>
                </a:solidFill>
                <a:latin typeface="본고딕"/>
              </a:defRPr>
            </a:pPr>
            <a:r>
              <a:t>✓ 테스트</a:t>
            </a:r>
          </a:p>
          <a:p>
            <a:pPr>
              <a:spcBef>
                <a:spcPts val="2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시나리오 기반 테스트 (통합/인수)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0000" y="1800000"/>
            <a:ext cx="3960000" cy="32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0000" y="1980000"/>
            <a:ext cx="3600000" cy="612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54000"/>
          <a:lstStyle/>
          <a:p>
            <a:pPr algn="ctr">
              <a:defRPr sz="1100" b="1">
                <a:solidFill>
                  <a:srgbClr val="002452"/>
                </a:solidFill>
                <a:latin typeface="본고딕"/>
              </a:defRPr>
            </a:pPr>
            <a:r>
              <a:t>🛡️ 인적 보안</a:t>
            </a:r>
          </a:p>
          <a:p>
            <a:pPr>
              <a:spcBef>
                <a:spcPts val="2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보안서약서 징구, 보안 교육 실시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90000" y="2700000"/>
            <a:ext cx="3600000" cy="612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54000"/>
          <a:lstStyle/>
          <a:p>
            <a:pPr algn="ctr">
              <a:defRPr sz="1100" b="1">
                <a:solidFill>
                  <a:srgbClr val="002452"/>
                </a:solidFill>
                <a:latin typeface="본고딕"/>
              </a:defRPr>
            </a:pPr>
            <a:r>
              <a:t>🛡️ 물리 보안</a:t>
            </a:r>
          </a:p>
          <a:p>
            <a:pPr>
              <a:spcBef>
                <a:spcPts val="2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통제구역 출입 관리, 반입 장비 통제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90000" y="3420000"/>
            <a:ext cx="3600000" cy="612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54000"/>
          <a:lstStyle/>
          <a:p>
            <a:pPr algn="ctr">
              <a:defRPr sz="1100" b="1">
                <a:solidFill>
                  <a:srgbClr val="002452"/>
                </a:solidFill>
                <a:latin typeface="본고딕"/>
              </a:defRPr>
            </a:pPr>
            <a:r>
              <a:t>🛡️ 기술 보안</a:t>
            </a:r>
          </a:p>
          <a:p>
            <a:pPr>
              <a:spcBef>
                <a:spcPts val="2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소스코드 보안약점 진단, DB 암호화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0000" y="4140000"/>
            <a:ext cx="3600000" cy="612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54000"/>
          <a:lstStyle/>
          <a:p>
            <a:pPr algn="ctr">
              <a:defRPr sz="1100" b="1">
                <a:solidFill>
                  <a:srgbClr val="002452"/>
                </a:solidFill>
                <a:latin typeface="본고딕"/>
              </a:defRPr>
            </a:pPr>
            <a:r>
              <a:t>🛡️ PC 보안</a:t>
            </a:r>
          </a:p>
          <a:p>
            <a:pPr>
              <a:spcBef>
                <a:spcPts val="2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백신, 화면보호기, DLP 솔루션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270000" y="1800000"/>
            <a:ext cx="1620000" cy="79200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tIns="54000" rIns="90000" bIns="54000"/>
          <a:lstStyle/>
          <a:p>
            <a:pPr algn="ctr">
              <a:defRPr sz="1000" b="1">
                <a:solidFill>
                  <a:srgbClr val="C51F2A"/>
                </a:solidFill>
                <a:latin typeface="본고딕"/>
              </a:defRPr>
            </a:pPr>
            <a:r>
              <a:t>요구사항 변경</a:t>
            </a:r>
          </a:p>
          <a:p>
            <a:pPr>
              <a:spcBef>
                <a:spcPts val="200"/>
              </a:spcBef>
              <a:defRPr sz="900">
                <a:solidFill>
                  <a:srgbClr val="666666"/>
                </a:solidFill>
                <a:latin typeface="본고딕"/>
              </a:defRPr>
            </a:pPr>
            <a:r>
              <a:t>영향도: 상 | 확률: 상</a:t>
            </a:r>
          </a:p>
          <a:p>
            <a:pPr>
              <a:spcBef>
                <a:spcPts val="200"/>
              </a:spcBef>
              <a:defRPr sz="800">
                <a:solidFill>
                  <a:srgbClr val="000000"/>
                </a:solidFill>
                <a:latin typeface="본고딕"/>
              </a:defRPr>
            </a:pPr>
            <a:r>
              <a:t>대응: CCB 통해 통제, 영향도 분석 필수</a:t>
            </a:r>
          </a:p>
          <a:p>
            <a:pPr>
              <a:spcBef>
                <a:spcPts val="100"/>
              </a:spcBef>
              <a:defRPr sz="800">
                <a:solidFill>
                  <a:srgbClr val="666666"/>
                </a:solidFill>
                <a:latin typeface="본고딕"/>
              </a:defRPr>
            </a:pPr>
            <a:r>
              <a:t>담당: PM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34000" y="1800000"/>
            <a:ext cx="1620000" cy="79200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tIns="54000" rIns="90000" bIns="54000"/>
          <a:lstStyle/>
          <a:p>
            <a:pPr algn="ctr">
              <a:defRPr sz="1000" b="1">
                <a:solidFill>
                  <a:srgbClr val="F39C12"/>
                </a:solidFill>
                <a:latin typeface="본고딕"/>
              </a:defRPr>
            </a:pPr>
            <a:r>
              <a:t>일정 지연</a:t>
            </a:r>
          </a:p>
          <a:p>
            <a:pPr>
              <a:spcBef>
                <a:spcPts val="200"/>
              </a:spcBef>
              <a:defRPr sz="900">
                <a:solidFill>
                  <a:srgbClr val="666666"/>
                </a:solidFill>
                <a:latin typeface="본고딕"/>
              </a:defRPr>
            </a:pPr>
            <a:r>
              <a:t>영향도: 상 | 확률: 중</a:t>
            </a:r>
          </a:p>
          <a:p>
            <a:pPr>
              <a:spcBef>
                <a:spcPts val="200"/>
              </a:spcBef>
              <a:defRPr sz="800">
                <a:solidFill>
                  <a:srgbClr val="000000"/>
                </a:solidFill>
                <a:latin typeface="본고딕"/>
              </a:defRPr>
            </a:pPr>
            <a:r>
              <a:t>대응: 주간 진척관리, Critical Path 모니터링</a:t>
            </a:r>
          </a:p>
          <a:p>
            <a:pPr>
              <a:spcBef>
                <a:spcPts val="100"/>
              </a:spcBef>
              <a:defRPr sz="800">
                <a:solidFill>
                  <a:srgbClr val="666666"/>
                </a:solidFill>
                <a:latin typeface="본고딕"/>
              </a:defRPr>
            </a:pPr>
            <a:r>
              <a:t>담당: PM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000" y="2700000"/>
            <a:ext cx="1620000" cy="79200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tIns="54000" rIns="90000" bIns="54000"/>
          <a:lstStyle/>
          <a:p>
            <a:pPr algn="ctr">
              <a:defRPr sz="1000" b="1">
                <a:solidFill>
                  <a:srgbClr val="F39C12"/>
                </a:solidFill>
                <a:latin typeface="본고딕"/>
              </a:defRPr>
            </a:pPr>
            <a:r>
              <a:t>데이터 마이그레이션</a:t>
            </a:r>
          </a:p>
          <a:p>
            <a:pPr>
              <a:spcBef>
                <a:spcPts val="200"/>
              </a:spcBef>
              <a:defRPr sz="900">
                <a:solidFill>
                  <a:srgbClr val="666666"/>
                </a:solidFill>
                <a:latin typeface="본고딕"/>
              </a:defRPr>
            </a:pPr>
            <a:r>
              <a:t>영향도: 상 | 확률: 중</a:t>
            </a:r>
          </a:p>
          <a:p>
            <a:pPr>
              <a:spcBef>
                <a:spcPts val="200"/>
              </a:spcBef>
              <a:defRPr sz="800">
                <a:solidFill>
                  <a:srgbClr val="000000"/>
                </a:solidFill>
                <a:latin typeface="본고딕"/>
              </a:defRPr>
            </a:pPr>
            <a:r>
              <a:t>대응: 사전 검증, 롤백 계획 수립</a:t>
            </a:r>
          </a:p>
          <a:p>
            <a:pPr>
              <a:spcBef>
                <a:spcPts val="100"/>
              </a:spcBef>
              <a:defRPr sz="800">
                <a:solidFill>
                  <a:srgbClr val="666666"/>
                </a:solidFill>
                <a:latin typeface="본고딕"/>
              </a:defRPr>
            </a:pPr>
            <a:r>
              <a:t>담당: DBA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34000" y="2700000"/>
            <a:ext cx="1620000" cy="79200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tIns="54000" rIns="90000" bIns="54000"/>
          <a:lstStyle/>
          <a:p>
            <a:pPr algn="ctr">
              <a:defRPr sz="1000" b="1">
                <a:solidFill>
                  <a:srgbClr val="F1C40F"/>
                </a:solidFill>
                <a:latin typeface="본고딕"/>
              </a:defRPr>
            </a:pPr>
            <a:r>
              <a:t>기술적 난제</a:t>
            </a:r>
          </a:p>
          <a:p>
            <a:pPr>
              <a:spcBef>
                <a:spcPts val="200"/>
              </a:spcBef>
              <a:defRPr sz="900">
                <a:solidFill>
                  <a:srgbClr val="666666"/>
                </a:solidFill>
                <a:latin typeface="본고딕"/>
              </a:defRPr>
            </a:pPr>
            <a:r>
              <a:t>영향도: 중 | 확률: 중</a:t>
            </a:r>
          </a:p>
          <a:p>
            <a:pPr>
              <a:spcBef>
                <a:spcPts val="200"/>
              </a:spcBef>
              <a:defRPr sz="800">
                <a:solidFill>
                  <a:srgbClr val="000000"/>
                </a:solidFill>
                <a:latin typeface="본고딕"/>
              </a:defRPr>
            </a:pPr>
            <a:r>
              <a:t>대응: PoC 선행, 외부 전문가 자문</a:t>
            </a:r>
          </a:p>
          <a:p>
            <a:pPr>
              <a:spcBef>
                <a:spcPts val="100"/>
              </a:spcBef>
              <a:defRPr sz="800">
                <a:solidFill>
                  <a:srgbClr val="666666"/>
                </a:solidFill>
                <a:latin typeface="본고딕"/>
              </a:defRPr>
            </a:pPr>
            <a:r>
              <a:t>담당: AA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0000" y="3600000"/>
            <a:ext cx="1620000" cy="79200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tIns="54000" rIns="90000" bIns="54000"/>
          <a:lstStyle/>
          <a:p>
            <a:pPr algn="ctr">
              <a:defRPr sz="1000" b="1">
                <a:solidFill>
                  <a:srgbClr val="F1C40F"/>
                </a:solidFill>
                <a:latin typeface="본고딕"/>
              </a:defRPr>
            </a:pPr>
            <a:r>
              <a:t>인력 이탈</a:t>
            </a:r>
          </a:p>
          <a:p>
            <a:pPr>
              <a:spcBef>
                <a:spcPts val="200"/>
              </a:spcBef>
              <a:defRPr sz="900">
                <a:solidFill>
                  <a:srgbClr val="666666"/>
                </a:solidFill>
                <a:latin typeface="본고딕"/>
              </a:defRPr>
            </a:pPr>
            <a:r>
              <a:t>영향도: 상 | 확률: 하</a:t>
            </a:r>
          </a:p>
          <a:p>
            <a:pPr>
              <a:spcBef>
                <a:spcPts val="200"/>
              </a:spcBef>
              <a:defRPr sz="800">
                <a:solidFill>
                  <a:srgbClr val="000000"/>
                </a:solidFill>
                <a:latin typeface="본고딕"/>
              </a:defRPr>
            </a:pPr>
            <a:r>
              <a:t>대응: 대체 인력 풀 확보, 기술 문서화 강화</a:t>
            </a:r>
          </a:p>
          <a:p>
            <a:pPr>
              <a:spcBef>
                <a:spcPts val="100"/>
              </a:spcBef>
              <a:defRPr sz="800">
                <a:solidFill>
                  <a:srgbClr val="666666"/>
                </a:solidFill>
                <a:latin typeface="본고딕"/>
              </a:defRPr>
            </a:pPr>
            <a:r>
              <a:t>담당: PM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029600" y="1980000"/>
            <a:ext cx="1800000" cy="16200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tIns="72000" rIns="90000" bIns="72000"/>
          <a:lstStyle/>
          <a:p>
            <a:pPr algn="ctr">
              <a:defRPr sz="1300" b="1">
                <a:solidFill>
                  <a:srgbClr val="4B6580"/>
                </a:solidFill>
                <a:latin typeface="본고딕"/>
              </a:defRPr>
            </a:pPr>
            <a:r>
              <a:t>일일 스탠드업</a:t>
            </a:r>
          </a:p>
          <a:p>
            <a:pPr algn="ctr">
              <a:spcBef>
                <a:spcPts val="400"/>
              </a:spcBef>
              <a:defRPr sz="1000">
                <a:solidFill>
                  <a:srgbClr val="666666"/>
                </a:solidFill>
                <a:latin typeface="본고딕"/>
              </a:defRPr>
            </a:pPr>
            <a:r>
              <a:t>매일 09:30</a:t>
            </a:r>
          </a:p>
          <a:p>
            <a:pPr algn="ctr">
              <a:spcBef>
                <a:spcPts val="200"/>
              </a:spcBef>
              <a:defRPr sz="900">
                <a:solidFill>
                  <a:srgbClr val="666666"/>
                </a:solidFill>
                <a:latin typeface="본고딕"/>
              </a:defRPr>
            </a:pPr>
            <a:r>
              <a:t>참여: 개발팀</a:t>
            </a:r>
          </a:p>
          <a:p>
            <a:pPr algn="ctr">
              <a:spcBef>
                <a:spcPts val="200"/>
              </a:spcBef>
              <a:defRPr sz="900">
                <a:solidFill>
                  <a:srgbClr val="666666"/>
                </a:solidFill>
                <a:latin typeface="본고딕"/>
              </a:defRPr>
            </a:pPr>
            <a:r>
              <a:t>진행 현황, 블로커 공유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5600" y="1980000"/>
            <a:ext cx="1800000" cy="16200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tIns="72000" rIns="90000" bIns="72000"/>
          <a:lstStyle/>
          <a:p>
            <a:pPr algn="ctr">
              <a:defRPr sz="1300" b="1">
                <a:solidFill>
                  <a:srgbClr val="002452"/>
                </a:solidFill>
                <a:latin typeface="본고딕"/>
              </a:defRPr>
            </a:pPr>
            <a:r>
              <a:t>주간보고</a:t>
            </a:r>
          </a:p>
          <a:p>
            <a:pPr algn="ctr">
              <a:spcBef>
                <a:spcPts val="400"/>
              </a:spcBef>
              <a:defRPr sz="1000">
                <a:solidFill>
                  <a:srgbClr val="666666"/>
                </a:solidFill>
                <a:latin typeface="본고딕"/>
              </a:defRPr>
            </a:pPr>
            <a:r>
              <a:t>매주 금 14:00</a:t>
            </a:r>
          </a:p>
          <a:p>
            <a:pPr algn="ctr">
              <a:spcBef>
                <a:spcPts val="200"/>
              </a:spcBef>
              <a:defRPr sz="900">
                <a:solidFill>
                  <a:srgbClr val="666666"/>
                </a:solidFill>
                <a:latin typeface="본고딕"/>
              </a:defRPr>
            </a:pPr>
            <a:r>
              <a:t>참여: PM, 발주PM</a:t>
            </a:r>
          </a:p>
          <a:p>
            <a:pPr algn="ctr">
              <a:spcBef>
                <a:spcPts val="200"/>
              </a:spcBef>
              <a:defRPr sz="900">
                <a:solidFill>
                  <a:srgbClr val="666666"/>
                </a:solidFill>
                <a:latin typeface="본고딕"/>
              </a:defRPr>
            </a:pPr>
            <a:r>
              <a:t>주간 실적/계획, 이슈 공유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61600" y="1980000"/>
            <a:ext cx="1800000" cy="16200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tIns="72000" rIns="90000" bIns="72000"/>
          <a:lstStyle/>
          <a:p>
            <a:pPr algn="ctr">
              <a:defRPr sz="1300" b="1">
                <a:solidFill>
                  <a:srgbClr val="E9B86E"/>
                </a:solidFill>
                <a:latin typeface="본고딕"/>
              </a:defRPr>
            </a:pPr>
            <a:r>
              <a:t>스프린트 리뷰</a:t>
            </a:r>
          </a:p>
          <a:p>
            <a:pPr algn="ctr">
              <a:spcBef>
                <a:spcPts val="400"/>
              </a:spcBef>
              <a:defRPr sz="1000">
                <a:solidFill>
                  <a:srgbClr val="666666"/>
                </a:solidFill>
                <a:latin typeface="본고딕"/>
              </a:defRPr>
            </a:pPr>
            <a:r>
              <a:t>격주 금요일</a:t>
            </a:r>
          </a:p>
          <a:p>
            <a:pPr algn="ctr">
              <a:spcBef>
                <a:spcPts val="200"/>
              </a:spcBef>
              <a:defRPr sz="900">
                <a:solidFill>
                  <a:srgbClr val="666666"/>
                </a:solidFill>
                <a:latin typeface="본고딕"/>
              </a:defRPr>
            </a:pPr>
            <a:r>
              <a:t>참여: 전체</a:t>
            </a:r>
          </a:p>
          <a:p>
            <a:pPr algn="ctr">
              <a:spcBef>
                <a:spcPts val="200"/>
              </a:spcBef>
              <a:defRPr sz="900">
                <a:solidFill>
                  <a:srgbClr val="666666"/>
                </a:solidFill>
                <a:latin typeface="본고딕"/>
              </a:defRPr>
            </a:pPr>
            <a:r>
              <a:t>데모, 피드백 수렴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77600" y="1980000"/>
            <a:ext cx="1800000" cy="16200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tIns="72000" rIns="90000" bIns="72000"/>
          <a:lstStyle/>
          <a:p>
            <a:pPr algn="ctr">
              <a:defRPr sz="1300" b="1">
                <a:solidFill>
                  <a:srgbClr val="C51F2A"/>
                </a:solidFill>
                <a:latin typeface="본고딕"/>
              </a:defRPr>
            </a:pPr>
            <a:r>
              <a:t>월간보고</a:t>
            </a:r>
          </a:p>
          <a:p>
            <a:pPr algn="ctr">
              <a:spcBef>
                <a:spcPts val="400"/>
              </a:spcBef>
              <a:defRPr sz="1000">
                <a:solidFill>
                  <a:srgbClr val="666666"/>
                </a:solidFill>
                <a:latin typeface="본고딕"/>
              </a:defRPr>
            </a:pPr>
            <a:r>
              <a:t>매월 말</a:t>
            </a:r>
          </a:p>
          <a:p>
            <a:pPr algn="ctr">
              <a:spcBef>
                <a:spcPts val="200"/>
              </a:spcBef>
              <a:defRPr sz="900">
                <a:solidFill>
                  <a:srgbClr val="666666"/>
                </a:solidFill>
                <a:latin typeface="본고딕"/>
              </a:defRPr>
            </a:pPr>
            <a:r>
              <a:t>참여: 경영진</a:t>
            </a:r>
          </a:p>
          <a:p>
            <a:pPr algn="ctr">
              <a:spcBef>
                <a:spcPts val="200"/>
              </a:spcBef>
              <a:defRPr sz="900">
                <a:solidFill>
                  <a:srgbClr val="666666"/>
                </a:solidFill>
                <a:latin typeface="본고딕"/>
              </a:defRPr>
            </a:pPr>
            <a:r>
              <a:t>마일스톤 점검, 리스크 보고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5600" y="1800000"/>
            <a:ext cx="2520000" cy="10800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tIns="72000" rIns="90000" bIns="72000"/>
          <a:lstStyle/>
          <a:p>
            <a:pPr algn="ctr">
              <a:defRPr sz="1300" b="1">
                <a:solidFill>
                  <a:srgbClr val="4B6580"/>
                </a:solidFill>
                <a:latin typeface="본고딕"/>
              </a:defRPr>
            </a:pPr>
            <a:r>
              <a:t>사용자 교육</a:t>
            </a:r>
          </a:p>
          <a:p>
            <a:pPr algn="ctr">
              <a:spcBef>
                <a:spcPts val="400"/>
              </a:spcBef>
              <a:defRPr sz="1000">
                <a:solidFill>
                  <a:srgbClr val="000000"/>
                </a:solidFill>
                <a:latin typeface="본고딕"/>
              </a:defRPr>
            </a:pPr>
            <a:r>
              <a:t>대상: 현업 담당자 30명</a:t>
            </a:r>
          </a:p>
          <a:p>
            <a:pPr algn="ctr">
              <a:spcBef>
                <a:spcPts val="200"/>
              </a:spcBef>
              <a:defRPr sz="900">
                <a:solidFill>
                  <a:srgbClr val="666666"/>
                </a:solidFill>
                <a:latin typeface="본고딕"/>
              </a:defRPr>
            </a:pPr>
            <a:r>
              <a:t>시기: 오픈 2주 전</a:t>
            </a:r>
          </a:p>
          <a:p>
            <a:pPr algn="ctr">
              <a:spcBef>
                <a:spcPts val="200"/>
              </a:spcBef>
              <a:defRPr sz="900">
                <a:solidFill>
                  <a:srgbClr val="666666"/>
                </a:solidFill>
                <a:latin typeface="본고딕"/>
              </a:defRPr>
            </a:pPr>
            <a:r>
              <a:t>시스템 주요 기능 및 사용법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3600" y="1800000"/>
            <a:ext cx="2520000" cy="10800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tIns="72000" rIns="90000" bIns="72000"/>
          <a:lstStyle/>
          <a:p>
            <a:pPr algn="ctr">
              <a:defRPr sz="1300" b="1">
                <a:solidFill>
                  <a:srgbClr val="002452"/>
                </a:solidFill>
                <a:latin typeface="본고딕"/>
              </a:defRPr>
            </a:pPr>
            <a:r>
              <a:t>운영자 교육</a:t>
            </a:r>
          </a:p>
          <a:p>
            <a:pPr algn="ctr">
              <a:spcBef>
                <a:spcPts val="400"/>
              </a:spcBef>
              <a:defRPr sz="1000">
                <a:solidFill>
                  <a:srgbClr val="000000"/>
                </a:solidFill>
                <a:latin typeface="본고딕"/>
              </a:defRPr>
            </a:pPr>
            <a:r>
              <a:t>대상: IT 운영팀 5명</a:t>
            </a:r>
          </a:p>
          <a:p>
            <a:pPr algn="ctr">
              <a:spcBef>
                <a:spcPts val="200"/>
              </a:spcBef>
              <a:defRPr sz="900">
                <a:solidFill>
                  <a:srgbClr val="666666"/>
                </a:solidFill>
                <a:latin typeface="본고딕"/>
              </a:defRPr>
            </a:pPr>
            <a:r>
              <a:t>시기: 오픈 3주 전</a:t>
            </a:r>
          </a:p>
          <a:p>
            <a:pPr algn="ctr">
              <a:spcBef>
                <a:spcPts val="200"/>
              </a:spcBef>
              <a:defRPr sz="900">
                <a:solidFill>
                  <a:srgbClr val="666666"/>
                </a:solidFill>
                <a:latin typeface="본고딕"/>
              </a:defRPr>
            </a:pPr>
            <a:r>
              <a:t>시스템 구성, 백업/복구, 장애대응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01600" y="1800000"/>
            <a:ext cx="2520000" cy="10800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tIns="72000" rIns="90000" bIns="72000"/>
          <a:lstStyle/>
          <a:p>
            <a:pPr algn="ctr">
              <a:defRPr sz="1300" b="1">
                <a:solidFill>
                  <a:srgbClr val="E9B86E"/>
                </a:solidFill>
                <a:latin typeface="본고딕"/>
              </a:defRPr>
            </a:pPr>
            <a:r>
              <a:t>관리자 교육</a:t>
            </a:r>
          </a:p>
          <a:p>
            <a:pPr algn="ctr">
              <a:spcBef>
                <a:spcPts val="400"/>
              </a:spcBef>
              <a:defRPr sz="1000">
                <a:solidFill>
                  <a:srgbClr val="000000"/>
                </a:solidFill>
                <a:latin typeface="본고딕"/>
              </a:defRPr>
            </a:pPr>
            <a:r>
              <a:t>대상: 관리자 10명</a:t>
            </a:r>
          </a:p>
          <a:p>
            <a:pPr algn="ctr">
              <a:spcBef>
                <a:spcPts val="200"/>
              </a:spcBef>
              <a:defRPr sz="900">
                <a:solidFill>
                  <a:srgbClr val="666666"/>
                </a:solidFill>
                <a:latin typeface="본고딕"/>
              </a:defRPr>
            </a:pPr>
            <a:r>
              <a:t>시기: 오픈 1주 전</a:t>
            </a:r>
          </a:p>
          <a:p>
            <a:pPr algn="ctr">
              <a:spcBef>
                <a:spcPts val="200"/>
              </a:spcBef>
              <a:defRPr sz="900">
                <a:solidFill>
                  <a:srgbClr val="666666"/>
                </a:solidFill>
                <a:latin typeface="본고딕"/>
              </a:defRPr>
            </a:pPr>
            <a:r>
              <a:t>권한 관리, 리포트 활용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5600" y="3240000"/>
            <a:ext cx="8136000" cy="7200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tIns="108000" rIns="180000" bIns="108000"/>
          <a:lstStyle/>
          <a:p>
            <a:pPr algn="ctr">
              <a:defRPr sz="1200" b="1">
                <a:solidFill>
                  <a:srgbClr val="FFFFFF"/>
                </a:solidFill>
                <a:latin typeface="본고딕"/>
              </a:defRPr>
            </a:pPr>
            <a:r>
              <a:t>기술이전 계획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본고딕"/>
              </a:defRPr>
            </a:pPr>
            <a:r>
              <a:t>이전 대상: 시스템 소스코드, 설계 산출물, 운영 매뉴얼 일체</a:t>
            </a:r>
          </a:p>
          <a:p>
            <a:pPr>
              <a:spcBef>
                <a:spcPts val="300"/>
              </a:spcBef>
              <a:defRPr sz="1000">
                <a:solidFill>
                  <a:srgbClr val="FFFFFF"/>
                </a:solidFill>
                <a:latin typeface="본고딕"/>
              </a:defRPr>
            </a:pPr>
            <a:r>
              <a:t>방법: 담당자 1:1 멘토링 및 인계인수서 작성 | 지원: 오픈 후 3개월 안정화 지원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69600" y="1800000"/>
            <a:ext cx="1980000" cy="1620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tIns="72000" rIns="90000" bIns="72000"/>
          <a:lstStyle/>
          <a:p>
            <a:pPr algn="ctr">
              <a:defRPr sz="1300" b="1">
                <a:solidFill>
                  <a:srgbClr val="002452"/>
                </a:solidFill>
                <a:latin typeface="본고딕"/>
              </a:defRPr>
            </a:pPr>
            <a:r>
              <a:t>환경</a:t>
            </a:r>
          </a:p>
          <a:p>
            <a:pPr>
              <a:spcBef>
                <a:spcPts val="3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☐ 프로젝트 룸 (10석 규모)</a:t>
            </a:r>
          </a:p>
          <a:p>
            <a:pPr>
              <a:spcBef>
                <a:spcPts val="3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☐ 네트워크(VPN) 접근권한</a:t>
            </a:r>
          </a:p>
          <a:p>
            <a:pPr>
              <a:spcBef>
                <a:spcPts val="3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☐ 출입증 발급</a:t>
            </a:r>
          </a:p>
          <a:p>
            <a:pPr>
              <a:spcBef>
                <a:spcPts val="400"/>
              </a:spcBef>
              <a:defRPr sz="900">
                <a:solidFill>
                  <a:srgbClr val="002452"/>
                </a:solidFill>
                <a:latin typeface="본고딕"/>
              </a:defRPr>
            </a:pPr>
            <a:r>
              <a:t>시기: 착수 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65600" y="1800000"/>
            <a:ext cx="1980000" cy="1620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tIns="72000" rIns="90000" bIns="72000"/>
          <a:lstStyle/>
          <a:p>
            <a:pPr algn="ctr">
              <a:defRPr sz="1300" b="1">
                <a:solidFill>
                  <a:srgbClr val="4B6580"/>
                </a:solidFill>
                <a:latin typeface="본고딕"/>
              </a:defRPr>
            </a:pPr>
            <a:r>
              <a:t>데이터</a:t>
            </a:r>
          </a:p>
          <a:p>
            <a:pPr>
              <a:spcBef>
                <a:spcPts val="3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☐ 테스트용 샘플 데이터 제공</a:t>
            </a:r>
          </a:p>
          <a:p>
            <a:pPr>
              <a:spcBef>
                <a:spcPts val="3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☐ 개인정보 비식별화 필수</a:t>
            </a:r>
          </a:p>
          <a:p>
            <a:pPr>
              <a:spcBef>
                <a:spcPts val="400"/>
              </a:spcBef>
              <a:defRPr sz="900">
                <a:solidFill>
                  <a:srgbClr val="4B6580"/>
                </a:solidFill>
                <a:latin typeface="본고딕"/>
              </a:defRPr>
            </a:pPr>
            <a:r>
              <a:t>시기: 설계/개발 단계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61600" y="1800000"/>
            <a:ext cx="1980000" cy="1620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tIns="72000" rIns="90000" bIns="72000"/>
          <a:lstStyle/>
          <a:p>
            <a:pPr algn="ctr">
              <a:defRPr sz="1300" b="1">
                <a:solidFill>
                  <a:srgbClr val="E9B86E"/>
                </a:solidFill>
                <a:latin typeface="본고딕"/>
              </a:defRPr>
            </a:pPr>
            <a:r>
              <a:t>인프라</a:t>
            </a:r>
          </a:p>
          <a:p>
            <a:pPr>
              <a:spcBef>
                <a:spcPts val="3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☐ AWS 계정 및 권한 부여</a:t>
            </a:r>
          </a:p>
          <a:p>
            <a:pPr>
              <a:spcBef>
                <a:spcPts val="3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☐ 개발/스테이징/운영 3개 환경</a:t>
            </a:r>
          </a:p>
          <a:p>
            <a:pPr>
              <a:spcBef>
                <a:spcPts val="400"/>
              </a:spcBef>
              <a:defRPr sz="900">
                <a:solidFill>
                  <a:srgbClr val="E9B86E"/>
                </a:solidFill>
                <a:latin typeface="본고딕"/>
              </a:defRPr>
            </a:pPr>
            <a:r>
              <a:t>시기: 착수 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57600" y="1800000"/>
            <a:ext cx="1980000" cy="1620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tIns="72000" rIns="90000" bIns="72000"/>
          <a:lstStyle/>
          <a:p>
            <a:pPr algn="ctr">
              <a:defRPr sz="1300" b="1">
                <a:solidFill>
                  <a:srgbClr val="2E7D32"/>
                </a:solidFill>
                <a:latin typeface="본고딕"/>
              </a:defRPr>
            </a:pPr>
            <a:r>
              <a:t>참여</a:t>
            </a:r>
          </a:p>
          <a:p>
            <a:pPr>
              <a:spcBef>
                <a:spcPts val="3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☐ 요구사항 인터뷰 지원</a:t>
            </a:r>
          </a:p>
          <a:p>
            <a:pPr>
              <a:spcBef>
                <a:spcPts val="300"/>
              </a:spcBef>
              <a:defRPr sz="900">
                <a:solidFill>
                  <a:srgbClr val="000000"/>
                </a:solidFill>
                <a:latin typeface="본고딕"/>
              </a:defRPr>
            </a:pPr>
            <a:r>
              <a:t>☐ UAT 테스트 참여</a:t>
            </a:r>
          </a:p>
          <a:p>
            <a:pPr>
              <a:spcBef>
                <a:spcPts val="400"/>
              </a:spcBef>
              <a:defRPr sz="900">
                <a:solidFill>
                  <a:srgbClr val="2E7D32"/>
                </a:solidFill>
                <a:latin typeface="본고딕"/>
              </a:defRPr>
            </a:pPr>
            <a:r>
              <a:t>시기: 해당 단계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2452"/>
                </a:solidFill>
              </a:defRPr>
            </a:pPr>
            <a:r>
              <a:t>감사합니다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/>
        <a:ea typeface="본고딕 Medium"/>
        <a:cs typeface=""/>
      </a:majorFont>
      <a:minorFont>
        <a:latin typeface="본고딕 Normal"/>
        <a:ea typeface="본고딕 Normal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7828</TotalTime>
  <Words>50</Words>
  <Application>Microsoft Office PowerPoint</Application>
  <PresentationFormat>A4 용지(210x297mm)</PresentationFormat>
  <Paragraphs>26</Paragraphs>
  <Slides>5</Slides>
  <Notes>5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맑은 고딕</vt:lpstr>
      <vt:lpstr>본고딕 Bold</vt:lpstr>
      <vt:lpstr>본고딕 Medium</vt:lpstr>
      <vt:lpstr>본고딕 Normal</vt:lpstr>
      <vt:lpstr>Arial</vt:lpstr>
      <vt:lpstr>1_Office 테마</vt:lpstr>
      <vt:lpstr>think-cell 슬라이드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동국제강그룹  문서 템플릿 통합 계획안</dc:title>
  <dc:creator>heeseung.jang</dc:creator>
  <cp:lastModifiedBy>Microsoft 계정</cp:lastModifiedBy>
  <cp:revision>299</cp:revision>
  <cp:lastPrinted>2025-07-23T03:28:55Z</cp:lastPrinted>
  <dcterms:created xsi:type="dcterms:W3CDTF">2019-03-13T02:13:57Z</dcterms:created>
  <dcterms:modified xsi:type="dcterms:W3CDTF">2025-12-23T23:46:14Z</dcterms:modified>
</cp:coreProperties>
</file>