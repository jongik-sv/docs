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rawings/vmlDrawing1.vml" ContentType="application/vnd.openxmlformats-officedocument.vmlDrawing"/>
  <Override PartName="/ppt/drawings/vmlDrawing2.vml" ContentType="application/vnd.openxmlformats-officedocument.vmlDrawing"/>
  <Override PartName="/ppt/drawings/vmlDrawing3.vml" ContentType="application/vnd.openxmlformats-officedocument.vmlDrawing"/>
  <Override PartName="/ppt/drawings/vmlDrawing4.vml" ContentType="application/vnd.openxmlformats-officedocument.vmlDrawing"/>
  <Override PartName="/ppt/drawings/vmlDrawing5.vml" ContentType="application/vnd.openxmlformats-officedocument.vmlDrawing"/>
  <Override PartName="/ppt/drawings/vmlDrawing6.vml" ContentType="application/vnd.openxmlformats-officedocument.vmlDrawing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7"/>
  </p:notesMasterIdLst>
  <p:handoutMasterIdLst>
    <p:handoutMasterId r:id="rId8"/>
  </p:handoutMasterIdLst>
  <p:sldIdLst>
    <p:sldId id="256" r:id="rId6"/>
    <p:sldId id="257" r:id="rId5"/>
    <p:sldId id="258" r:id="rId4"/>
    <p:sldId id="259" r:id="rId3"/>
    <p:sldId id="260" r:id="rId2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</p:sldIdLst>
  <p:sldSz cx="9906000" cy="6858000" type="A4"/>
  <p:notesSz cx="6735763" cy="9866313"/>
  <p:custDataLst>
    <p:tags r:id="rId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452"/>
    <a:srgbClr val="8BA2BB"/>
    <a:srgbClr val="FBEEEA"/>
    <a:srgbClr val="F6EEE0"/>
    <a:srgbClr val="00734A"/>
    <a:srgbClr val="D55633"/>
    <a:srgbClr val="B6B6B6"/>
    <a:srgbClr val="B7D0D4"/>
    <a:srgbClr val="757575"/>
    <a:srgbClr val="E9B8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72" autoAdjust="0"/>
    <p:restoredTop sz="96323" autoAdjust="0"/>
  </p:normalViewPr>
  <p:slideViewPr>
    <p:cSldViewPr snapToGrid="0">
      <p:cViewPr varScale="1">
        <p:scale>
          <a:sx n="251" d="100"/>
          <a:sy n="251" d="100"/>
        </p:scale>
        <p:origin x="2334" y="210"/>
      </p:cViewPr>
      <p:guideLst/>
    </p:cSldViewPr>
  </p:slideViewPr>
  <p:outlineViewPr>
    <p:cViewPr>
      <p:scale>
        <a:sx n="33" d="100"/>
        <a:sy n="33" d="100"/>
      </p:scale>
      <p:origin x="0" y="-2319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24690"/>
    </p:cViewPr>
  </p:sorterViewPr>
  <p:notesViewPr>
    <p:cSldViewPr snapToGrid="0">
      <p:cViewPr varScale="1">
        <p:scale>
          <a:sx n="183" d="100"/>
          <a:sy n="183" d="100"/>
        </p:scale>
        <p:origin x="7602" y="15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5.xml"/><Relationship Id="rId3" Type="http://schemas.openxmlformats.org/officeDocument/2006/relationships/slide" Target="slides/slide4.xml"/><Relationship Id="rId4" Type="http://schemas.openxmlformats.org/officeDocument/2006/relationships/slide" Target="slides/slide3.xml"/><Relationship Id="rId5" Type="http://schemas.openxmlformats.org/officeDocument/2006/relationships/slide" Target="slides/slide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handoutMaster" Target="handoutMasters/handoutMaster1.xml"/><Relationship Id="rId9" Type="http://schemas.openxmlformats.org/officeDocument/2006/relationships/tags" Target="tags/tag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565" cy="493868"/>
          </a:xfrm>
          <a:prstGeom prst="rect">
            <a:avLst/>
          </a:prstGeom>
        </p:spPr>
        <p:txBody>
          <a:bodyPr vert="horz" lIns="90763" tIns="45382" rIns="90763" bIns="4538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14626" y="0"/>
            <a:ext cx="2919565" cy="493868"/>
          </a:xfrm>
          <a:prstGeom prst="rect">
            <a:avLst/>
          </a:prstGeom>
        </p:spPr>
        <p:txBody>
          <a:bodyPr vert="horz" lIns="90763" tIns="45382" rIns="90763" bIns="45382" rtlCol="0"/>
          <a:lstStyle>
            <a:lvl1pPr algn="r">
              <a:defRPr sz="1200"/>
            </a:lvl1pPr>
          </a:lstStyle>
          <a:p>
            <a:fld id="{D2E4BD13-F898-49E6-A39C-3EB0AB04F83F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372445"/>
            <a:ext cx="2919565" cy="493868"/>
          </a:xfrm>
          <a:prstGeom prst="rect">
            <a:avLst/>
          </a:prstGeom>
        </p:spPr>
        <p:txBody>
          <a:bodyPr vert="horz" lIns="90763" tIns="45382" rIns="90763" bIns="4538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14626" y="9372445"/>
            <a:ext cx="2919565" cy="493868"/>
          </a:xfrm>
          <a:prstGeom prst="rect">
            <a:avLst/>
          </a:prstGeom>
        </p:spPr>
        <p:txBody>
          <a:bodyPr vert="horz" lIns="90763" tIns="45382" rIns="90763" bIns="45382" rtlCol="0" anchor="b"/>
          <a:lstStyle>
            <a:lvl1pPr algn="r">
              <a:defRPr sz="1200"/>
            </a:lvl1pPr>
          </a:lstStyle>
          <a:p>
            <a:fld id="{3E2ABDA5-4518-4283-841F-7522E9446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8672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18830" cy="495029"/>
          </a:xfrm>
          <a:prstGeom prst="rect">
            <a:avLst/>
          </a:prstGeom>
        </p:spPr>
        <p:txBody>
          <a:bodyPr vert="horz" lIns="94855" tIns="47427" rIns="94855" bIns="47427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5" y="1"/>
            <a:ext cx="2918830" cy="495029"/>
          </a:xfrm>
          <a:prstGeom prst="rect">
            <a:avLst/>
          </a:prstGeom>
        </p:spPr>
        <p:txBody>
          <a:bodyPr vert="horz" lIns="94855" tIns="47427" rIns="94855" bIns="47427" rtlCol="0"/>
          <a:lstStyle>
            <a:lvl1pPr algn="r">
              <a:defRPr sz="1300"/>
            </a:lvl1pPr>
          </a:lstStyle>
          <a:p>
            <a:fld id="{C4F66D35-9081-4BC0-9692-D9FCDB08226D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63613" y="1233488"/>
            <a:ext cx="4808537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855" tIns="47427" rIns="94855" bIns="47427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4855" tIns="47427" rIns="94855" bIns="47427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371286"/>
            <a:ext cx="2918830" cy="495028"/>
          </a:xfrm>
          <a:prstGeom prst="rect">
            <a:avLst/>
          </a:prstGeom>
        </p:spPr>
        <p:txBody>
          <a:bodyPr vert="horz" lIns="94855" tIns="47427" rIns="94855" bIns="47427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5" y="9371286"/>
            <a:ext cx="2918830" cy="495028"/>
          </a:xfrm>
          <a:prstGeom prst="rect">
            <a:avLst/>
          </a:prstGeom>
        </p:spPr>
        <p:txBody>
          <a:bodyPr vert="horz" lIns="94855" tIns="47427" rIns="94855" bIns="47427" rtlCol="0" anchor="b"/>
          <a:lstStyle>
            <a:lvl1pPr algn="r">
              <a:defRPr sz="1300"/>
            </a:lvl1pPr>
          </a:lstStyle>
          <a:p>
            <a:fld id="{EC363959-1759-4AF2-BCD1-A824430167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975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.vml"/><Relationship Id="rId2" Type="http://schemas.openxmlformats.org/officeDocument/2006/relationships/tags" Target="../tags/tag3.xml"/><Relationship Id="rId3" Type="http://schemas.openxmlformats.org/officeDocument/2006/relationships/tags" Target="../tags/tag4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2.bin"/><Relationship Id="rId7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.vml"/><Relationship Id="rId2" Type="http://schemas.openxmlformats.org/officeDocument/2006/relationships/tags" Target="../tags/tag5.xml"/><Relationship Id="rId3" Type="http://schemas.openxmlformats.org/officeDocument/2006/relationships/tags" Target="../tags/tag6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3.bin"/><Relationship Id="rId7" Type="http://schemas.openxmlformats.org/officeDocument/2006/relationships/image" Target="../media/image3.png"/><Relationship Id="rId8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4.vml"/><Relationship Id="rId2" Type="http://schemas.openxmlformats.org/officeDocument/2006/relationships/tags" Target="../tags/tag7.xml"/><Relationship Id="rId3" Type="http://schemas.openxmlformats.org/officeDocument/2006/relationships/tags" Target="../tags/tag8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4.bin"/><Relationship Id="rId7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5.vml"/><Relationship Id="rId2" Type="http://schemas.openxmlformats.org/officeDocument/2006/relationships/tags" Target="../tags/tag9.xml"/><Relationship Id="rId3" Type="http://schemas.openxmlformats.org/officeDocument/2006/relationships/tags" Target="../tags/tag10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5.bin"/><Relationship Id="rId7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6.v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6.bin"/><Relationship Id="rId7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_Big K 버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개체 8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4200496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202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직사각형 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3200" b="0" i="0" baseline="0" dirty="0">
              <a:latin typeface="본고딕 Bold" panose="020B0800000000000000" pitchFamily="34" charset="-127"/>
              <a:ea typeface="본고딕 Bold" panose="020B0800000000000000" pitchFamily="34" charset="-127"/>
              <a:cs typeface="+mj-cs"/>
              <a:sym typeface="본고딕 Bold" panose="020B0800000000000000" pitchFamily="34" charset="-127"/>
            </a:endParaRPr>
          </a:p>
        </p:txBody>
      </p:sp>
      <p:sp>
        <p:nvSpPr>
          <p:cNvPr id="27" name="텍스트 개체 틀 26"/>
          <p:cNvSpPr>
            <a:spLocks noGrp="1"/>
          </p:cNvSpPr>
          <p:nvPr>
            <p:ph type="body" sz="quarter" idx="13" hasCustomPrompt="1"/>
          </p:nvPr>
        </p:nvSpPr>
        <p:spPr>
          <a:xfrm>
            <a:off x="442831" y="3673264"/>
            <a:ext cx="5364061" cy="248727"/>
          </a:xfrm>
        </p:spPr>
        <p:txBody>
          <a:bodyPr>
            <a:noAutofit/>
          </a:bodyPr>
          <a:lstStyle>
            <a:lvl1pPr marL="0" indent="0">
              <a:buNone/>
              <a:defRPr sz="1400" spc="-20" baseline="0"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r>
              <a:rPr lang="ko-KR" altLang="en-US" dirty="0" smtClean="0"/>
              <a:t>동국홀딩스 전략팀 </a:t>
            </a:r>
            <a:r>
              <a:rPr lang="en-US" altLang="ko-KR" dirty="0" smtClean="0"/>
              <a:t>I 2025.07.23</a:t>
            </a:r>
            <a:endParaRPr lang="ko-KR" altLang="en-US" dirty="0"/>
          </a:p>
        </p:txBody>
      </p:sp>
      <p:sp>
        <p:nvSpPr>
          <p:cNvPr id="10" name="직사각형 9"/>
          <p:cNvSpPr/>
          <p:nvPr userDrawn="1"/>
        </p:nvSpPr>
        <p:spPr>
          <a:xfrm>
            <a:off x="0" y="-2874"/>
            <a:ext cx="9906000" cy="36000"/>
          </a:xfrm>
          <a:prstGeom prst="rect">
            <a:avLst/>
          </a:prstGeom>
          <a:gradFill>
            <a:gsLst>
              <a:gs pos="38000">
                <a:srgbClr val="002452"/>
              </a:gs>
              <a:gs pos="0">
                <a:srgbClr val="C51F2A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2" name="그룹 11"/>
          <p:cNvGrpSpPr/>
          <p:nvPr userDrawn="1"/>
        </p:nvGrpSpPr>
        <p:grpSpPr>
          <a:xfrm>
            <a:off x="6610294" y="2"/>
            <a:ext cx="3295706" cy="6278571"/>
            <a:chOff x="6610294" y="2"/>
            <a:chExt cx="3295706" cy="6278571"/>
          </a:xfrm>
          <a:solidFill>
            <a:schemeClr val="tx2">
              <a:alpha val="5000"/>
            </a:schemeClr>
          </a:solidFill>
        </p:grpSpPr>
        <p:sp>
          <p:nvSpPr>
            <p:cNvPr id="13" name="직사각형 6"/>
            <p:cNvSpPr/>
            <p:nvPr/>
          </p:nvSpPr>
          <p:spPr>
            <a:xfrm rot="2515217">
              <a:off x="6610294" y="3164258"/>
              <a:ext cx="1057133" cy="3114315"/>
            </a:xfrm>
            <a:custGeom>
              <a:avLst/>
              <a:gdLst>
                <a:gd name="connsiteX0" fmla="*/ 0 w 1028870"/>
                <a:gd name="connsiteY0" fmla="*/ 0 h 2292585"/>
                <a:gd name="connsiteX1" fmla="*/ 1028870 w 1028870"/>
                <a:gd name="connsiteY1" fmla="*/ 0 h 2292585"/>
                <a:gd name="connsiteX2" fmla="*/ 1028870 w 1028870"/>
                <a:gd name="connsiteY2" fmla="*/ 2292585 h 2292585"/>
                <a:gd name="connsiteX3" fmla="*/ 0 w 1028870"/>
                <a:gd name="connsiteY3" fmla="*/ 2292585 h 2292585"/>
                <a:gd name="connsiteX4" fmla="*/ 0 w 1028870"/>
                <a:gd name="connsiteY4" fmla="*/ 0 h 2292585"/>
                <a:gd name="connsiteX0" fmla="*/ 0 w 1028870"/>
                <a:gd name="connsiteY0" fmla="*/ 0 h 2292585"/>
                <a:gd name="connsiteX1" fmla="*/ 915610 w 1028870"/>
                <a:gd name="connsiteY1" fmla="*/ 287310 h 2292585"/>
                <a:gd name="connsiteX2" fmla="*/ 1028870 w 1028870"/>
                <a:gd name="connsiteY2" fmla="*/ 2292585 h 2292585"/>
                <a:gd name="connsiteX3" fmla="*/ 0 w 1028870"/>
                <a:gd name="connsiteY3" fmla="*/ 2292585 h 2292585"/>
                <a:gd name="connsiteX4" fmla="*/ 0 w 1028870"/>
                <a:gd name="connsiteY4" fmla="*/ 0 h 2292585"/>
                <a:gd name="connsiteX0" fmla="*/ 0 w 1028870"/>
                <a:gd name="connsiteY0" fmla="*/ 0 h 2292585"/>
                <a:gd name="connsiteX1" fmla="*/ 1020260 w 1028870"/>
                <a:gd name="connsiteY1" fmla="*/ 97338 h 2292585"/>
                <a:gd name="connsiteX2" fmla="*/ 1028870 w 1028870"/>
                <a:gd name="connsiteY2" fmla="*/ 2292585 h 2292585"/>
                <a:gd name="connsiteX3" fmla="*/ 0 w 1028870"/>
                <a:gd name="connsiteY3" fmla="*/ 2292585 h 2292585"/>
                <a:gd name="connsiteX4" fmla="*/ 0 w 1028870"/>
                <a:gd name="connsiteY4" fmla="*/ 0 h 2292585"/>
                <a:gd name="connsiteX0" fmla="*/ 251001 w 1028870"/>
                <a:gd name="connsiteY0" fmla="*/ 189336 h 2195247"/>
                <a:gd name="connsiteX1" fmla="*/ 1020260 w 1028870"/>
                <a:gd name="connsiteY1" fmla="*/ 0 h 2195247"/>
                <a:gd name="connsiteX2" fmla="*/ 1028870 w 1028870"/>
                <a:gd name="connsiteY2" fmla="*/ 2195247 h 2195247"/>
                <a:gd name="connsiteX3" fmla="*/ 0 w 1028870"/>
                <a:gd name="connsiteY3" fmla="*/ 2195247 h 2195247"/>
                <a:gd name="connsiteX4" fmla="*/ 251001 w 1028870"/>
                <a:gd name="connsiteY4" fmla="*/ 189336 h 2195247"/>
                <a:gd name="connsiteX0" fmla="*/ 0 w 1038054"/>
                <a:gd name="connsiteY0" fmla="*/ 0 h 2309942"/>
                <a:gd name="connsiteX1" fmla="*/ 1029444 w 1038054"/>
                <a:gd name="connsiteY1" fmla="*/ 114695 h 2309942"/>
                <a:gd name="connsiteX2" fmla="*/ 1038054 w 1038054"/>
                <a:gd name="connsiteY2" fmla="*/ 2309942 h 2309942"/>
                <a:gd name="connsiteX3" fmla="*/ 9184 w 1038054"/>
                <a:gd name="connsiteY3" fmla="*/ 2309942 h 2309942"/>
                <a:gd name="connsiteX4" fmla="*/ 0 w 1038054"/>
                <a:gd name="connsiteY4" fmla="*/ 0 h 2309942"/>
                <a:gd name="connsiteX0" fmla="*/ 1104 w 1039158"/>
                <a:gd name="connsiteY0" fmla="*/ 0 h 3112082"/>
                <a:gd name="connsiteX1" fmla="*/ 1030548 w 1039158"/>
                <a:gd name="connsiteY1" fmla="*/ 114695 h 3112082"/>
                <a:gd name="connsiteX2" fmla="*/ 1039158 w 1039158"/>
                <a:gd name="connsiteY2" fmla="*/ 2309942 h 3112082"/>
                <a:gd name="connsiteX3" fmla="*/ 855 w 1039158"/>
                <a:gd name="connsiteY3" fmla="*/ 3112082 h 3112082"/>
                <a:gd name="connsiteX4" fmla="*/ 1104 w 1039158"/>
                <a:gd name="connsiteY4" fmla="*/ 0 h 3112082"/>
                <a:gd name="connsiteX0" fmla="*/ 1104 w 1030548"/>
                <a:gd name="connsiteY0" fmla="*/ 0 h 3112082"/>
                <a:gd name="connsiteX1" fmla="*/ 1030548 w 1030548"/>
                <a:gd name="connsiteY1" fmla="*/ 114695 h 3112082"/>
                <a:gd name="connsiteX2" fmla="*/ 1004594 w 1030548"/>
                <a:gd name="connsiteY2" fmla="*/ 2200163 h 3112082"/>
                <a:gd name="connsiteX3" fmla="*/ 855 w 1030548"/>
                <a:gd name="connsiteY3" fmla="*/ 3112082 h 3112082"/>
                <a:gd name="connsiteX4" fmla="*/ 1104 w 1030548"/>
                <a:gd name="connsiteY4" fmla="*/ 0 h 3112082"/>
                <a:gd name="connsiteX0" fmla="*/ 1104 w 1039307"/>
                <a:gd name="connsiteY0" fmla="*/ 0 h 3112082"/>
                <a:gd name="connsiteX1" fmla="*/ 1030548 w 1039307"/>
                <a:gd name="connsiteY1" fmla="*/ 114695 h 3112082"/>
                <a:gd name="connsiteX2" fmla="*/ 1039307 w 1039307"/>
                <a:gd name="connsiteY2" fmla="*/ 2181796 h 3112082"/>
                <a:gd name="connsiteX3" fmla="*/ 855 w 1039307"/>
                <a:gd name="connsiteY3" fmla="*/ 3112082 h 3112082"/>
                <a:gd name="connsiteX4" fmla="*/ 1104 w 1039307"/>
                <a:gd name="connsiteY4" fmla="*/ 0 h 3112082"/>
                <a:gd name="connsiteX0" fmla="*/ 212739 w 1038484"/>
                <a:gd name="connsiteY0" fmla="*/ 136181 h 2997387"/>
                <a:gd name="connsiteX1" fmla="*/ 1029725 w 1038484"/>
                <a:gd name="connsiteY1" fmla="*/ 0 h 2997387"/>
                <a:gd name="connsiteX2" fmla="*/ 1038484 w 1038484"/>
                <a:gd name="connsiteY2" fmla="*/ 2067101 h 2997387"/>
                <a:gd name="connsiteX3" fmla="*/ 32 w 1038484"/>
                <a:gd name="connsiteY3" fmla="*/ 2997387 h 2997387"/>
                <a:gd name="connsiteX4" fmla="*/ 212739 w 1038484"/>
                <a:gd name="connsiteY4" fmla="*/ 136181 h 2997387"/>
                <a:gd name="connsiteX0" fmla="*/ 10542 w 1038837"/>
                <a:gd name="connsiteY0" fmla="*/ 0 h 3108177"/>
                <a:gd name="connsiteX1" fmla="*/ 1030078 w 1038837"/>
                <a:gd name="connsiteY1" fmla="*/ 110790 h 3108177"/>
                <a:gd name="connsiteX2" fmla="*/ 1038837 w 1038837"/>
                <a:gd name="connsiteY2" fmla="*/ 2177891 h 3108177"/>
                <a:gd name="connsiteX3" fmla="*/ 385 w 1038837"/>
                <a:gd name="connsiteY3" fmla="*/ 3108177 h 3108177"/>
                <a:gd name="connsiteX4" fmla="*/ 10542 w 1038837"/>
                <a:gd name="connsiteY4" fmla="*/ 0 h 3108177"/>
                <a:gd name="connsiteX0" fmla="*/ 103794 w 1038515"/>
                <a:gd name="connsiteY0" fmla="*/ 0 h 3008713"/>
                <a:gd name="connsiteX1" fmla="*/ 1029756 w 1038515"/>
                <a:gd name="connsiteY1" fmla="*/ 11326 h 3008713"/>
                <a:gd name="connsiteX2" fmla="*/ 1038515 w 1038515"/>
                <a:gd name="connsiteY2" fmla="*/ 2078427 h 3008713"/>
                <a:gd name="connsiteX3" fmla="*/ 63 w 1038515"/>
                <a:gd name="connsiteY3" fmla="*/ 3008713 h 3008713"/>
                <a:gd name="connsiteX4" fmla="*/ 103794 w 1038515"/>
                <a:gd name="connsiteY4" fmla="*/ 0 h 3008713"/>
                <a:gd name="connsiteX0" fmla="*/ 1955 w 1039217"/>
                <a:gd name="connsiteY0" fmla="*/ 0 h 3108659"/>
                <a:gd name="connsiteX1" fmla="*/ 1030458 w 1039217"/>
                <a:gd name="connsiteY1" fmla="*/ 111272 h 3108659"/>
                <a:gd name="connsiteX2" fmla="*/ 1039217 w 1039217"/>
                <a:gd name="connsiteY2" fmla="*/ 2178373 h 3108659"/>
                <a:gd name="connsiteX3" fmla="*/ 765 w 1039217"/>
                <a:gd name="connsiteY3" fmla="*/ 3108659 h 3108659"/>
                <a:gd name="connsiteX4" fmla="*/ 1955 w 1039217"/>
                <a:gd name="connsiteY4" fmla="*/ 0 h 3108659"/>
                <a:gd name="connsiteX0" fmla="*/ 6417 w 1043679"/>
                <a:gd name="connsiteY0" fmla="*/ 0 h 3112902"/>
                <a:gd name="connsiteX1" fmla="*/ 1034920 w 1043679"/>
                <a:gd name="connsiteY1" fmla="*/ 111272 h 3112902"/>
                <a:gd name="connsiteX2" fmla="*/ 1043679 w 1043679"/>
                <a:gd name="connsiteY2" fmla="*/ 2178373 h 3112902"/>
                <a:gd name="connsiteX3" fmla="*/ 503 w 1043679"/>
                <a:gd name="connsiteY3" fmla="*/ 3112902 h 3112902"/>
                <a:gd name="connsiteX4" fmla="*/ 6417 w 1043679"/>
                <a:gd name="connsiteY4" fmla="*/ 0 h 3112902"/>
                <a:gd name="connsiteX0" fmla="*/ 6417 w 1043679"/>
                <a:gd name="connsiteY0" fmla="*/ 0 h 3112903"/>
                <a:gd name="connsiteX1" fmla="*/ 1034920 w 1043679"/>
                <a:gd name="connsiteY1" fmla="*/ 111272 h 3112903"/>
                <a:gd name="connsiteX2" fmla="*/ 1043679 w 1043679"/>
                <a:gd name="connsiteY2" fmla="*/ 2178373 h 3112903"/>
                <a:gd name="connsiteX3" fmla="*/ 503 w 1043679"/>
                <a:gd name="connsiteY3" fmla="*/ 3112903 h 3112903"/>
                <a:gd name="connsiteX4" fmla="*/ 6417 w 1043679"/>
                <a:gd name="connsiteY4" fmla="*/ 0 h 3112903"/>
                <a:gd name="connsiteX0" fmla="*/ 6417 w 1041799"/>
                <a:gd name="connsiteY0" fmla="*/ 0 h 3112903"/>
                <a:gd name="connsiteX1" fmla="*/ 1034920 w 1041799"/>
                <a:gd name="connsiteY1" fmla="*/ 111272 h 3112903"/>
                <a:gd name="connsiteX2" fmla="*/ 1041799 w 1041799"/>
                <a:gd name="connsiteY2" fmla="*/ 2171527 h 3112903"/>
                <a:gd name="connsiteX3" fmla="*/ 503 w 1041799"/>
                <a:gd name="connsiteY3" fmla="*/ 3112903 h 3112903"/>
                <a:gd name="connsiteX4" fmla="*/ 6417 w 1041799"/>
                <a:gd name="connsiteY4" fmla="*/ 0 h 3112903"/>
                <a:gd name="connsiteX0" fmla="*/ 12622 w 1048004"/>
                <a:gd name="connsiteY0" fmla="*/ 0 h 3105816"/>
                <a:gd name="connsiteX1" fmla="*/ 1041125 w 1048004"/>
                <a:gd name="connsiteY1" fmla="*/ 111272 h 3105816"/>
                <a:gd name="connsiteX2" fmla="*/ 1048004 w 1048004"/>
                <a:gd name="connsiteY2" fmla="*/ 2171527 h 3105816"/>
                <a:gd name="connsiteX3" fmla="*/ 344 w 1048004"/>
                <a:gd name="connsiteY3" fmla="*/ 3105816 h 3105816"/>
                <a:gd name="connsiteX4" fmla="*/ 12622 w 1048004"/>
                <a:gd name="connsiteY4" fmla="*/ 0 h 3105816"/>
                <a:gd name="connsiteX0" fmla="*/ 11417 w 1046799"/>
                <a:gd name="connsiteY0" fmla="*/ 0 h 3114315"/>
                <a:gd name="connsiteX1" fmla="*/ 1039920 w 1046799"/>
                <a:gd name="connsiteY1" fmla="*/ 111272 h 3114315"/>
                <a:gd name="connsiteX2" fmla="*/ 1046799 w 1046799"/>
                <a:gd name="connsiteY2" fmla="*/ 2171527 h 3114315"/>
                <a:gd name="connsiteX3" fmla="*/ 368 w 1046799"/>
                <a:gd name="connsiteY3" fmla="*/ 3114315 h 3114315"/>
                <a:gd name="connsiteX4" fmla="*/ 11417 w 1046799"/>
                <a:gd name="connsiteY4" fmla="*/ 0 h 3114315"/>
                <a:gd name="connsiteX0" fmla="*/ 11417 w 1051571"/>
                <a:gd name="connsiteY0" fmla="*/ 0 h 3114315"/>
                <a:gd name="connsiteX1" fmla="*/ 1039920 w 1051571"/>
                <a:gd name="connsiteY1" fmla="*/ 111272 h 3114315"/>
                <a:gd name="connsiteX2" fmla="*/ 1051571 w 1051571"/>
                <a:gd name="connsiteY2" fmla="*/ 2176842 h 3114315"/>
                <a:gd name="connsiteX3" fmla="*/ 368 w 1051571"/>
                <a:gd name="connsiteY3" fmla="*/ 3114315 h 3114315"/>
                <a:gd name="connsiteX4" fmla="*/ 11417 w 1051571"/>
                <a:gd name="connsiteY4" fmla="*/ 0 h 3114315"/>
                <a:gd name="connsiteX0" fmla="*/ 11417 w 1048390"/>
                <a:gd name="connsiteY0" fmla="*/ 0 h 3114315"/>
                <a:gd name="connsiteX1" fmla="*/ 1039920 w 1048390"/>
                <a:gd name="connsiteY1" fmla="*/ 111272 h 3114315"/>
                <a:gd name="connsiteX2" fmla="*/ 1048390 w 1048390"/>
                <a:gd name="connsiteY2" fmla="*/ 2173299 h 3114315"/>
                <a:gd name="connsiteX3" fmla="*/ 368 w 1048390"/>
                <a:gd name="connsiteY3" fmla="*/ 3114315 h 3114315"/>
                <a:gd name="connsiteX4" fmla="*/ 11417 w 1048390"/>
                <a:gd name="connsiteY4" fmla="*/ 0 h 3114315"/>
                <a:gd name="connsiteX0" fmla="*/ 11417 w 1048390"/>
                <a:gd name="connsiteY0" fmla="*/ 0 h 3114315"/>
                <a:gd name="connsiteX1" fmla="*/ 969553 w 1048390"/>
                <a:gd name="connsiteY1" fmla="*/ 196855 h 3114315"/>
                <a:gd name="connsiteX2" fmla="*/ 1048390 w 1048390"/>
                <a:gd name="connsiteY2" fmla="*/ 2173299 h 3114315"/>
                <a:gd name="connsiteX3" fmla="*/ 368 w 1048390"/>
                <a:gd name="connsiteY3" fmla="*/ 3114315 h 3114315"/>
                <a:gd name="connsiteX4" fmla="*/ 11417 w 1048390"/>
                <a:gd name="connsiteY4" fmla="*/ 0 h 3114315"/>
                <a:gd name="connsiteX0" fmla="*/ 11417 w 1057133"/>
                <a:gd name="connsiteY0" fmla="*/ 0 h 3114315"/>
                <a:gd name="connsiteX1" fmla="*/ 1056735 w 1057133"/>
                <a:gd name="connsiteY1" fmla="*/ 112176 h 3114315"/>
                <a:gd name="connsiteX2" fmla="*/ 1048390 w 1057133"/>
                <a:gd name="connsiteY2" fmla="*/ 2173299 h 3114315"/>
                <a:gd name="connsiteX3" fmla="*/ 368 w 1057133"/>
                <a:gd name="connsiteY3" fmla="*/ 3114315 h 3114315"/>
                <a:gd name="connsiteX4" fmla="*/ 11417 w 1057133"/>
                <a:gd name="connsiteY4" fmla="*/ 0 h 3114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7133" h="3114315">
                  <a:moveTo>
                    <a:pt x="11417" y="0"/>
                  </a:moveTo>
                  <a:lnTo>
                    <a:pt x="1056735" y="112176"/>
                  </a:lnTo>
                  <a:cubicBezTo>
                    <a:pt x="1059655" y="801210"/>
                    <a:pt x="1045470" y="1484265"/>
                    <a:pt x="1048390" y="2173299"/>
                  </a:cubicBezTo>
                  <a:lnTo>
                    <a:pt x="368" y="3114315"/>
                  </a:lnTo>
                  <a:cubicBezTo>
                    <a:pt x="-2693" y="2344334"/>
                    <a:pt x="14478" y="769981"/>
                    <a:pt x="1141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7"/>
            <p:cNvSpPr/>
            <p:nvPr/>
          </p:nvSpPr>
          <p:spPr>
            <a:xfrm>
              <a:off x="7094538" y="2"/>
              <a:ext cx="2811462" cy="2545556"/>
            </a:xfrm>
            <a:custGeom>
              <a:avLst/>
              <a:gdLst>
                <a:gd name="connsiteX0" fmla="*/ 0 w 2776537"/>
                <a:gd name="connsiteY0" fmla="*/ 0 h 1762125"/>
                <a:gd name="connsiteX1" fmla="*/ 2776537 w 2776537"/>
                <a:gd name="connsiteY1" fmla="*/ 0 h 1762125"/>
                <a:gd name="connsiteX2" fmla="*/ 2776537 w 2776537"/>
                <a:gd name="connsiteY2" fmla="*/ 1762125 h 1762125"/>
                <a:gd name="connsiteX3" fmla="*/ 0 w 2776537"/>
                <a:gd name="connsiteY3" fmla="*/ 1762125 h 1762125"/>
                <a:gd name="connsiteX4" fmla="*/ 0 w 2776537"/>
                <a:gd name="connsiteY4" fmla="*/ 0 h 1762125"/>
                <a:gd name="connsiteX0" fmla="*/ 0 w 2786062"/>
                <a:gd name="connsiteY0" fmla="*/ 0 h 1762125"/>
                <a:gd name="connsiteX1" fmla="*/ 2776537 w 2786062"/>
                <a:gd name="connsiteY1" fmla="*/ 0 h 1762125"/>
                <a:gd name="connsiteX2" fmla="*/ 2786062 w 2786062"/>
                <a:gd name="connsiteY2" fmla="*/ 476250 h 1762125"/>
                <a:gd name="connsiteX3" fmla="*/ 0 w 2786062"/>
                <a:gd name="connsiteY3" fmla="*/ 1762125 h 1762125"/>
                <a:gd name="connsiteX4" fmla="*/ 0 w 2786062"/>
                <a:gd name="connsiteY4" fmla="*/ 0 h 1762125"/>
                <a:gd name="connsiteX0" fmla="*/ 0 w 2786062"/>
                <a:gd name="connsiteY0" fmla="*/ 0 h 2533650"/>
                <a:gd name="connsiteX1" fmla="*/ 2776537 w 2786062"/>
                <a:gd name="connsiteY1" fmla="*/ 0 h 2533650"/>
                <a:gd name="connsiteX2" fmla="*/ 2786062 w 2786062"/>
                <a:gd name="connsiteY2" fmla="*/ 476250 h 2533650"/>
                <a:gd name="connsiteX3" fmla="*/ 652462 w 2786062"/>
                <a:gd name="connsiteY3" fmla="*/ 2533650 h 2533650"/>
                <a:gd name="connsiteX4" fmla="*/ 0 w 2786062"/>
                <a:gd name="connsiteY4" fmla="*/ 0 h 2533650"/>
                <a:gd name="connsiteX0" fmla="*/ 0 w 2786062"/>
                <a:gd name="connsiteY0" fmla="*/ 0 h 2533650"/>
                <a:gd name="connsiteX1" fmla="*/ 2776537 w 2786062"/>
                <a:gd name="connsiteY1" fmla="*/ 0 h 2533650"/>
                <a:gd name="connsiteX2" fmla="*/ 2786062 w 2786062"/>
                <a:gd name="connsiteY2" fmla="*/ 361950 h 2533650"/>
                <a:gd name="connsiteX3" fmla="*/ 652462 w 2786062"/>
                <a:gd name="connsiteY3" fmla="*/ 2533650 h 2533650"/>
                <a:gd name="connsiteX4" fmla="*/ 0 w 2786062"/>
                <a:gd name="connsiteY4" fmla="*/ 0 h 2533650"/>
                <a:gd name="connsiteX0" fmla="*/ 0 w 2805112"/>
                <a:gd name="connsiteY0" fmla="*/ 1766887 h 2533650"/>
                <a:gd name="connsiteX1" fmla="*/ 2795587 w 2805112"/>
                <a:gd name="connsiteY1" fmla="*/ 0 h 2533650"/>
                <a:gd name="connsiteX2" fmla="*/ 2805112 w 2805112"/>
                <a:gd name="connsiteY2" fmla="*/ 361950 h 2533650"/>
                <a:gd name="connsiteX3" fmla="*/ 671512 w 2805112"/>
                <a:gd name="connsiteY3" fmla="*/ 2533650 h 2533650"/>
                <a:gd name="connsiteX4" fmla="*/ 0 w 2805112"/>
                <a:gd name="connsiteY4" fmla="*/ 1766887 h 2533650"/>
                <a:gd name="connsiteX0" fmla="*/ 0 w 2805112"/>
                <a:gd name="connsiteY0" fmla="*/ 1766887 h 2533650"/>
                <a:gd name="connsiteX1" fmla="*/ 2081211 w 2805112"/>
                <a:gd name="connsiteY1" fmla="*/ 461962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805112"/>
                <a:gd name="connsiteY0" fmla="*/ 1766887 h 2533650"/>
                <a:gd name="connsiteX1" fmla="*/ 1576386 w 2805112"/>
                <a:gd name="connsiteY1" fmla="*/ 14287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805112"/>
                <a:gd name="connsiteY0" fmla="*/ 1766887 h 2533650"/>
                <a:gd name="connsiteX1" fmla="*/ 1647824 w 2805112"/>
                <a:gd name="connsiteY1" fmla="*/ 9524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805112"/>
                <a:gd name="connsiteY0" fmla="*/ 1766887 h 2533650"/>
                <a:gd name="connsiteX1" fmla="*/ 1576387 w 2805112"/>
                <a:gd name="connsiteY1" fmla="*/ 4761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795587"/>
                <a:gd name="connsiteY0" fmla="*/ 1766887 h 2533650"/>
                <a:gd name="connsiteX1" fmla="*/ 1576387 w 2795587"/>
                <a:gd name="connsiteY1" fmla="*/ 4761 h 2533650"/>
                <a:gd name="connsiteX2" fmla="*/ 2795587 w 2795587"/>
                <a:gd name="connsiteY2" fmla="*/ 0 h 2533650"/>
                <a:gd name="connsiteX3" fmla="*/ 2790825 w 2795587"/>
                <a:gd name="connsiteY3" fmla="*/ 376237 h 2533650"/>
                <a:gd name="connsiteX4" fmla="*/ 671512 w 2795587"/>
                <a:gd name="connsiteY4" fmla="*/ 2533650 h 2533650"/>
                <a:gd name="connsiteX5" fmla="*/ 0 w 2795587"/>
                <a:gd name="connsiteY5" fmla="*/ 1766887 h 2533650"/>
                <a:gd name="connsiteX0" fmla="*/ 0 w 2795587"/>
                <a:gd name="connsiteY0" fmla="*/ 1766887 h 2533650"/>
                <a:gd name="connsiteX1" fmla="*/ 1576387 w 2795587"/>
                <a:gd name="connsiteY1" fmla="*/ 4761 h 2533650"/>
                <a:gd name="connsiteX2" fmla="*/ 2795587 w 2795587"/>
                <a:gd name="connsiteY2" fmla="*/ 0 h 2533650"/>
                <a:gd name="connsiteX3" fmla="*/ 2581275 w 2795587"/>
                <a:gd name="connsiteY3" fmla="*/ 230187 h 2533650"/>
                <a:gd name="connsiteX4" fmla="*/ 671512 w 2795587"/>
                <a:gd name="connsiteY4" fmla="*/ 2533650 h 2533650"/>
                <a:gd name="connsiteX5" fmla="*/ 0 w 2795587"/>
                <a:gd name="connsiteY5" fmla="*/ 1766887 h 2533650"/>
                <a:gd name="connsiteX0" fmla="*/ 0 w 2797503"/>
                <a:gd name="connsiteY0" fmla="*/ 1766887 h 2533650"/>
                <a:gd name="connsiteX1" fmla="*/ 1576387 w 2797503"/>
                <a:gd name="connsiteY1" fmla="*/ 4761 h 2533650"/>
                <a:gd name="connsiteX2" fmla="*/ 2795587 w 2797503"/>
                <a:gd name="connsiteY2" fmla="*/ 0 h 2533650"/>
                <a:gd name="connsiteX3" fmla="*/ 2797175 w 2797503"/>
                <a:gd name="connsiteY3" fmla="*/ 185737 h 2533650"/>
                <a:gd name="connsiteX4" fmla="*/ 671512 w 2797503"/>
                <a:gd name="connsiteY4" fmla="*/ 2533650 h 2533650"/>
                <a:gd name="connsiteX5" fmla="*/ 0 w 2797503"/>
                <a:gd name="connsiteY5" fmla="*/ 1766887 h 2533650"/>
                <a:gd name="connsiteX0" fmla="*/ 0 w 2797503"/>
                <a:gd name="connsiteY0" fmla="*/ 1766887 h 2533650"/>
                <a:gd name="connsiteX1" fmla="*/ 1919287 w 2797503"/>
                <a:gd name="connsiteY1" fmla="*/ 61911 h 2533650"/>
                <a:gd name="connsiteX2" fmla="*/ 2795587 w 2797503"/>
                <a:gd name="connsiteY2" fmla="*/ 0 h 2533650"/>
                <a:gd name="connsiteX3" fmla="*/ 2797175 w 2797503"/>
                <a:gd name="connsiteY3" fmla="*/ 185737 h 2533650"/>
                <a:gd name="connsiteX4" fmla="*/ 671512 w 2797503"/>
                <a:gd name="connsiteY4" fmla="*/ 2533650 h 2533650"/>
                <a:gd name="connsiteX5" fmla="*/ 0 w 2797503"/>
                <a:gd name="connsiteY5" fmla="*/ 1766887 h 2533650"/>
                <a:gd name="connsiteX0" fmla="*/ 0 w 2797503"/>
                <a:gd name="connsiteY0" fmla="*/ 1766887 h 2533650"/>
                <a:gd name="connsiteX1" fmla="*/ 1582737 w 2797503"/>
                <a:gd name="connsiteY1" fmla="*/ 11111 h 2533650"/>
                <a:gd name="connsiteX2" fmla="*/ 2795587 w 2797503"/>
                <a:gd name="connsiteY2" fmla="*/ 0 h 2533650"/>
                <a:gd name="connsiteX3" fmla="*/ 2797175 w 2797503"/>
                <a:gd name="connsiteY3" fmla="*/ 185737 h 2533650"/>
                <a:gd name="connsiteX4" fmla="*/ 671512 w 2797503"/>
                <a:gd name="connsiteY4" fmla="*/ 2533650 h 2533650"/>
                <a:gd name="connsiteX5" fmla="*/ 0 w 2797503"/>
                <a:gd name="connsiteY5" fmla="*/ 1766887 h 2533650"/>
                <a:gd name="connsiteX0" fmla="*/ 0 w 2810203"/>
                <a:gd name="connsiteY0" fmla="*/ 1728787 h 2533650"/>
                <a:gd name="connsiteX1" fmla="*/ 1595437 w 2810203"/>
                <a:gd name="connsiteY1" fmla="*/ 11111 h 2533650"/>
                <a:gd name="connsiteX2" fmla="*/ 2808287 w 2810203"/>
                <a:gd name="connsiteY2" fmla="*/ 0 h 2533650"/>
                <a:gd name="connsiteX3" fmla="*/ 2809875 w 2810203"/>
                <a:gd name="connsiteY3" fmla="*/ 185737 h 2533650"/>
                <a:gd name="connsiteX4" fmla="*/ 684212 w 2810203"/>
                <a:gd name="connsiteY4" fmla="*/ 2533650 h 2533650"/>
                <a:gd name="connsiteX5" fmla="*/ 0 w 2810203"/>
                <a:gd name="connsiteY5" fmla="*/ 1728787 h 2533650"/>
                <a:gd name="connsiteX0" fmla="*/ 0 w 2803853"/>
                <a:gd name="connsiteY0" fmla="*/ 1792287 h 2533650"/>
                <a:gd name="connsiteX1" fmla="*/ 158908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92287 h 2533650"/>
                <a:gd name="connsiteX0" fmla="*/ 0 w 2803853"/>
                <a:gd name="connsiteY0" fmla="*/ 1766887 h 2533650"/>
                <a:gd name="connsiteX1" fmla="*/ 158908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66887 h 2533650"/>
                <a:gd name="connsiteX0" fmla="*/ 0 w 2803853"/>
                <a:gd name="connsiteY0" fmla="*/ 1766887 h 2533650"/>
                <a:gd name="connsiteX1" fmla="*/ 164623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66887 h 2533650"/>
                <a:gd name="connsiteX0" fmla="*/ 0 w 2803853"/>
                <a:gd name="connsiteY0" fmla="*/ 1766887 h 2533650"/>
                <a:gd name="connsiteX1" fmla="*/ 160178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66887 h 2533650"/>
                <a:gd name="connsiteX0" fmla="*/ 0 w 2813378"/>
                <a:gd name="connsiteY0" fmla="*/ 1759744 h 2533650"/>
                <a:gd name="connsiteX1" fmla="*/ 1611312 w 2813378"/>
                <a:gd name="connsiteY1" fmla="*/ 11111 h 2533650"/>
                <a:gd name="connsiteX2" fmla="*/ 2811462 w 2813378"/>
                <a:gd name="connsiteY2" fmla="*/ 0 h 2533650"/>
                <a:gd name="connsiteX3" fmla="*/ 2813050 w 2813378"/>
                <a:gd name="connsiteY3" fmla="*/ 185737 h 2533650"/>
                <a:gd name="connsiteX4" fmla="*/ 687387 w 2813378"/>
                <a:gd name="connsiteY4" fmla="*/ 2533650 h 2533650"/>
                <a:gd name="connsiteX5" fmla="*/ 0 w 2813378"/>
                <a:gd name="connsiteY5" fmla="*/ 1759744 h 2533650"/>
                <a:gd name="connsiteX0" fmla="*/ 0 w 2813378"/>
                <a:gd name="connsiteY0" fmla="*/ 1759744 h 2538413"/>
                <a:gd name="connsiteX1" fmla="*/ 1611312 w 2813378"/>
                <a:gd name="connsiteY1" fmla="*/ 11111 h 2538413"/>
                <a:gd name="connsiteX2" fmla="*/ 2811462 w 2813378"/>
                <a:gd name="connsiteY2" fmla="*/ 0 h 2538413"/>
                <a:gd name="connsiteX3" fmla="*/ 2813050 w 2813378"/>
                <a:gd name="connsiteY3" fmla="*/ 185737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3378"/>
                <a:gd name="connsiteY0" fmla="*/ 1759744 h 2538413"/>
                <a:gd name="connsiteX1" fmla="*/ 1585118 w 2813378"/>
                <a:gd name="connsiteY1" fmla="*/ 3967 h 2538413"/>
                <a:gd name="connsiteX2" fmla="*/ 2811462 w 2813378"/>
                <a:gd name="connsiteY2" fmla="*/ 0 h 2538413"/>
                <a:gd name="connsiteX3" fmla="*/ 2813050 w 2813378"/>
                <a:gd name="connsiteY3" fmla="*/ 185737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3378"/>
                <a:gd name="connsiteY0" fmla="*/ 1759744 h 2538413"/>
                <a:gd name="connsiteX1" fmla="*/ 1585118 w 2813378"/>
                <a:gd name="connsiteY1" fmla="*/ 3967 h 2538413"/>
                <a:gd name="connsiteX2" fmla="*/ 2811462 w 2813378"/>
                <a:gd name="connsiteY2" fmla="*/ 0 h 2538413"/>
                <a:gd name="connsiteX3" fmla="*/ 2813050 w 2813378"/>
                <a:gd name="connsiteY3" fmla="*/ 171449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3378"/>
                <a:gd name="connsiteY0" fmla="*/ 1759744 h 2538413"/>
                <a:gd name="connsiteX1" fmla="*/ 1585118 w 2813378"/>
                <a:gd name="connsiteY1" fmla="*/ 3967 h 2538413"/>
                <a:gd name="connsiteX2" fmla="*/ 2811462 w 2813378"/>
                <a:gd name="connsiteY2" fmla="*/ 0 h 2538413"/>
                <a:gd name="connsiteX3" fmla="*/ 2813050 w 2813378"/>
                <a:gd name="connsiteY3" fmla="*/ 192880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1462"/>
                <a:gd name="connsiteY0" fmla="*/ 1759744 h 2538413"/>
                <a:gd name="connsiteX1" fmla="*/ 1585118 w 2811462"/>
                <a:gd name="connsiteY1" fmla="*/ 3967 h 2538413"/>
                <a:gd name="connsiteX2" fmla="*/ 2811462 w 2811462"/>
                <a:gd name="connsiteY2" fmla="*/ 0 h 2538413"/>
                <a:gd name="connsiteX3" fmla="*/ 2808288 w 2811462"/>
                <a:gd name="connsiteY3" fmla="*/ 202405 h 2538413"/>
                <a:gd name="connsiteX4" fmla="*/ 699293 w 2811462"/>
                <a:gd name="connsiteY4" fmla="*/ 2538413 h 2538413"/>
                <a:gd name="connsiteX5" fmla="*/ 0 w 2811462"/>
                <a:gd name="connsiteY5" fmla="*/ 1759744 h 2538413"/>
                <a:gd name="connsiteX0" fmla="*/ 0 w 2811462"/>
                <a:gd name="connsiteY0" fmla="*/ 1759744 h 2545556"/>
                <a:gd name="connsiteX1" fmla="*/ 1585118 w 2811462"/>
                <a:gd name="connsiteY1" fmla="*/ 3967 h 2545556"/>
                <a:gd name="connsiteX2" fmla="*/ 2811462 w 2811462"/>
                <a:gd name="connsiteY2" fmla="*/ 0 h 2545556"/>
                <a:gd name="connsiteX3" fmla="*/ 2808288 w 2811462"/>
                <a:gd name="connsiteY3" fmla="*/ 202405 h 2545556"/>
                <a:gd name="connsiteX4" fmla="*/ 701674 w 2811462"/>
                <a:gd name="connsiteY4" fmla="*/ 2545556 h 2545556"/>
                <a:gd name="connsiteX5" fmla="*/ 0 w 2811462"/>
                <a:gd name="connsiteY5" fmla="*/ 1759744 h 2545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11462" h="2545556">
                  <a:moveTo>
                    <a:pt x="0" y="1759744"/>
                  </a:moveTo>
                  <a:lnTo>
                    <a:pt x="1585118" y="3967"/>
                  </a:lnTo>
                  <a:lnTo>
                    <a:pt x="2811462" y="0"/>
                  </a:lnTo>
                  <a:cubicBezTo>
                    <a:pt x="2809875" y="125412"/>
                    <a:pt x="2809875" y="76993"/>
                    <a:pt x="2808288" y="202405"/>
                  </a:cubicBezTo>
                  <a:lnTo>
                    <a:pt x="701674" y="2545556"/>
                  </a:lnTo>
                  <a:lnTo>
                    <a:pt x="0" y="1759744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자유형 15"/>
            <p:cNvSpPr/>
            <p:nvPr/>
          </p:nvSpPr>
          <p:spPr>
            <a:xfrm rot="16200000">
              <a:off x="6964057" y="1904241"/>
              <a:ext cx="4048125" cy="1835761"/>
            </a:xfrm>
            <a:custGeom>
              <a:avLst/>
              <a:gdLst>
                <a:gd name="connsiteX0" fmla="*/ 4048125 w 4048125"/>
                <a:gd name="connsiteY0" fmla="*/ 1831975 h 1835761"/>
                <a:gd name="connsiteX1" fmla="*/ 3008312 w 4048125"/>
                <a:gd name="connsiteY1" fmla="*/ 1830387 h 1835761"/>
                <a:gd name="connsiteX2" fmla="*/ 2366590 w 4048125"/>
                <a:gd name="connsiteY2" fmla="*/ 1829408 h 1835761"/>
                <a:gd name="connsiteX3" fmla="*/ 2014538 w 4048125"/>
                <a:gd name="connsiteY3" fmla="*/ 1507999 h 1835761"/>
                <a:gd name="connsiteX4" fmla="*/ 1679543 w 4048125"/>
                <a:gd name="connsiteY4" fmla="*/ 1830956 h 1835761"/>
                <a:gd name="connsiteX5" fmla="*/ 1117600 w 4048125"/>
                <a:gd name="connsiteY5" fmla="*/ 1835150 h 1835761"/>
                <a:gd name="connsiteX6" fmla="*/ 0 w 4048125"/>
                <a:gd name="connsiteY6" fmla="*/ 1835150 h 1835761"/>
                <a:gd name="connsiteX7" fmla="*/ 2019300 w 4048125"/>
                <a:gd name="connsiteY7" fmla="*/ 0 h 1835761"/>
                <a:gd name="connsiteX8" fmla="*/ 4048125 w 4048125"/>
                <a:gd name="connsiteY8" fmla="*/ 1831975 h 1835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25" h="1835761">
                  <a:moveTo>
                    <a:pt x="4048125" y="1831975"/>
                  </a:moveTo>
                  <a:cubicBezTo>
                    <a:pt x="3704167" y="1830917"/>
                    <a:pt x="3356240" y="1830652"/>
                    <a:pt x="3008312" y="1830387"/>
                  </a:cubicBezTo>
                  <a:lnTo>
                    <a:pt x="2366590" y="1829408"/>
                  </a:lnTo>
                  <a:lnTo>
                    <a:pt x="2014538" y="1507999"/>
                  </a:lnTo>
                  <a:lnTo>
                    <a:pt x="1679543" y="1830956"/>
                  </a:lnTo>
                  <a:lnTo>
                    <a:pt x="1117600" y="1835150"/>
                  </a:lnTo>
                  <a:cubicBezTo>
                    <a:pt x="745067" y="1833033"/>
                    <a:pt x="372533" y="1837267"/>
                    <a:pt x="0" y="1835150"/>
                  </a:cubicBezTo>
                  <a:lnTo>
                    <a:pt x="2019300" y="0"/>
                  </a:lnTo>
                  <a:lnTo>
                    <a:pt x="4048125" y="1831975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제목 1"/>
          <p:cNvSpPr>
            <a:spLocks noGrp="1"/>
          </p:cNvSpPr>
          <p:nvPr>
            <p:ph type="title" hasCustomPrompt="1"/>
          </p:nvPr>
        </p:nvSpPr>
        <p:spPr>
          <a:xfrm>
            <a:off x="442133" y="2276475"/>
            <a:ext cx="5398943" cy="956669"/>
          </a:xfrm>
        </p:spPr>
        <p:txBody>
          <a:bodyPr vert="horz" lIns="91440" tIns="45720" rIns="91440" bIns="0" rtlCol="0" anchor="t" anchorCtr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lang="ko-KR" altLang="en-US" sz="3200" spc="-50" baseline="0" dirty="0" smtClean="0">
                <a:solidFill>
                  <a:schemeClr val="tx2"/>
                </a:solidFill>
                <a:latin typeface="본고딕 Bold" panose="020B0800000000000000" pitchFamily="34" charset="-127"/>
                <a:ea typeface="본고딕 Bold" panose="020B0800000000000000" pitchFamily="34" charset="-127"/>
              </a:defRPr>
            </a:lvl1pPr>
          </a:lstStyle>
          <a:p>
            <a:pPr marL="0"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tabLst/>
            </a:pPr>
            <a:r>
              <a:rPr lang="ko-KR" altLang="en-US" dirty="0" smtClean="0"/>
              <a:t>동국시스템즈 문서 표지 양식</a:t>
            </a:r>
            <a:br>
              <a:rPr lang="ko-KR" altLang="en-US" dirty="0" smtClean="0"/>
            </a:br>
            <a:r>
              <a:rPr lang="en-US" altLang="ko-KR" dirty="0" err="1" smtClean="0"/>
              <a:t>White_Big</a:t>
            </a:r>
            <a:r>
              <a:rPr lang="en-US" altLang="ko-KR" dirty="0" smtClean="0"/>
              <a:t> K </a:t>
            </a:r>
            <a:r>
              <a:rPr lang="ko-KR" altLang="en-US" dirty="0" smtClean="0"/>
              <a:t>버전</a:t>
            </a:r>
          </a:p>
        </p:txBody>
      </p:sp>
      <p:pic>
        <p:nvPicPr>
          <p:cNvPr id="17" name="그림 1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7434" y="6473266"/>
            <a:ext cx="1391132" cy="20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935061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296">
          <p15:clr>
            <a:srgbClr val="FBAE40"/>
          </p15:clr>
        </p15:guide>
        <p15:guide id="2" pos="3120">
          <p15:clr>
            <a:srgbClr val="FBAE40"/>
          </p15:clr>
        </p15:guide>
        <p15:guide id="3" pos="262" userDrawn="1">
          <p15:clr>
            <a:srgbClr val="FBAE40"/>
          </p15:clr>
        </p15:guide>
        <p15:guide id="4" pos="6068">
          <p15:clr>
            <a:srgbClr val="FBAE40"/>
          </p15:clr>
        </p15:guide>
        <p15:guide id="5" orient="horz" pos="3952">
          <p15:clr>
            <a:srgbClr val="FBAE40"/>
          </p15:clr>
        </p15:guide>
        <p15:guide id="6" orient="horz" pos="1434">
          <p15:clr>
            <a:srgbClr val="FBAE40"/>
          </p15:clr>
        </p15:guide>
        <p15:guide id="8" orient="horz" pos="4247">
          <p15:clr>
            <a:srgbClr val="FBAE40"/>
          </p15:clr>
        </p15:guide>
        <p15:guide id="9" orient="horz" pos="2047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개체 8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2744558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344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텍스트 개체 틀 26"/>
          <p:cNvSpPr>
            <a:spLocks noGrp="1"/>
          </p:cNvSpPr>
          <p:nvPr>
            <p:ph type="body" sz="quarter" idx="17" hasCustomPrompt="1"/>
          </p:nvPr>
        </p:nvSpPr>
        <p:spPr>
          <a:xfrm>
            <a:off x="857551" y="2276475"/>
            <a:ext cx="632205" cy="3242876"/>
          </a:xfrm>
        </p:spPr>
        <p:txBody>
          <a:bodyPr>
            <a:noAutofit/>
          </a:bodyPr>
          <a:lstStyle>
            <a:lvl1pPr marL="0" indent="0" algn="r">
              <a:lnSpc>
                <a:spcPct val="2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en-US" altLang="ko-KR" dirty="0" smtClean="0"/>
              <a:t>01</a:t>
            </a:r>
          </a:p>
          <a:p>
            <a:pPr lvl="0"/>
            <a:r>
              <a:rPr lang="en-US" altLang="ko-KR" dirty="0" smtClean="0"/>
              <a:t>02</a:t>
            </a:r>
          </a:p>
          <a:p>
            <a:pPr lvl="0"/>
            <a:r>
              <a:rPr lang="en-US" altLang="ko-KR" dirty="0" smtClean="0"/>
              <a:t>03</a:t>
            </a:r>
          </a:p>
          <a:p>
            <a:pPr lvl="0"/>
            <a:r>
              <a:rPr lang="en-US" altLang="ko-KR" dirty="0" smtClean="0"/>
              <a:t>04</a:t>
            </a:r>
          </a:p>
          <a:p>
            <a:pPr lvl="0"/>
            <a:r>
              <a:rPr lang="en-US" altLang="ko-KR" dirty="0" smtClean="0"/>
              <a:t>05</a:t>
            </a:r>
          </a:p>
        </p:txBody>
      </p:sp>
      <p:sp>
        <p:nvSpPr>
          <p:cNvPr id="8" name="직사각형 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3200" b="0" i="0" baseline="0" dirty="0">
              <a:latin typeface="본고딕 Bold" panose="020B0800000000000000" pitchFamily="34" charset="-127"/>
              <a:ea typeface="본고딕 Bold" panose="020B0800000000000000" pitchFamily="34" charset="-127"/>
              <a:cs typeface="+mj-cs"/>
              <a:sym typeface="본고딕 Bold" panose="020B0800000000000000" pitchFamily="34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5250" y="0"/>
            <a:ext cx="2190750" cy="6858000"/>
          </a:xfrm>
          <a:prstGeom prst="rect">
            <a:avLst/>
          </a:prstGeom>
        </p:spPr>
      </p:pic>
      <p:sp>
        <p:nvSpPr>
          <p:cNvPr id="21" name="제목 1"/>
          <p:cNvSpPr txBox="1">
            <a:spLocks/>
          </p:cNvSpPr>
          <p:nvPr userDrawn="1"/>
        </p:nvSpPr>
        <p:spPr>
          <a:xfrm>
            <a:off x="892948" y="1683187"/>
            <a:ext cx="3341001" cy="329059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kern="1200" spc="-50" baseline="0">
                <a:solidFill>
                  <a:schemeClr val="tx2"/>
                </a:solidFill>
                <a:latin typeface="본고딕 Bold" panose="020B0800000000000000" pitchFamily="34" charset="-127"/>
                <a:ea typeface="본고딕 Bold" panose="020B0800000000000000" pitchFamily="34" charset="-127"/>
                <a:cs typeface="+mj-cs"/>
              </a:defRPr>
            </a:lvl1pPr>
          </a:lstStyle>
          <a:p>
            <a:pPr>
              <a:defRPr/>
            </a:pPr>
            <a:r>
              <a:rPr lang="en-US" altLang="ko-KR" dirty="0" smtClean="0">
                <a:solidFill>
                  <a:srgbClr val="002452"/>
                </a:solidFill>
              </a:rPr>
              <a:t>Contents</a:t>
            </a:r>
            <a:endParaRPr lang="ko-KR" altLang="en-US" dirty="0" smtClean="0">
              <a:solidFill>
                <a:srgbClr val="002452"/>
              </a:solidFill>
            </a:endParaRPr>
          </a:p>
        </p:txBody>
      </p:sp>
      <p:sp>
        <p:nvSpPr>
          <p:cNvPr id="17" name="텍스트 개체 틀 26"/>
          <p:cNvSpPr>
            <a:spLocks noGrp="1"/>
          </p:cNvSpPr>
          <p:nvPr>
            <p:ph type="body" sz="quarter" idx="14" hasCustomPrompt="1"/>
          </p:nvPr>
        </p:nvSpPr>
        <p:spPr>
          <a:xfrm>
            <a:off x="6772319" y="2284710"/>
            <a:ext cx="938297" cy="3127547"/>
          </a:xfrm>
        </p:spPr>
        <p:txBody>
          <a:bodyPr>
            <a:noAutofit/>
          </a:bodyPr>
          <a:lstStyle>
            <a:lvl1pPr marL="0" indent="0">
              <a:lnSpc>
                <a:spcPct val="200000"/>
              </a:lnSpc>
              <a:spcBef>
                <a:spcPts val="0"/>
              </a:spcBef>
              <a:buFont typeface="+mj-lt"/>
              <a:buNone/>
              <a:defRPr sz="1600" baseline="0">
                <a:solidFill>
                  <a:schemeClr val="bg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en-US" altLang="ko-KR" dirty="0" smtClean="0"/>
              <a:t>01 – 05</a:t>
            </a:r>
          </a:p>
          <a:p>
            <a:pPr lvl="0"/>
            <a:r>
              <a:rPr lang="en-US" altLang="ko-KR" dirty="0" smtClean="0"/>
              <a:t>01 – 05</a:t>
            </a:r>
          </a:p>
          <a:p>
            <a:pPr lvl="0"/>
            <a:r>
              <a:rPr lang="en-US" altLang="ko-KR" dirty="0" smtClean="0"/>
              <a:t>01 – 05</a:t>
            </a:r>
          </a:p>
          <a:p>
            <a:pPr lvl="0"/>
            <a:r>
              <a:rPr lang="en-US" altLang="ko-KR" dirty="0" smtClean="0"/>
              <a:t>01 – 05</a:t>
            </a:r>
          </a:p>
          <a:p>
            <a:pPr lvl="0"/>
            <a:r>
              <a:rPr lang="en-US" altLang="ko-KR" dirty="0" smtClean="0"/>
              <a:t>01 – 05</a:t>
            </a:r>
          </a:p>
          <a:p>
            <a:pPr lvl="0"/>
            <a:endParaRPr lang="ko-KR" altLang="en-US" dirty="0"/>
          </a:p>
        </p:txBody>
      </p:sp>
      <p:sp>
        <p:nvSpPr>
          <p:cNvPr id="20" name="텍스트 개체 틀 26"/>
          <p:cNvSpPr>
            <a:spLocks noGrp="1"/>
          </p:cNvSpPr>
          <p:nvPr>
            <p:ph type="body" sz="quarter" idx="13" hasCustomPrompt="1"/>
          </p:nvPr>
        </p:nvSpPr>
        <p:spPr>
          <a:xfrm>
            <a:off x="1505513" y="2276475"/>
            <a:ext cx="3447487" cy="3242876"/>
          </a:xfrm>
        </p:spPr>
        <p:txBody>
          <a:bodyPr>
            <a:noAutofit/>
          </a:bodyPr>
          <a:lstStyle>
            <a:lvl1pPr marL="0" indent="0">
              <a:lnSpc>
                <a:spcPct val="2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ko-KR" altLang="en-US" dirty="0" smtClean="0"/>
              <a:t>텍스트를 입력하세요</a:t>
            </a:r>
            <a:endParaRPr lang="en-US" altLang="ko-KR" dirty="0" smtClean="0"/>
          </a:p>
          <a:p>
            <a:pPr lvl="0"/>
            <a:r>
              <a:rPr lang="ko-KR" altLang="en-US" dirty="0" smtClean="0"/>
              <a:t>텍스트를 입력하세요</a:t>
            </a:r>
            <a:endParaRPr lang="en-US" altLang="ko-KR" dirty="0" smtClean="0"/>
          </a:p>
          <a:p>
            <a:pPr lvl="0"/>
            <a:r>
              <a:rPr lang="ko-KR" altLang="en-US" dirty="0" smtClean="0"/>
              <a:t>텍스트를 입력하세요</a:t>
            </a:r>
            <a:endParaRPr lang="en-US" altLang="ko-KR" dirty="0" smtClean="0"/>
          </a:p>
          <a:p>
            <a:pPr lvl="0"/>
            <a:r>
              <a:rPr lang="ko-KR" altLang="en-US" dirty="0" smtClean="0"/>
              <a:t>텍스트를 입력하세요</a:t>
            </a:r>
            <a:endParaRPr lang="en-US" altLang="ko-KR" dirty="0" smtClean="0"/>
          </a:p>
          <a:p>
            <a:pPr lvl="0"/>
            <a:r>
              <a:rPr lang="ko-KR" altLang="en-US" dirty="0" smtClean="0"/>
              <a:t>텍스트를 입력하세요</a:t>
            </a:r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64" y="6579886"/>
            <a:ext cx="1215734" cy="1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987362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2" pos="3120">
          <p15:clr>
            <a:srgbClr val="FBAE40"/>
          </p15:clr>
        </p15:guide>
        <p15:guide id="3" pos="535" userDrawn="1">
          <p15:clr>
            <a:srgbClr val="F26B43"/>
          </p15:clr>
        </p15:guide>
        <p15:guide id="4" pos="6068">
          <p15:clr>
            <a:srgbClr val="FBAE40"/>
          </p15:clr>
        </p15:guide>
        <p15:guide id="5" orient="horz" pos="4065" userDrawn="1">
          <p15:clr>
            <a:srgbClr val="F26B43"/>
          </p15:clr>
        </p15:guide>
        <p15:guide id="8" orient="horz" pos="4269" userDrawn="1">
          <p15:clr>
            <a:srgbClr val="F26B43"/>
          </p15:clr>
        </p15:guide>
        <p15:guide id="10" pos="172">
          <p15:clr>
            <a:srgbClr val="FBAE40"/>
          </p15:clr>
        </p15:guide>
        <p15:guide id="11" orient="horz" pos="1434" userDrawn="1">
          <p15:clr>
            <a:srgbClr val="F26B43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 (Action title 사용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개체 1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878259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393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직사각형 10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2000" b="0" i="0" baseline="0" dirty="0">
              <a:latin typeface="본고딕 Medium" panose="020B0600000000000000" pitchFamily="34" charset="-127"/>
              <a:ea typeface="본고딕 Medium" panose="020B0600000000000000" pitchFamily="34" charset="-127"/>
              <a:cs typeface="+mj-cs"/>
              <a:sym typeface="본고딕 Medium" panose="020B0600000000000000" pitchFamily="34" charset="-127"/>
            </a:endParaRPr>
          </a:p>
        </p:txBody>
      </p:sp>
      <p:sp>
        <p:nvSpPr>
          <p:cNvPr id="15" name="텍스트 개체 틀 3"/>
          <p:cNvSpPr>
            <a:spLocks noGrp="1"/>
          </p:cNvSpPr>
          <p:nvPr>
            <p:ph type="body" sz="quarter" idx="18"/>
          </p:nvPr>
        </p:nvSpPr>
        <p:spPr>
          <a:xfrm>
            <a:off x="270064" y="1431130"/>
            <a:ext cx="9360550" cy="877888"/>
          </a:xfrm>
        </p:spPr>
        <p:txBody>
          <a:bodyPr>
            <a:noAutofit/>
          </a:bodyPr>
          <a:lstStyle>
            <a:lvl1pPr marL="266700" indent="-266700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▐"/>
              <a:tabLst/>
              <a:defRPr sz="1600" spc="-20" baseline="0">
                <a:latin typeface="본고딕 Medium" pitchFamily="34" charset="-127"/>
                <a:ea typeface="본고딕 Medium" pitchFamily="34" charset="-127"/>
              </a:defRPr>
            </a:lvl1pPr>
            <a:lvl2pPr marL="449263" indent="-18256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tabLst>
                <a:tab pos="182563" algn="l"/>
              </a:tabLst>
              <a:defRPr sz="1400" spc="-20" baseline="0"/>
            </a:lvl2pPr>
            <a:lvl3pPr marL="625475" indent="-17621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‒"/>
              <a:tabLst>
                <a:tab pos="541338" algn="l"/>
              </a:tabLst>
              <a:defRPr sz="1200" spc="-20" baseline="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 smtClean="0"/>
              <a:t>마스터 텍스트 스타일 편집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</p:txBody>
      </p:sp>
      <p:sp>
        <p:nvSpPr>
          <p:cNvPr id="16" name="제목 1"/>
          <p:cNvSpPr>
            <a:spLocks noGrp="1"/>
          </p:cNvSpPr>
          <p:nvPr>
            <p:ph type="title" hasCustomPrompt="1"/>
          </p:nvPr>
        </p:nvSpPr>
        <p:spPr>
          <a:xfrm>
            <a:off x="272724" y="576000"/>
            <a:ext cx="9355229" cy="708943"/>
          </a:xfrm>
        </p:spPr>
        <p:txBody>
          <a:bodyPr vert="horz" bIns="0" anchor="t" anchorCtr="0">
            <a:noAutofit/>
          </a:bodyPr>
          <a:lstStyle>
            <a:lvl1pPr>
              <a:lnSpc>
                <a:spcPct val="120000"/>
              </a:lnSpc>
              <a:defRPr sz="1700" spc="-50" baseline="0">
                <a:solidFill>
                  <a:schemeClr val="tx1"/>
                </a:solidFill>
              </a:defRPr>
            </a:lvl1pPr>
          </a:lstStyle>
          <a:p>
            <a:r>
              <a:rPr lang="en-US" altLang="ko-KR" dirty="0" smtClean="0"/>
              <a:t>Action title</a:t>
            </a:r>
            <a:r>
              <a:rPr lang="ko-KR" altLang="en-US" dirty="0" smtClean="0"/>
              <a:t>은 </a:t>
            </a:r>
            <a:r>
              <a:rPr lang="ko-KR" altLang="en-US" dirty="0" err="1" smtClean="0"/>
              <a:t>본고딕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Medium 17pt 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smtClean="0"/>
              <a:t>최대 </a:t>
            </a:r>
            <a:r>
              <a:rPr lang="ko-KR" altLang="en-US" dirty="0" err="1" smtClean="0"/>
              <a:t>두줄까지</a:t>
            </a:r>
            <a:r>
              <a:rPr lang="ko-KR" altLang="en-US" dirty="0" smtClean="0"/>
              <a:t> 사용 가능하며</a:t>
            </a:r>
            <a:r>
              <a:rPr lang="en-US" altLang="ko-KR" dirty="0" smtClean="0"/>
              <a:t> </a:t>
            </a:r>
            <a:r>
              <a:rPr lang="ko-KR" altLang="en-US" dirty="0" smtClean="0"/>
              <a:t>본문 요약 및 주요 메시지를 </a:t>
            </a:r>
            <a:r>
              <a:rPr lang="ko-KR" altLang="en-US" dirty="0" err="1" smtClean="0"/>
              <a:t>기재해주십시요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17" name="텍스트 개체 틀 12"/>
          <p:cNvSpPr>
            <a:spLocks noGrp="1"/>
          </p:cNvSpPr>
          <p:nvPr>
            <p:ph type="body" sz="quarter" idx="19" hasCustomPrompt="1"/>
          </p:nvPr>
        </p:nvSpPr>
        <p:spPr>
          <a:xfrm>
            <a:off x="272833" y="171278"/>
            <a:ext cx="6172693" cy="369332"/>
          </a:xfrm>
          <a:noFill/>
        </p:spPr>
        <p:txBody>
          <a:bodyPr wrap="square" anchor="ctr" anchorCtr="0">
            <a:spAutoFit/>
          </a:bodyPr>
          <a:lstStyle>
            <a:lvl1pPr marL="0" indent="0">
              <a:buNone/>
              <a:defRPr sz="1900" spc="-20" baseline="0">
                <a:solidFill>
                  <a:schemeClr val="tx2"/>
                </a:solidFill>
                <a:latin typeface="+mj-ea"/>
                <a:ea typeface="+mj-ea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ko-KR" dirty="0" smtClean="0"/>
              <a:t>Main Title</a:t>
            </a:r>
            <a:r>
              <a:rPr lang="ko-KR" altLang="en-US" dirty="0" smtClean="0"/>
              <a:t>은 </a:t>
            </a:r>
            <a:r>
              <a:rPr lang="ko-KR" altLang="en-US" dirty="0" err="1" smtClean="0"/>
              <a:t>본고딕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Medium 19pt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23" name="슬라이드 번호 개체 틀 18"/>
          <p:cNvSpPr>
            <a:spLocks noGrp="1"/>
          </p:cNvSpPr>
          <p:nvPr>
            <p:ph type="sldNum" sz="quarter" idx="4"/>
          </p:nvPr>
        </p:nvSpPr>
        <p:spPr>
          <a:xfrm>
            <a:off x="9264136" y="6601746"/>
            <a:ext cx="374513" cy="147600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fld id="{34650854-40C0-43E7-BFE1-FF212316D62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88317" y="6601746"/>
            <a:ext cx="1534561" cy="148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r>
              <a:rPr lang="ko-KR" altLang="en-US" dirty="0" smtClean="0"/>
              <a:t>작성자</a:t>
            </a:r>
            <a:r>
              <a:rPr lang="en-US" altLang="ko-KR" dirty="0" smtClean="0"/>
              <a:t>_00000</a:t>
            </a:r>
            <a:r>
              <a:rPr lang="ko-KR" altLang="en-US" dirty="0" smtClean="0"/>
              <a:t>팀</a:t>
            </a:r>
            <a:endParaRPr lang="ko-KR" altLang="en-US" dirty="0"/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270064" y="540000"/>
            <a:ext cx="9362886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64" y="6579886"/>
            <a:ext cx="1215734" cy="1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29741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6068">
          <p15:clr>
            <a:srgbClr val="FBAE40"/>
          </p15:clr>
        </p15:guide>
        <p15:guide id="2" pos="172" userDrawn="1">
          <p15:clr>
            <a:srgbClr val="FBAE40"/>
          </p15:clr>
        </p15:guide>
        <p15:guide id="3" orient="horz" pos="4065" userDrawn="1">
          <p15:clr>
            <a:srgbClr val="F26B43"/>
          </p15:clr>
        </p15:guide>
        <p15:guide id="4" orient="horz" pos="822" userDrawn="1">
          <p15:clr>
            <a:srgbClr val="F26B43"/>
          </p15:clr>
        </p15:guide>
        <p15:guide id="5" orient="horz" pos="346" userDrawn="1">
          <p15:clr>
            <a:srgbClr val="F26B43"/>
          </p15:clr>
        </p15:guide>
        <p15:guide id="6" orient="horz" pos="4269" userDrawn="1">
          <p15:clr>
            <a:srgbClr val="FBAE40"/>
          </p15:clr>
        </p15:guide>
        <p15:guide id="7" orient="horz" pos="890" userDrawn="1">
          <p15:clr>
            <a:srgbClr val="F26B43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 (Action title 사용, Body삭제 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개체 1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27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직사각형 10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2000" b="0" i="0" baseline="0" dirty="0">
              <a:latin typeface="본고딕 Medium" panose="020B0600000000000000" pitchFamily="34" charset="-127"/>
              <a:ea typeface="본고딕 Medium" panose="020B0600000000000000" pitchFamily="34" charset="-127"/>
              <a:cs typeface="+mj-cs"/>
              <a:sym typeface="본고딕 Medium" panose="020B0600000000000000" pitchFamily="34" charset="-127"/>
            </a:endParaRPr>
          </a:p>
        </p:txBody>
      </p:sp>
      <p:sp>
        <p:nvSpPr>
          <p:cNvPr id="16" name="제목 1"/>
          <p:cNvSpPr>
            <a:spLocks noGrp="1"/>
          </p:cNvSpPr>
          <p:nvPr>
            <p:ph type="title" hasCustomPrompt="1"/>
          </p:nvPr>
        </p:nvSpPr>
        <p:spPr>
          <a:xfrm>
            <a:off x="272724" y="576000"/>
            <a:ext cx="9355229" cy="708943"/>
          </a:xfrm>
        </p:spPr>
        <p:txBody>
          <a:bodyPr vert="horz" bIns="0" anchor="t" anchorCtr="0">
            <a:noAutofit/>
          </a:bodyPr>
          <a:lstStyle>
            <a:lvl1pPr>
              <a:lnSpc>
                <a:spcPct val="120000"/>
              </a:lnSpc>
              <a:defRPr sz="1700" spc="-50" baseline="0">
                <a:solidFill>
                  <a:schemeClr val="tx1"/>
                </a:solidFill>
              </a:defRPr>
            </a:lvl1pPr>
          </a:lstStyle>
          <a:p>
            <a:r>
              <a:rPr lang="en-US" altLang="ko-KR" dirty="0" smtClean="0"/>
              <a:t>Action title</a:t>
            </a:r>
            <a:r>
              <a:rPr lang="ko-KR" altLang="en-US" dirty="0" smtClean="0"/>
              <a:t>은 </a:t>
            </a:r>
            <a:r>
              <a:rPr lang="ko-KR" altLang="en-US" dirty="0" err="1" smtClean="0"/>
              <a:t>본고딕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Medium 17pt 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smtClean="0"/>
              <a:t>최대 </a:t>
            </a:r>
            <a:r>
              <a:rPr lang="ko-KR" altLang="en-US" dirty="0" err="1" smtClean="0"/>
              <a:t>두줄까지</a:t>
            </a:r>
            <a:r>
              <a:rPr lang="ko-KR" altLang="en-US" dirty="0" smtClean="0"/>
              <a:t> 사용 가능하며</a:t>
            </a:r>
            <a:r>
              <a:rPr lang="en-US" altLang="ko-KR" dirty="0" smtClean="0"/>
              <a:t> </a:t>
            </a:r>
            <a:r>
              <a:rPr lang="ko-KR" altLang="en-US" dirty="0" smtClean="0"/>
              <a:t>본문 요약 및 주요 메시지를 </a:t>
            </a:r>
            <a:r>
              <a:rPr lang="ko-KR" altLang="en-US" dirty="0" err="1" smtClean="0"/>
              <a:t>기재해주십시요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17" name="텍스트 개체 틀 12"/>
          <p:cNvSpPr>
            <a:spLocks noGrp="1"/>
          </p:cNvSpPr>
          <p:nvPr>
            <p:ph type="body" sz="quarter" idx="19" hasCustomPrompt="1"/>
          </p:nvPr>
        </p:nvSpPr>
        <p:spPr>
          <a:xfrm>
            <a:off x="272833" y="171278"/>
            <a:ext cx="6172693" cy="369332"/>
          </a:xfrm>
          <a:noFill/>
        </p:spPr>
        <p:txBody>
          <a:bodyPr wrap="square" anchor="ctr" anchorCtr="0">
            <a:spAutoFit/>
          </a:bodyPr>
          <a:lstStyle>
            <a:lvl1pPr marL="0" indent="0">
              <a:buNone/>
              <a:defRPr sz="1900" spc="-20" baseline="0">
                <a:solidFill>
                  <a:schemeClr val="tx2"/>
                </a:solidFill>
                <a:latin typeface="+mj-ea"/>
                <a:ea typeface="+mj-ea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ko-KR" dirty="0" smtClean="0"/>
              <a:t>Main Title</a:t>
            </a:r>
            <a:r>
              <a:rPr lang="ko-KR" altLang="en-US" dirty="0" smtClean="0"/>
              <a:t>은 </a:t>
            </a:r>
            <a:r>
              <a:rPr lang="ko-KR" altLang="en-US" dirty="0" err="1" smtClean="0"/>
              <a:t>본고딕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Medium 19pt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23" name="슬라이드 번호 개체 틀 18"/>
          <p:cNvSpPr>
            <a:spLocks noGrp="1"/>
          </p:cNvSpPr>
          <p:nvPr>
            <p:ph type="sldNum" sz="quarter" idx="4"/>
          </p:nvPr>
        </p:nvSpPr>
        <p:spPr>
          <a:xfrm>
            <a:off x="9264136" y="6601746"/>
            <a:ext cx="374513" cy="147600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fld id="{34650854-40C0-43E7-BFE1-FF212316D62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88317" y="6601746"/>
            <a:ext cx="1534561" cy="148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r>
              <a:rPr lang="ko-KR" altLang="en-US" dirty="0" smtClean="0"/>
              <a:t>작성자</a:t>
            </a:r>
            <a:r>
              <a:rPr lang="en-US" altLang="ko-KR" dirty="0" smtClean="0"/>
              <a:t>_00000</a:t>
            </a:r>
            <a:r>
              <a:rPr lang="ko-KR" altLang="en-US" dirty="0" smtClean="0"/>
              <a:t>팀</a:t>
            </a:r>
            <a:endParaRPr lang="ko-KR" altLang="en-US" dirty="0"/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270064" y="540000"/>
            <a:ext cx="9362886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64" y="6579886"/>
            <a:ext cx="1215734" cy="1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117653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4294967295" pos="6068">
          <p15:clr>
            <a:srgbClr val="FBAE40"/>
          </p15:clr>
        </p15:guide>
        <p15:guide id="4294967295" pos="172">
          <p15:clr>
            <a:srgbClr val="FBAE40"/>
          </p15:clr>
        </p15:guide>
        <p15:guide id="4294967295" orient="horz" pos="4065">
          <p15:clr>
            <a:srgbClr val="F26B43"/>
          </p15:clr>
        </p15:guide>
        <p15:guide id="4294967295" orient="horz" pos="822">
          <p15:clr>
            <a:srgbClr val="F26B43"/>
          </p15:clr>
        </p15:guide>
        <p15:guide id="4294967295" orient="horz" pos="346">
          <p15:clr>
            <a:srgbClr val="F26B43"/>
          </p15:clr>
        </p15:guide>
        <p15:guide id="4294967295" orient="horz" pos="4269">
          <p15:clr>
            <a:srgbClr val="FBAE40"/>
          </p15:clr>
        </p15:guide>
        <p15:guide id="4294967295" orient="horz" pos="890">
          <p15:clr>
            <a:srgbClr val="F26B43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지 (Action Title 미사용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개체 1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22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12" name="개체 1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직사각형 10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2000" b="0" i="0" baseline="0" dirty="0">
              <a:latin typeface="본고딕 Medium" panose="020B0600000000000000" pitchFamily="34" charset="-127"/>
              <a:ea typeface="본고딕 Medium" panose="020B0600000000000000" pitchFamily="34" charset="-127"/>
              <a:cs typeface="+mj-cs"/>
              <a:sym typeface="본고딕 Medium" panose="020B0600000000000000" pitchFamily="34" charset="-127"/>
            </a:endParaRPr>
          </a:p>
        </p:txBody>
      </p:sp>
      <p:sp>
        <p:nvSpPr>
          <p:cNvPr id="17" name="텍스트 개체 틀 12"/>
          <p:cNvSpPr>
            <a:spLocks noGrp="1"/>
          </p:cNvSpPr>
          <p:nvPr>
            <p:ph type="body" sz="quarter" idx="19" hasCustomPrompt="1"/>
          </p:nvPr>
        </p:nvSpPr>
        <p:spPr>
          <a:xfrm>
            <a:off x="272833" y="134345"/>
            <a:ext cx="9357781" cy="443198"/>
          </a:xfrm>
          <a:noFill/>
        </p:spPr>
        <p:txBody>
          <a:bodyPr wrap="square" anchor="ctr" anchorCtr="0">
            <a:spAutoFit/>
          </a:bodyPr>
          <a:lstStyle>
            <a:lvl1pPr marL="0" indent="0">
              <a:buNone/>
              <a:defRPr sz="1900" spc="-20" baseline="0">
                <a:solidFill>
                  <a:schemeClr val="tx2"/>
                </a:solidFill>
                <a:latin typeface="+mj-ea"/>
                <a:ea typeface="+mj-ea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ko-KR" dirty="0" smtClean="0"/>
              <a:t>Main Title</a:t>
            </a:r>
            <a:r>
              <a:rPr lang="ko-KR" altLang="en-US" dirty="0" smtClean="0"/>
              <a:t>은 </a:t>
            </a:r>
            <a:r>
              <a:rPr lang="ko-KR" altLang="en-US" dirty="0" err="1" smtClean="0"/>
              <a:t>본고딕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Medium 19pt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23" name="슬라이드 번호 개체 틀 18"/>
          <p:cNvSpPr>
            <a:spLocks noGrp="1"/>
          </p:cNvSpPr>
          <p:nvPr>
            <p:ph type="sldNum" sz="quarter" idx="4"/>
          </p:nvPr>
        </p:nvSpPr>
        <p:spPr>
          <a:xfrm>
            <a:off x="9264136" y="6601746"/>
            <a:ext cx="374513" cy="147600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fld id="{34650854-40C0-43E7-BFE1-FF212316D62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88317" y="6601746"/>
            <a:ext cx="1534561" cy="148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r>
              <a:rPr lang="ko-KR" altLang="en-US" smtClean="0"/>
              <a:t>작성자</a:t>
            </a:r>
            <a:r>
              <a:rPr lang="en-US" altLang="ko-KR" smtClean="0"/>
              <a:t>_00000</a:t>
            </a:r>
            <a:r>
              <a:rPr lang="ko-KR" altLang="en-US" smtClean="0"/>
              <a:t>팀</a:t>
            </a:r>
            <a:endParaRPr lang="ko-KR" altLang="en-US" dirty="0"/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270064" y="540000"/>
            <a:ext cx="9362886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텍스트 개체 틀 3"/>
          <p:cNvSpPr>
            <a:spLocks noGrp="1"/>
          </p:cNvSpPr>
          <p:nvPr>
            <p:ph type="body" sz="quarter" idx="18" hasCustomPrompt="1"/>
          </p:nvPr>
        </p:nvSpPr>
        <p:spPr>
          <a:xfrm>
            <a:off x="270064" y="931201"/>
            <a:ext cx="9360550" cy="877888"/>
          </a:xfrm>
        </p:spPr>
        <p:txBody>
          <a:bodyPr>
            <a:noAutofit/>
          </a:bodyPr>
          <a:lstStyle>
            <a:lvl1pPr marL="266700" indent="-266700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▐"/>
              <a:tabLst/>
              <a:defRPr sz="1600" spc="-20" baseline="0">
                <a:latin typeface="본고딕 Medium" pitchFamily="34" charset="-127"/>
                <a:ea typeface="본고딕 Medium" pitchFamily="34" charset="-127"/>
              </a:defRPr>
            </a:lvl1pPr>
            <a:lvl2pPr marL="449263" indent="-18256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tabLst>
                <a:tab pos="182563" algn="l"/>
              </a:tabLst>
              <a:defRPr sz="1400" spc="-20" baseline="0"/>
            </a:lvl2pPr>
            <a:lvl3pPr marL="625475" indent="-17621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‒"/>
              <a:tabLst>
                <a:tab pos="541338" algn="l"/>
              </a:tabLst>
              <a:defRPr sz="1200" spc="-20" baseline="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ko-KR" dirty="0" smtClean="0"/>
              <a:t>Action Title </a:t>
            </a:r>
            <a:r>
              <a:rPr lang="ko-KR" altLang="en-US" dirty="0" smtClean="0"/>
              <a:t>미사용 내지양식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64" y="6579886"/>
            <a:ext cx="1215734" cy="1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929530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6068">
          <p15:clr>
            <a:srgbClr val="FBAE40"/>
          </p15:clr>
        </p15:guide>
        <p15:guide id="2" pos="172">
          <p15:clr>
            <a:srgbClr val="FBAE40"/>
          </p15:clr>
        </p15:guide>
        <p15:guide id="3" orient="horz" pos="4065">
          <p15:clr>
            <a:srgbClr val="F26B43"/>
          </p15:clr>
        </p15:guide>
        <p15:guide id="4" orient="horz" pos="1139">
          <p15:clr>
            <a:srgbClr val="F26B43"/>
          </p15:clr>
        </p15:guide>
        <p15:guide id="5" orient="horz" pos="572">
          <p15:clr>
            <a:srgbClr val="F26B43"/>
          </p15:clr>
        </p15:guide>
        <p15:guide id="6" orient="horz" pos="4269">
          <p15:clr>
            <a:srgbClr val="FBAE40"/>
          </p15:clr>
        </p15:guide>
        <p15:guide id="7" orient="horz" pos="1207">
          <p15:clr>
            <a:srgbClr val="F26B43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vmlDrawing" Target="../drawings/vmlDrawing1.vml"/><Relationship Id="rId8" Type="http://schemas.openxmlformats.org/officeDocument/2006/relationships/tags" Target="../tags/tag2.xml"/><Relationship Id="rId9" Type="http://schemas.openxmlformats.org/officeDocument/2006/relationships/oleObject" Target="../embeddings/oleObject1.bin"/><Relationship Id="rId10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/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6965372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179" name="think-cell 슬라이드" r:id="rId9" imgW="381" imgH="381" progId="TCLayout.ActiveDocument.1">
                  <p:embed/>
                </p:oleObj>
              </mc:Choice>
              <mc:Fallback>
                <p:oleObj name="think-cell 슬라이드" r:id="rId9" imgW="381" imgH="38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 편집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en-US" dirty="0"/>
          </a:p>
        </p:txBody>
      </p:sp>
      <p:sp>
        <p:nvSpPr>
          <p:cNvPr id="9" name="슬라이드 번호 개체 틀 18"/>
          <p:cNvSpPr>
            <a:spLocks noGrp="1"/>
          </p:cNvSpPr>
          <p:nvPr>
            <p:ph type="sldNum" sz="quarter" idx="4"/>
          </p:nvPr>
        </p:nvSpPr>
        <p:spPr>
          <a:xfrm>
            <a:off x="9264136" y="6601746"/>
            <a:ext cx="374513" cy="147600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fld id="{34650854-40C0-43E7-BFE1-FF212316D624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88317" y="6601746"/>
            <a:ext cx="1534561" cy="148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B6B6B6"/>
                </a:solidFill>
              </a:defRPr>
            </a:lvl1pPr>
          </a:lstStyle>
          <a:p>
            <a:r>
              <a:rPr lang="ko-KR" altLang="en-US" smtClean="0"/>
              <a:t>작성자</a:t>
            </a:r>
            <a:r>
              <a:rPr lang="en-US" altLang="ko-KR" smtClean="0"/>
              <a:t>_OOOO</a:t>
            </a:r>
            <a:r>
              <a:rPr lang="ko-KR" altLang="en-US" smtClean="0"/>
              <a:t>팀 </a:t>
            </a:r>
            <a:r>
              <a:rPr lang="en-US" altLang="ko-KR" smtClean="0"/>
              <a:t>OOO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36171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8" r:id="rId2"/>
    <p:sldLayoutId id="2147483719" r:id="rId3"/>
    <p:sldLayoutId id="2147483730" r:id="rId4"/>
    <p:sldLayoutId id="2147483729" r:id="rId5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1" hangingPunct="1">
        <a:lnSpc>
          <a:spcPct val="12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400">
                <a:solidFill>
                  <a:srgbClr val="757575"/>
                </a:solidFill>
              </a:rPr>
              <a:t>orchestration + okay
WezTerm 기반 AI 개발 자동화 스케줄러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2452"/>
                </a:solidFill>
              </a:rPr>
              <a:t>orchay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700">
                <a:solidFill>
                  <a:srgbClr val="262626"/>
                </a:solidFill>
              </a:rPr>
              <a:t>AI 코딩 어시스턴트, 왜 아직도 한 번에 하나씩?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rPr sz="1900" b="1">
                <a:solidFill>
                  <a:srgbClr val="002452"/>
                </a:solidFill>
              </a:rPr>
              <a:t>문제 정의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0064" y="1431130"/>
            <a:ext cx="4591443" cy="72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6B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0064" y="1503130"/>
            <a:ext cx="54000" cy="576000"/>
          </a:xfrm>
          <a:prstGeom prst="rect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0064" y="1539130"/>
            <a:ext cx="360000" cy="360000"/>
          </a:xfrm>
          <a:prstGeom prst="ellipse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0064" y="1539130"/>
            <a:ext cx="36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700"/>
              </a:spcBef>
            </a:pPr>
            <a:r>
              <a:rPr sz="1100" b="1">
                <a:solidFill>
                  <a:srgbClr val="FFFFFF"/>
                </a:solidFill>
              </a:rPr>
              <a:t>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2064" y="1539130"/>
            <a:ext cx="3871443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62626"/>
                </a:solidFill>
                <a:latin typeface="본고딕"/>
              </a:rPr>
              <a:t>단일 작업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064" y="1755130"/>
            <a:ext cx="3871443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57575"/>
                </a:solidFill>
                <a:latin typeface="본고딕"/>
              </a:rPr>
              <a:t>한 번에 하나의 Task만 처리 가능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41507" y="1431130"/>
            <a:ext cx="4591443" cy="72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6B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41507" y="1503130"/>
            <a:ext cx="54000" cy="576000"/>
          </a:xfrm>
          <a:prstGeom prst="rect">
            <a:avLst/>
          </a:prstGeom>
          <a:solidFill>
            <a:srgbClr val="D55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221507" y="1539130"/>
            <a:ext cx="360000" cy="360000"/>
          </a:xfrm>
          <a:prstGeom prst="ellipse">
            <a:avLst/>
          </a:prstGeom>
          <a:solidFill>
            <a:srgbClr val="D55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21507" y="1539130"/>
            <a:ext cx="36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700"/>
              </a:spcBef>
            </a:pPr>
            <a:r>
              <a:rPr sz="1100" b="1">
                <a:solidFill>
                  <a:srgbClr val="FFFFFF"/>
                </a:solidFill>
              </a:rPr>
              <a:t>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53507" y="1539130"/>
            <a:ext cx="3871443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62626"/>
                </a:solidFill>
                <a:latin typeface="본고딕"/>
              </a:rPr>
              <a:t>수동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53507" y="1755130"/>
            <a:ext cx="3871443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57575"/>
                </a:solidFill>
                <a:latin typeface="본고딕"/>
              </a:rPr>
              <a:t>개발자가 직접 Task를 할당하고 모니터링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0064" y="2259130"/>
            <a:ext cx="4591443" cy="72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6B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0064" y="2331130"/>
            <a:ext cx="54000" cy="576000"/>
          </a:xfrm>
          <a:prstGeom prst="rect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0064" y="2367130"/>
            <a:ext cx="360000" cy="360000"/>
          </a:xfrm>
          <a:prstGeom prst="ellipse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0064" y="2367130"/>
            <a:ext cx="36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700"/>
              </a:spcBef>
            </a:pPr>
            <a:r>
              <a:rPr sz="1100" b="1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064" y="2367130"/>
            <a:ext cx="3871443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62626"/>
                </a:solidFill>
                <a:latin typeface="본고딕"/>
              </a:rPr>
              <a:t>컨텍스트 손실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064" y="2583130"/>
            <a:ext cx="3871443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57575"/>
                </a:solidFill>
                <a:latin typeface="본고딕"/>
              </a:rPr>
              <a:t>Task 전환 시 이전 작업 맥락 유실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41507" y="2259130"/>
            <a:ext cx="4591443" cy="72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6B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41507" y="2331130"/>
            <a:ext cx="54000" cy="576000"/>
          </a:xfrm>
          <a:prstGeom prst="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221507" y="2367130"/>
            <a:ext cx="360000" cy="360000"/>
          </a:xfrm>
          <a:prstGeom prst="ellipse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21507" y="2367130"/>
            <a:ext cx="36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700"/>
              </a:spcBef>
            </a:pPr>
            <a:r>
              <a:rPr sz="1100" b="1">
                <a:solidFill>
                  <a:srgbClr val="FFFFFF"/>
                </a:solidFill>
              </a:rPr>
              <a:t>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53507" y="2367130"/>
            <a:ext cx="3871443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62626"/>
                </a:solidFill>
                <a:latin typeface="본고딕"/>
              </a:rPr>
              <a:t>비효율성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53507" y="2583130"/>
            <a:ext cx="3871443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57575"/>
                </a:solidFill>
                <a:latin typeface="본고딕"/>
              </a:rPr>
              <a:t>대기 시간 동안 다른 작업 불가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064" y="3915130"/>
            <a:ext cx="8642886" cy="648000"/>
          </a:xfrm>
          <a:prstGeom prst="roundRect">
            <a:avLst/>
          </a:prstGeom>
          <a:solidFill>
            <a:srgbClr val="F0F7FF"/>
          </a:solidFill>
          <a:ln w="25400">
            <a:solidFill>
              <a:srgbClr val="00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0064" y="4023130"/>
            <a:ext cx="8282886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2452"/>
                </a:solidFill>
                <a:latin typeface="본고딕"/>
              </a:rPr>
              <a:t>"여러 AI Worker에게 Task를 자동으로 분배하고
진행 상황을 모니터링하는 오케스트레이터"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700">
                <a:solidFill>
                  <a:srgbClr val="262626"/>
                </a:solidFill>
              </a:rPr>
              <a:t>WBS(Work Breakdown Structure) 기반 Task 스케줄러로 AI 개발을 자동화합니다.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rPr sz="1900" b="1">
                <a:solidFill>
                  <a:srgbClr val="002452"/>
                </a:solidFill>
              </a:rPr>
              <a:t>orchay 소개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0064" y="1431130"/>
            <a:ext cx="2232721" cy="792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6B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0064" y="1503130"/>
            <a:ext cx="54000" cy="648000"/>
          </a:xfrm>
          <a:prstGeom prst="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0064" y="1539130"/>
            <a:ext cx="360000" cy="360000"/>
          </a:xfrm>
          <a:prstGeom prst="ellipse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0064" y="1539130"/>
            <a:ext cx="36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700"/>
              </a:spcBef>
            </a:pPr>
            <a:r>
              <a:rPr sz="110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2064" y="1539130"/>
            <a:ext cx="1512721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62626"/>
                </a:solidFill>
                <a:latin typeface="본고딕"/>
              </a:rPr>
              <a:t>WBS 파싱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064" y="1755130"/>
            <a:ext cx="1512721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57575"/>
                </a:solidFill>
                <a:latin typeface="본고딕"/>
              </a:rPr>
              <a:t>wbs.yaml 파일에서
Task 목록 추출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46785" y="1431130"/>
            <a:ext cx="2232721" cy="792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6B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46785" y="1503130"/>
            <a:ext cx="54000" cy="648000"/>
          </a:xfrm>
          <a:prstGeom prst="rect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26785" y="1539130"/>
            <a:ext cx="360000" cy="360000"/>
          </a:xfrm>
          <a:prstGeom prst="ellipse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26785" y="1539130"/>
            <a:ext cx="36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700"/>
              </a:spcBef>
            </a:pPr>
            <a:r>
              <a:rPr sz="11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58785" y="1539130"/>
            <a:ext cx="1512721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62626"/>
                </a:solidFill>
                <a:latin typeface="본고딕"/>
              </a:rPr>
              <a:t>자동 분배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58785" y="1755130"/>
            <a:ext cx="1512721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57575"/>
                </a:solidFill>
                <a:latin typeface="본고딕"/>
              </a:rPr>
              <a:t>여러 Claude Code
Worker에 분배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3507" y="1431130"/>
            <a:ext cx="2232721" cy="792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6B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3507" y="1503130"/>
            <a:ext cx="54000" cy="648000"/>
          </a:xfrm>
          <a:prstGeom prst="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203507" y="1539130"/>
            <a:ext cx="360000" cy="360000"/>
          </a:xfrm>
          <a:prstGeom prst="ellipse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03507" y="1539130"/>
            <a:ext cx="36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700"/>
              </a:spcBef>
            </a:pPr>
            <a:r>
              <a:rPr sz="1100" b="1">
                <a:solidFill>
                  <a:srgbClr val="FFFFFF"/>
                </a:solidFill>
              </a:rPr>
              <a:t>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35507" y="1539130"/>
            <a:ext cx="1512721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62626"/>
                </a:solidFill>
                <a:latin typeface="본고딕"/>
              </a:rPr>
              <a:t>실시간 모니터링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35507" y="1755130"/>
            <a:ext cx="1512721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57575"/>
                </a:solidFill>
                <a:latin typeface="본고딕"/>
              </a:rPr>
              <a:t>진행 상황
실시간 추적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00228" y="1431130"/>
            <a:ext cx="2232721" cy="792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6B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00228" y="1503130"/>
            <a:ext cx="54000" cy="648000"/>
          </a:xfrm>
          <a:prstGeom prst="rect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580228" y="1539130"/>
            <a:ext cx="360000" cy="360000"/>
          </a:xfrm>
          <a:prstGeom prst="ellipse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0228" y="1539130"/>
            <a:ext cx="36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700"/>
              </a:spcBef>
            </a:pPr>
            <a:r>
              <a:rPr sz="11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12228" y="1539130"/>
            <a:ext cx="1512721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62626"/>
                </a:solidFill>
                <a:latin typeface="본고딕"/>
              </a:rPr>
              <a:t>자동 워크플로우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12228" y="1755130"/>
            <a:ext cx="1512721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57575"/>
                </a:solidFill>
                <a:latin typeface="본고딕"/>
              </a:rPr>
              <a:t>상태 전이
자동 실행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270064" y="2439130"/>
          <a:ext cx="9362886" cy="11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0962"/>
                <a:gridCol w="3120962"/>
                <a:gridCol w="3120962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기존 방식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orchay 방식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동시 작업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1명이 1개 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N명이 N개 Task 병렬 처리</a:t>
                      </a:r>
                    </a:p>
                  </a:txBody>
                  <a:tcPr/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Task 할당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수동 Task 할당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자동 Task 분배</a:t>
                      </a:r>
                    </a:p>
                  </a:txBody>
                  <a:tcPr/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상태 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수동 상태 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자동 워크플로우 실행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700">
                <a:solidFill>
                  <a:srgbClr val="262626"/>
                </a:solidFill>
              </a:rPr>
              <a:t>WBS 파일에서 Task를 추출하여 여러 AI Worker에게 자동으로 분배합니다.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rPr sz="1900" b="1">
                <a:solidFill>
                  <a:srgbClr val="002452"/>
                </a:solidFill>
              </a:rPr>
              <a:t>작동 원리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99507" y="1431130"/>
            <a:ext cx="1080000" cy="79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899507" y="1431130"/>
            <a:ext cx="72000" cy="792000"/>
          </a:xfrm>
          <a:prstGeom prst="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295507" y="1539130"/>
            <a:ext cx="288000" cy="288000"/>
          </a:xfrm>
          <a:prstGeom prst="ellipse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5507" y="1539130"/>
            <a:ext cx="288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500"/>
              </a:spcBef>
            </a:pPr>
            <a:r>
              <a:rPr sz="90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07507" y="1863130"/>
            <a:ext cx="86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62626"/>
                </a:solidFill>
                <a:latin typeface="본고딕"/>
              </a:rPr>
              <a:t>wbs.yaml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07507" y="2007130"/>
            <a:ext cx="86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57575"/>
                </a:solidFill>
                <a:latin typeface="본고딕"/>
              </a:rPr>
              <a:t>Task 정의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51507" y="1755130"/>
            <a:ext cx="288000" cy="144000"/>
          </a:xfrm>
          <a:prstGeom prst="rightArrow">
            <a:avLst/>
          </a:prstGeom>
          <a:solidFill>
            <a:srgbClr val="B6B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11507" y="1431130"/>
            <a:ext cx="1080000" cy="79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5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11507" y="1431130"/>
            <a:ext cx="72000" cy="792000"/>
          </a:xfrm>
          <a:prstGeom prst="rect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07507" y="1539130"/>
            <a:ext cx="288000" cy="288000"/>
          </a:xfrm>
          <a:prstGeom prst="ellipse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7507" y="1539130"/>
            <a:ext cx="288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500"/>
              </a:spcBef>
            </a:pPr>
            <a:r>
              <a:rPr sz="900" b="1">
                <a:solidFill>
                  <a:srgbClr val="FFFFFF"/>
                </a:solidFill>
              </a:rPr>
              <a:t>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9507" y="1863130"/>
            <a:ext cx="86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62626"/>
                </a:solidFill>
                <a:latin typeface="본고딕"/>
              </a:rPr>
              <a:t>orchay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9507" y="2007130"/>
            <a:ext cx="86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57575"/>
                </a:solidFill>
                <a:latin typeface="본고딕"/>
              </a:rPr>
              <a:t>스케줄러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563507" y="1755130"/>
            <a:ext cx="288000" cy="144000"/>
          </a:xfrm>
          <a:prstGeom prst="rightArrow">
            <a:avLst/>
          </a:prstGeom>
          <a:solidFill>
            <a:srgbClr val="B6B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923507" y="1431130"/>
            <a:ext cx="1080000" cy="79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B6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23507" y="1431130"/>
            <a:ext cx="72000" cy="792000"/>
          </a:xfrm>
          <a:prstGeom prst="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19507" y="1539130"/>
            <a:ext cx="288000" cy="288000"/>
          </a:xfrm>
          <a:prstGeom prst="ellipse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19507" y="1539130"/>
            <a:ext cx="288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500"/>
              </a:spcBef>
            </a:pPr>
            <a:r>
              <a:rPr sz="900" b="1">
                <a:solidFill>
                  <a:srgbClr val="FFFFFF"/>
                </a:solidFill>
              </a:rPr>
              <a:t>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1507" y="1863130"/>
            <a:ext cx="86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62626"/>
                </a:solidFill>
                <a:latin typeface="본고딕"/>
              </a:rPr>
              <a:t>Claude Workers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1507" y="2007130"/>
            <a:ext cx="86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57575"/>
                </a:solidFill>
                <a:latin typeface="본고딕"/>
              </a:rPr>
              <a:t>AI 실행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8208" y="2511130"/>
            <a:ext cx="8426597" cy="144000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8208" y="2511130"/>
            <a:ext cx="8426597" cy="251999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46208" y="2583130"/>
            <a:ext cx="90000" cy="9000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0207" y="2583130"/>
            <a:ext cx="90000" cy="9000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34208" y="2583130"/>
            <a:ext cx="90000" cy="9000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58208" y="2565130"/>
            <a:ext cx="6986597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본고딕"/>
              </a:rPr>
              <a:t>WezTerm Layout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6208" y="2835130"/>
            <a:ext cx="8210597" cy="10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onsolas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700">
                <a:solidFill>
                  <a:srgbClr val="262626"/>
                </a:solidFill>
              </a:rPr>
              <a:t>WBS 파싱부터 Worker 상태 감지까지, 자동화된 Task 관리를 제공합니다.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rPr sz="1900" b="1">
                <a:solidFill>
                  <a:srgbClr val="002452"/>
                </a:solidFill>
              </a:rPr>
              <a:t>핵심 기능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700">
                <a:solidFill>
                  <a:srgbClr val="262626"/>
                </a:solidFill>
              </a:rPr>
              <a:t>Slash 명령어 기반으로 설계부터 완료까지 전체 워크플로우를 자동화합니다.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rPr sz="1900" b="1">
                <a:solidFill>
                  <a:srgbClr val="002452"/>
                </a:solidFill>
              </a:rPr>
              <a:t>워크플로우 명령어 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0064" y="1431130"/>
            <a:ext cx="9362886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2452"/>
                </a:solidFill>
                <a:latin typeface="본고딕"/>
              </a:rPr>
              <a:t>계층 입력 지원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0064" y="1611130"/>
            <a:ext cx="8894741" cy="576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6B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8064" y="1683130"/>
            <a:ext cx="8678741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Consolas"/>
              </a:rPr>
              <a:t>/wf:start TSK-01-01      # 단일 Task
/wf:start ACT-01-01      # Activity 내 모든 Task 병렬
/wf:start WP-01          # Work Package 내 모든 Task 병렬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700">
                <a:solidFill>
                  <a:srgbClr val="262626"/>
                </a:solidFill>
              </a:rPr>
              <a:t>/wf:review는 3개 관점에서 병렬 품질 검증을, /wf:apply는 맥락 기반 선택적 적용을 수행합니다.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rPr sz="1900" b="1">
                <a:solidFill>
                  <a:srgbClr val="002452"/>
                </a:solidFill>
              </a:rPr>
              <a:t>설계 단계 명령어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0064" y="1431130"/>
            <a:ext cx="2760962" cy="9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24545" y="1503130"/>
            <a:ext cx="251999" cy="251999"/>
          </a:xfrm>
          <a:prstGeom prst="ellipse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24545" y="1503130"/>
            <a:ext cx="25199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400"/>
              </a:spcBef>
            </a:pPr>
            <a:r>
              <a:rPr sz="7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064" y="1791130"/>
            <a:ext cx="2616962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62626"/>
                </a:solidFill>
                <a:latin typeface="본고딕"/>
              </a:rPr>
              <a:t>architecture-review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8064" y="1971130"/>
            <a:ext cx="2544962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57575"/>
                </a:solidFill>
                <a:latin typeface="본고딕"/>
              </a:rPr>
              <a:t>• SOLID 원칙
• 확장성 검토</a:t>
            </a:r>
          </a:p>
        </p:txBody>
      </p:sp>
      <p:sp>
        <p:nvSpPr>
          <p:cNvPr id="9" name="Left-Right Arrow 8"/>
          <p:cNvSpPr/>
          <p:nvPr/>
        </p:nvSpPr>
        <p:spPr>
          <a:xfrm>
            <a:off x="3139026" y="1809130"/>
            <a:ext cx="324000" cy="144000"/>
          </a:xfrm>
          <a:prstGeom prst="leftRightArrow">
            <a:avLst/>
          </a:prstGeom>
          <a:solidFill>
            <a:srgbClr val="B6B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71026" y="1431130"/>
            <a:ext cx="2760962" cy="9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5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25507" y="1503130"/>
            <a:ext cx="251999" cy="251999"/>
          </a:xfrm>
          <a:prstGeom prst="ellipse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25507" y="1503130"/>
            <a:ext cx="25199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400"/>
              </a:spcBef>
            </a:pPr>
            <a:r>
              <a:rPr sz="7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3026" y="1791130"/>
            <a:ext cx="2616962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62626"/>
                </a:solidFill>
                <a:latin typeface="본고딕"/>
              </a:rPr>
              <a:t>security-review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9026" y="1971130"/>
            <a:ext cx="2544962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57575"/>
                </a:solidFill>
                <a:latin typeface="본고딕"/>
              </a:rPr>
              <a:t>• OWASP 검증
• 인증/인가</a:t>
            </a:r>
          </a:p>
        </p:txBody>
      </p:sp>
      <p:sp>
        <p:nvSpPr>
          <p:cNvPr id="15" name="Left-Right Arrow 14"/>
          <p:cNvSpPr/>
          <p:nvPr/>
        </p:nvSpPr>
        <p:spPr>
          <a:xfrm>
            <a:off x="6439988" y="1809130"/>
            <a:ext cx="324000" cy="144000"/>
          </a:xfrm>
          <a:prstGeom prst="leftRightArrow">
            <a:avLst/>
          </a:prstGeom>
          <a:solidFill>
            <a:srgbClr val="B6B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71988" y="1431130"/>
            <a:ext cx="2760962" cy="9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B6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126469" y="1503130"/>
            <a:ext cx="251999" cy="251999"/>
          </a:xfrm>
          <a:prstGeom prst="ellipse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6469" y="1503130"/>
            <a:ext cx="25199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400"/>
              </a:spcBef>
            </a:pPr>
            <a:r>
              <a:rPr sz="700" b="1">
                <a:solidFill>
                  <a:srgbClr val="FFFFFF"/>
                </a:solidFill>
              </a:rPr>
              <a:t>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3988" y="1791130"/>
            <a:ext cx="2616962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62626"/>
                </a:solidFill>
                <a:latin typeface="본고딕"/>
              </a:rPr>
              <a:t>quality-review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79988" y="1971130"/>
            <a:ext cx="2544962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57575"/>
                </a:solidFill>
                <a:latin typeface="본고딕"/>
              </a:rPr>
              <a:t>• 완전성 검사
• 추적성 확인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0064" y="2511130"/>
            <a:ext cx="9362886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2452"/>
                </a:solidFill>
                <a:latin typeface="본고딕"/>
              </a:rPr>
              <a:t>/wf:apply - 설계 리뷰 반영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270064" y="2727130"/>
          <a:ext cx="9362886" cy="11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0962"/>
                <a:gridCol w="3120962"/>
                <a:gridCol w="3120962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판단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조건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처리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check_circle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적용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시스템&amp;Task 적합</a:t>
                      </a:r>
                    </a:p>
                  </a:txBody>
                  <a:tcPr/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edit_note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조정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취지 유효, 맞춤 필요</a:t>
                      </a:r>
                    </a:p>
                  </a:txBody>
                  <a:tcPr/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pause_circle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보류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범위 초과, 부적합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700">
                <a:solidFill>
                  <a:srgbClr val="262626"/>
                </a:solidFill>
              </a:rPr>
              <a:t>/wf:audit로 3개 관점 코드 검증 후, /wf:patch로 지적사항을 반영합니다.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rPr sz="1900" b="1">
                <a:solidFill>
                  <a:srgbClr val="002452"/>
                </a:solidFill>
              </a:rPr>
              <a:t>구현 단계 명령어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0064" y="1431130"/>
            <a:ext cx="2760962" cy="9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24545" y="1503130"/>
            <a:ext cx="251999" cy="251999"/>
          </a:xfrm>
          <a:prstGeom prst="ellipse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24545" y="1503130"/>
            <a:ext cx="25199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400"/>
              </a:spcBef>
            </a:pPr>
            <a:r>
              <a:rPr sz="7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064" y="1791130"/>
            <a:ext cx="2616962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62626"/>
                </a:solidFill>
                <a:latin typeface="본고딕"/>
              </a:rPr>
              <a:t>quality-audit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8064" y="1971130"/>
            <a:ext cx="2544962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57575"/>
                </a:solidFill>
                <a:latin typeface="본고딕"/>
              </a:rPr>
              <a:t>• SOLID 원칙
• 중복 제거
• 복잡도</a:t>
            </a:r>
          </a:p>
        </p:txBody>
      </p:sp>
      <p:sp>
        <p:nvSpPr>
          <p:cNvPr id="9" name="Left-Right Arrow 8"/>
          <p:cNvSpPr/>
          <p:nvPr/>
        </p:nvSpPr>
        <p:spPr>
          <a:xfrm>
            <a:off x="3139026" y="1809130"/>
            <a:ext cx="324000" cy="144000"/>
          </a:xfrm>
          <a:prstGeom prst="leftRightArrow">
            <a:avLst/>
          </a:prstGeom>
          <a:solidFill>
            <a:srgbClr val="B6B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71026" y="1431130"/>
            <a:ext cx="2760962" cy="9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5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25507" y="1503130"/>
            <a:ext cx="251999" cy="251999"/>
          </a:xfrm>
          <a:prstGeom prst="ellipse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25507" y="1503130"/>
            <a:ext cx="25199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400"/>
              </a:spcBef>
            </a:pPr>
            <a:r>
              <a:rPr sz="7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3026" y="1791130"/>
            <a:ext cx="2616962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62626"/>
                </a:solidFill>
                <a:latin typeface="본고딕"/>
              </a:rPr>
              <a:t>security-audit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9026" y="1971130"/>
            <a:ext cx="2544962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57575"/>
                </a:solidFill>
                <a:latin typeface="본고딕"/>
              </a:rPr>
              <a:t>• 인젝션 방지
• 인증 검증
• 암호화</a:t>
            </a:r>
          </a:p>
        </p:txBody>
      </p:sp>
      <p:sp>
        <p:nvSpPr>
          <p:cNvPr id="15" name="Left-Right Arrow 14"/>
          <p:cNvSpPr/>
          <p:nvPr/>
        </p:nvSpPr>
        <p:spPr>
          <a:xfrm>
            <a:off x="6439988" y="1809130"/>
            <a:ext cx="324000" cy="144000"/>
          </a:xfrm>
          <a:prstGeom prst="leftRightArrow">
            <a:avLst/>
          </a:prstGeom>
          <a:solidFill>
            <a:srgbClr val="B6B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71988" y="1431130"/>
            <a:ext cx="2760962" cy="9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B6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126469" y="1503130"/>
            <a:ext cx="251999" cy="251999"/>
          </a:xfrm>
          <a:prstGeom prst="ellipse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6469" y="1503130"/>
            <a:ext cx="25199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400"/>
              </a:spcBef>
            </a:pPr>
            <a:r>
              <a:rPr sz="7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3988" y="1791130"/>
            <a:ext cx="2616962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62626"/>
                </a:solidFill>
                <a:latin typeface="본고딕"/>
              </a:rPr>
              <a:t>performance-audit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79988" y="1971130"/>
            <a:ext cx="2544962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57575"/>
                </a:solidFill>
                <a:latin typeface="본고딕"/>
              </a:rPr>
              <a:t>• 쿼리 최적화
• 캐싱 전략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0064" y="2511130"/>
            <a:ext cx="9362886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2452"/>
                </a:solidFill>
                <a:latin typeface="본고딕"/>
              </a:rPr>
              <a:t>/wf:patch - 우선순위별 적용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270064" y="2727130"/>
          <a:ext cx="9362886" cy="11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0962"/>
                <a:gridCol w="3120962"/>
                <a:gridCol w="3120962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우선순위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분류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적용 원칙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Must 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보안 취약점, 치명적 버그</a:t>
                      </a:r>
                    </a:p>
                  </a:txBody>
                  <a:tcPr/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Should 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성능 이슈, 코드 품질</a:t>
                      </a:r>
                    </a:p>
                  </a:txBody>
                  <a:tcPr/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Nice to Have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코딩 스타일, 문서화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700">
                <a:solidFill>
                  <a:srgbClr val="262626"/>
                </a:solidFill>
              </a:rPr>
              <a:t>각 단계별로 표준화된 문서가 자동 생성되며, 완료 신호 프로토콜로 다음 단계를 트리거합니다.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rPr sz="1900" b="1">
                <a:solidFill>
                  <a:srgbClr val="002452"/>
                </a:solidFill>
              </a:rPr>
              <a:t>워크플로우 산출물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0064" y="1431130"/>
          <a:ext cx="9362886" cy="2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0962"/>
                <a:gridCol w="3120962"/>
                <a:gridCol w="3120962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단계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명령어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생성 문서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설계 시작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/wf:start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010-design.md</a:t>
                      </a:r>
                    </a:p>
                  </a:txBody>
                  <a:tcPr/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설계 리뷰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/wf:review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021-design-review-{llm}-{n}.md</a:t>
                      </a:r>
                    </a:p>
                  </a:txBody>
                  <a:tcPr/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리뷰 반영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/wf:apply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설계 문서 수정, "(적용완료)"</a:t>
                      </a:r>
                    </a:p>
                  </a:txBody>
                  <a:tcPr/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/wf:build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030-implementation.md</a:t>
                      </a:r>
                    </a:p>
                  </a:txBody>
                  <a:tcPr/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코드 리뷰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/wf:audit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031-code-review-{llm}-{n}.md</a:t>
                      </a:r>
                    </a:p>
                  </a:txBody>
                  <a:tcPr/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패치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/wf:patch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코드 수정, "(적용완료)"</a:t>
                      </a:r>
                    </a:p>
                  </a:txBody>
                  <a:tcPr/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검증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/wf:verify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통합테스트 결과</a:t>
                      </a:r>
                    </a:p>
                  </a:txBody>
                  <a:tcPr/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테스트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/wf:test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070-*-test-results.md</a:t>
                      </a:r>
                    </a:p>
                  </a:txBody>
                  <a:tcPr/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완료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/wf:done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080-manual.md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0064" y="4491130"/>
            <a:ext cx="9362886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2452"/>
                </a:solidFill>
                <a:latin typeface="본고딕"/>
              </a:rPr>
              <a:t>완료 신호 프로토콜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0064" y="4671130"/>
            <a:ext cx="8894741" cy="720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6B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8064" y="4743130"/>
            <a:ext cx="8678741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Consolas"/>
              </a:rPr>
              <a:t>ORCHAY_DONE:{project}/{task-id}:{command}:{status}
예: ORCHAY_DONE:orchay/TSK-01-01:build:success
예: ORCHAY_DONE:orchay/TSK-02-03:test:error:커버리지 미달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700">
                <a:solidFill>
                  <a:srgbClr val="262626"/>
                </a:solidFill>
              </a:rPr>
              <a:t>프로젝트 특성에 따라 4가지 실행 모드 중 선택하여 워크플로우를 조절할 수 있습니다.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rPr sz="1900" b="1">
                <a:solidFill>
                  <a:srgbClr val="002452"/>
                </a:solidFill>
              </a:rPr>
              <a:t>실행 모드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0064" y="1431130"/>
          <a:ext cx="9362884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0721"/>
                <a:gridCol w="2340721"/>
                <a:gridCol w="2340721"/>
                <a:gridCol w="2340721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모드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워크플로우 범위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종료 상태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의존성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start → review → apply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[dd] 상세설계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무시</a:t>
                      </a:r>
                    </a:p>
                  </a:txBody>
                  <a:tcPr/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quick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start → approve → build → 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[xx] 완료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검사</a:t>
                      </a:r>
                    </a:p>
                  </a:txBody>
                  <a:tcPr/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develop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전체 (리뷰/테스트 포함)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[im] 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검사</a:t>
                      </a:r>
                    </a:p>
                  </a:txBody>
                  <a:tcPr/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force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quick과 동일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[xx] 완료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무시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0064" y="3051130"/>
            <a:ext cx="9362886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2452"/>
                </a:solidFill>
                <a:latin typeface="본고딕"/>
              </a:rPr>
              <a:t>상태 전이 다이어그램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73507" y="3267130"/>
            <a:ext cx="576000" cy="251999"/>
          </a:xfrm>
          <a:prstGeom prst="round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73507" y="3321130"/>
            <a:ext cx="576000" cy="14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본고딕"/>
              </a:rPr>
              <a:t>[ ] Todo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385507" y="3339129"/>
            <a:ext cx="108000" cy="108000"/>
          </a:xfrm>
          <a:prstGeom prst="rightArrow">
            <a:avLst/>
          </a:prstGeom>
          <a:solidFill>
            <a:srgbClr val="B6B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29507" y="3267130"/>
            <a:ext cx="576000" cy="251999"/>
          </a:xfrm>
          <a:prstGeom prst="round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9507" y="3321130"/>
            <a:ext cx="576000" cy="14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본고딕"/>
              </a:rPr>
              <a:t>[dd] 상세설계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141507" y="3339129"/>
            <a:ext cx="108000" cy="108000"/>
          </a:xfrm>
          <a:prstGeom prst="rightArrow">
            <a:avLst/>
          </a:prstGeom>
          <a:solidFill>
            <a:srgbClr val="B6B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5507" y="3555129"/>
            <a:ext cx="1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757575"/>
                </a:solidFill>
                <a:latin typeface="본고딕"/>
              </a:rPr>
              <a:t>start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5507" y="3267130"/>
            <a:ext cx="576000" cy="251999"/>
          </a:xfrm>
          <a:prstGeom prst="round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85507" y="3321130"/>
            <a:ext cx="576000" cy="14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본고딕"/>
              </a:rPr>
              <a:t>[ap] 승인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97507" y="3339129"/>
            <a:ext cx="108000" cy="108000"/>
          </a:xfrm>
          <a:prstGeom prst="rightArrow">
            <a:avLst/>
          </a:prstGeom>
          <a:solidFill>
            <a:srgbClr val="B6B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61507" y="3555129"/>
            <a:ext cx="1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757575"/>
                </a:solidFill>
                <a:latin typeface="본고딕"/>
              </a:rPr>
              <a:t>approve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41507" y="3267130"/>
            <a:ext cx="576000" cy="251999"/>
          </a:xfrm>
          <a:prstGeom prst="roundRect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41507" y="3321130"/>
            <a:ext cx="576000" cy="14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본고딕"/>
              </a:rPr>
              <a:t>[im] 구현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653507" y="3339129"/>
            <a:ext cx="108000" cy="108000"/>
          </a:xfrm>
          <a:prstGeom prst="rightArrow">
            <a:avLst/>
          </a:prstGeom>
          <a:solidFill>
            <a:srgbClr val="B6B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17507" y="3555129"/>
            <a:ext cx="1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757575"/>
                </a:solidFill>
                <a:latin typeface="본고딕"/>
              </a:rPr>
              <a:t>build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97507" y="3267130"/>
            <a:ext cx="576000" cy="251999"/>
          </a:xfrm>
          <a:prstGeom prst="roundRect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97507" y="3321130"/>
            <a:ext cx="576000" cy="14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본고딕"/>
              </a:rPr>
              <a:t>[vf] 검증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409507" y="3339129"/>
            <a:ext cx="108000" cy="108000"/>
          </a:xfrm>
          <a:prstGeom prst="rightArrow">
            <a:avLst/>
          </a:prstGeom>
          <a:solidFill>
            <a:srgbClr val="B6B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3507" y="3555129"/>
            <a:ext cx="1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757575"/>
                </a:solidFill>
                <a:latin typeface="본고딕"/>
              </a:rPr>
              <a:t>verify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53507" y="3267130"/>
            <a:ext cx="576000" cy="251999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507" y="3321130"/>
            <a:ext cx="576000" cy="14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본고딕"/>
              </a:rPr>
              <a:t>[xx] 완료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0064" y="3951129"/>
            <a:ext cx="9362886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2452"/>
                </a:solidFill>
                <a:latin typeface="본고딕"/>
              </a:rPr>
              <a:t>카테고리별 워크플로우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270064" y="4167129"/>
          <a:ext cx="9362886" cy="11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0962"/>
                <a:gridCol w="3120962"/>
                <a:gridCol w="3120962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카테고리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구현 명령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신규 기능 개발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build</a:t>
                      </a:r>
                    </a:p>
                  </a:txBody>
                  <a:tcPr/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defect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버그 수정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fix</a:t>
                      </a:r>
                    </a:p>
                  </a:txBody>
                  <a:tcPr/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infrastructure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인프라/리팩토링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build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700">
                <a:solidFill>
                  <a:srgbClr val="262626"/>
                </a:solidFill>
              </a:rPr>
              <a:t>PRD 문서를 분석하여 YAML 형식의 WBS를 자동 생성합니다.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rPr sz="1900" b="1">
                <a:solidFill>
                  <a:srgbClr val="002452"/>
                </a:solidFill>
              </a:rPr>
              <a:t>기획 명령어 (/plan:*)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0064" y="1431130"/>
            <a:ext cx="9362886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2452"/>
                </a:solidFill>
                <a:latin typeface="본고딕"/>
              </a:rPr>
              <a:t>WBS 자동 생성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0064" y="1611130"/>
            <a:ext cx="8894741" cy="432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6B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8064" y="1683130"/>
            <a:ext cx="8678741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Consolas"/>
              </a:rPr>
              <a:t>/plan:wbs .orchay/projects/myapp/prd.md
/plan:wbs .orchay/projects/myapp/prd.md --scale large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0064" y="2151130"/>
            <a:ext cx="9362886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2452"/>
                </a:solidFill>
                <a:latin typeface="본고딕"/>
              </a:rPr>
              <a:t>계층 구조 자동 결정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0064" y="2367130"/>
          <a:ext cx="9362886" cy="11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0962"/>
                <a:gridCol w="3120962"/>
                <a:gridCol w="3120962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기준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4단계 (WP→ACT→TSK)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3단계 (WP→TSK)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예상 기간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12개월+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12개월 미만</a:t>
                      </a:r>
                    </a:p>
                  </a:txBody>
                  <a:tcPr/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팀 규모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10명+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10명 미만</a:t>
                      </a:r>
                    </a:p>
                  </a:txBody>
                  <a:tcPr/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Task 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50개+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50개 미만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700">
                <a:solidFill>
                  <a:srgbClr val="262626"/>
                </a:solidFill>
              </a:rPr>
              <a:t>Python 기반의 모듈화된 구조로, WezTerm과 Claude Code를 연동합니다.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rPr sz="1900" b="1">
                <a:solidFill>
                  <a:srgbClr val="002452"/>
                </a:solidFill>
              </a:rPr>
              <a:t>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0064" y="1431130"/>
            <a:ext cx="9362886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2452"/>
                </a:solidFill>
                <a:latin typeface="본고딕"/>
              </a:rPr>
              <a:t>시스템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0064" y="1647130"/>
            <a:ext cx="36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2452"/>
                </a:solidFill>
                <a:latin typeface="Consolas"/>
              </a:rPr>
              <a:t>📁 orchay/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6064" y="1863130"/>
            <a:ext cx="36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51F2A"/>
                </a:solidFill>
                <a:latin typeface="Consolas"/>
              </a:rPr>
              <a:t>📄 main.py  # 오케스트레이터 (메인 루프)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6064" y="2079130"/>
            <a:ext cx="36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51F2A"/>
                </a:solidFill>
                <a:latin typeface="Consolas"/>
              </a:rPr>
              <a:t>📄 scheduler.py  # Task 필터링 &amp; 분배 로직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6064" y="2295130"/>
            <a:ext cx="36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51F2A"/>
                </a:solidFill>
                <a:latin typeface="Consolas"/>
              </a:rPr>
              <a:t>📄 wbs_parser.py  # WBS 파일 파싱 &amp; 감시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6064" y="2511130"/>
            <a:ext cx="36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51F2A"/>
                </a:solidFill>
                <a:latin typeface="Consolas"/>
              </a:rPr>
              <a:t>📄 worker.py  # Worker 상태 감지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6064" y="2727130"/>
            <a:ext cx="36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B6580"/>
                </a:solidFill>
                <a:latin typeface="Consolas"/>
              </a:rPr>
              <a:t>📁 models/  # Pydantic 데이터 모델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064" y="2943130"/>
            <a:ext cx="36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B6580"/>
                </a:solidFill>
                <a:latin typeface="Consolas"/>
              </a:rPr>
              <a:t>📁 utils/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064" y="3159130"/>
            <a:ext cx="36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62626"/>
                </a:solidFill>
                <a:latin typeface="Consolas"/>
              </a:rPr>
              <a:t>📄 wezterm.py  # WezTerm CLI 래퍼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64" y="3087130"/>
            <a:ext cx="9362886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2452"/>
                </a:solidFill>
                <a:latin typeface="본고딕"/>
              </a:rPr>
              <a:t>기술 스택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270064" y="3303130"/>
          <a:ext cx="327701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505"/>
                <a:gridCol w="1638505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구성 요소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기술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터미널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WezTerm (멀티 pane 지원)</a:t>
                      </a:r>
                    </a:p>
                  </a:txBody>
                  <a:tcPr/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AI Worker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Claude Code</a:t>
                      </a:r>
                    </a:p>
                  </a:txBody>
                  <a:tcPr/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언어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Python 3.10+</a:t>
                      </a:r>
                    </a:p>
                  </a:txBody>
                  <a:tcPr/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TUI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Textual + Rich</a:t>
                      </a:r>
                    </a:p>
                  </a:txBody>
                  <a:tcPr/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파일 감시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watchdog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700">
                <a:solidFill>
                  <a:srgbClr val="262626"/>
                </a:solidFill>
              </a:rPr>
              <a:t>프로젝트 폴더에서 간단한 명령어로 실행하고, TUI 대시보드로 모니터링합니다.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rPr sz="1900" b="1">
                <a:solidFill>
                  <a:srgbClr val="002452"/>
                </a:solidFill>
              </a:rPr>
              <a:t>사용법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0064" y="1431130"/>
            <a:ext cx="9362886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2452"/>
                </a:solidFill>
                <a:latin typeface="본고딕"/>
              </a:rPr>
              <a:t>기본 실행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0064" y="1611130"/>
            <a:ext cx="8894741" cy="1296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6B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8064" y="1683130"/>
            <a:ext cx="8678741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Consolas"/>
              </a:rPr>
              <a:t># 프로젝트 폴더에서 실행
cd {프로젝트 루트}
orchay [프로젝트명] [옵션]
# 예시
orchay my_project           # 기본 실행
orchay my_project -w 5      # Worker 5개
orchay my_project -m design # 설계 모드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8208" y="3015130"/>
            <a:ext cx="8426597" cy="144000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8208" y="3015130"/>
            <a:ext cx="8426597" cy="251999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6208" y="3087130"/>
            <a:ext cx="90000" cy="9000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90207" y="3087130"/>
            <a:ext cx="90000" cy="9000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34208" y="3087130"/>
            <a:ext cx="90000" cy="9000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58208" y="3069130"/>
            <a:ext cx="6986597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본고딕"/>
              </a:rPr>
              <a:t>orchay - Task Scheduler v0.1.0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6208" y="3339130"/>
            <a:ext cx="8210597" cy="10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onsolas"/>
              </a:rPr>
              <a:t>WBS: /project/wbs.yaml
Mode: quick | Workers: 3개 | Tasks: 9개
           Worker Status
┌────┬──────┬────────┬──────────────┐
│ ID │ Pane │ State │ Task │
├────┼──────┼────────┼──────────────┤
│ 1  │ 0    │ busy  │ TSK-02-01    │
│ 2  │ 2    │ idle  │ -    │
│ 3  │ 1    │ idle  │ -    │
└────┴──────┴────────┴──────────────┘
Queue: 5 pending, 1 running, 3 done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700">
                <a:solidFill>
                  <a:srgbClr val="262626"/>
                </a:solidFill>
              </a:rPr>
              <a:t>WezTerm과 Claude Code가 설치되어 있다면, 3가지 방법 중 선택하여 설치할 수 있습니다.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rPr sz="1900" b="1">
                <a:solidFill>
                  <a:srgbClr val="002452"/>
                </a:solidFill>
              </a:rPr>
              <a:t>설치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0064" y="1431130"/>
            <a:ext cx="9362886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2452"/>
                </a:solidFill>
                <a:latin typeface="본고딕"/>
              </a:rPr>
              <a:t>사전 요구사항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0064" y="1647130"/>
          <a:ext cx="9362886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0962"/>
                <a:gridCol w="3120962"/>
                <a:gridCol w="3120962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도구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용도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필수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WezTerm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멀티 pane 터미널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True</a:t>
                      </a:r>
                    </a:p>
                  </a:txBody>
                  <a:tcPr/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Claude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AI Worker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True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700">
                <a:solidFill>
                  <a:srgbClr val="262626"/>
                </a:solidFill>
              </a:rPr>
              <a:t>orchay 도입으로 개발 생산성을 획기적으로 향상시킬 수 있습니다.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rPr sz="1900" b="1">
                <a:solidFill>
                  <a:srgbClr val="002452"/>
                </a:solidFill>
              </a:rPr>
              <a:t>효과 및 기대 가치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700">
                <a:solidFill>
                  <a:srgbClr val="262626"/>
                </a:solidFill>
              </a:rPr>
              <a:t>Git Worktree 통합으로 완전한 병렬 개발 환경을 구축할 예정입니다.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rPr sz="1900" b="1">
                <a:solidFill>
                  <a:srgbClr val="002452"/>
                </a:solidFill>
              </a:rPr>
              <a:t>향후 개발 예정 기능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0064" y="1431130"/>
            <a:ext cx="9362886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2452"/>
                </a:solidFill>
                <a:latin typeface="본고딕"/>
              </a:rPr>
              <a:t>Worktree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0064" y="1647130"/>
            <a:ext cx="36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2452"/>
                </a:solidFill>
                <a:latin typeface="Consolas"/>
              </a:rPr>
              <a:t>📁 project/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6064" y="1863130"/>
            <a:ext cx="36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57575"/>
                </a:solidFill>
                <a:latin typeface="Consolas"/>
              </a:rPr>
              <a:t>📁 .git/  # 공유 Git 저장소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6064" y="2079130"/>
            <a:ext cx="36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2452"/>
                </a:solidFill>
                <a:latin typeface="Consolas"/>
              </a:rPr>
              <a:t>📁 worktree-worker-1/  # TSK-01-01 브랜치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6064" y="2295130"/>
            <a:ext cx="36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51F2A"/>
                </a:solidFill>
                <a:latin typeface="Consolas"/>
              </a:rPr>
              <a:t>📁 worktree-worker-2/  # TSK-01-02 브랜치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6064" y="2511130"/>
            <a:ext cx="36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B6580"/>
                </a:solidFill>
                <a:latin typeface="Consolas"/>
              </a:rPr>
              <a:t>📁 worktree-worker-3/  # TSK-02-01 브랜치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0064" y="3087130"/>
            <a:ext cx="9362886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2452"/>
                </a:solidFill>
                <a:latin typeface="본고딕"/>
              </a:rPr>
              <a:t>추가 예정 기능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70064" y="3303130"/>
          <a:ext cx="9362886" cy="201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0962"/>
                <a:gridCol w="3120962"/>
                <a:gridCol w="3120962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우선순위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기능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높음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동적 Worker 스케일링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부하에 따른 Worker 자동 추가/제거</a:t>
                      </a:r>
                    </a:p>
                  </a:txBody>
                  <a:tcPr/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높음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의존성 위상정렬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Task 실행 순서 자동 최적화</a:t>
                      </a:r>
                    </a:p>
                  </a:txBody>
                  <a:tcPr/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높음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순환 의존성 감지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잘못된 의존성 조기 발견</a:t>
                      </a:r>
                    </a:p>
                  </a:txBody>
                  <a:tcPr/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중간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다중 LLM 지원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Claude, GPT, Gemini 혼합 사용</a:t>
                      </a:r>
                    </a:p>
                  </a:txBody>
                  <a:tcPr/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중간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Rate Limit 동적 조정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제공자별 제한 자동 관리</a:t>
                      </a:r>
                    </a:p>
                  </a:txBody>
                  <a:tcPr/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낮음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성능 메트릭 대시보드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토큰 사용량, 응답 시간 시각화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700">
                <a:solidFill>
                  <a:srgbClr val="262626"/>
                </a:solidFill>
              </a:rPr>
              <a:t>AI 코딩 어시스턴트를 위한 Task 오케스트레이터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rPr sz="1900" b="1">
                <a:solidFill>
                  <a:srgbClr val="002452"/>
                </a:solidFill>
              </a:rPr>
              <a:t>마무리</a:t>
            </a:r>
          </a:p>
        </p:txBody>
      </p:sp>
      <p:sp>
        <p:nvSpPr>
          <p:cNvPr id="4" name="Oval 3"/>
          <p:cNvSpPr/>
          <p:nvPr/>
        </p:nvSpPr>
        <p:spPr>
          <a:xfrm>
            <a:off x="1206424" y="1431130"/>
            <a:ext cx="360000" cy="360000"/>
          </a:xfrm>
          <a:prstGeom prst="ellipse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6424" y="1431130"/>
            <a:ext cx="36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700"/>
              </a:spcBef>
            </a:pPr>
            <a:r>
              <a:rPr sz="110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0064" y="1827130"/>
            <a:ext cx="2232721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62626"/>
                </a:solidFill>
                <a:latin typeface="본고딕"/>
              </a:rPr>
              <a:t>WBS 기반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0064" y="1971130"/>
            <a:ext cx="2232721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57575"/>
                </a:solidFill>
                <a:latin typeface="본고딕"/>
              </a:rPr>
              <a:t>Task 자동 분배</a:t>
            </a:r>
          </a:p>
        </p:txBody>
      </p:sp>
      <p:sp>
        <p:nvSpPr>
          <p:cNvPr id="8" name="Oval 7"/>
          <p:cNvSpPr/>
          <p:nvPr/>
        </p:nvSpPr>
        <p:spPr>
          <a:xfrm>
            <a:off x="3583146" y="1431130"/>
            <a:ext cx="360000" cy="360000"/>
          </a:xfrm>
          <a:prstGeom prst="ellipse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83146" y="1431130"/>
            <a:ext cx="36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700"/>
              </a:spcBef>
            </a:pPr>
            <a:r>
              <a:rPr sz="1100" b="1">
                <a:solidFill>
                  <a:srgbClr val="FFFFFF"/>
                </a:solidFill>
              </a:rPr>
              <a:t>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46785" y="1827130"/>
            <a:ext cx="2232721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62626"/>
                </a:solidFill>
                <a:latin typeface="본고딕"/>
              </a:rPr>
              <a:t>다중 Worker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46785" y="1971130"/>
            <a:ext cx="2232721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57575"/>
                </a:solidFill>
                <a:latin typeface="본고딕"/>
              </a:rPr>
              <a:t>병렬 실행</a:t>
            </a:r>
          </a:p>
        </p:txBody>
      </p:sp>
      <p:sp>
        <p:nvSpPr>
          <p:cNvPr id="12" name="Oval 11"/>
          <p:cNvSpPr/>
          <p:nvPr/>
        </p:nvSpPr>
        <p:spPr>
          <a:xfrm>
            <a:off x="5959867" y="1431130"/>
            <a:ext cx="360000" cy="360000"/>
          </a:xfrm>
          <a:prstGeom prst="ellipse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59867" y="1431130"/>
            <a:ext cx="36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700"/>
              </a:spcBef>
            </a:pPr>
            <a:r>
              <a:rPr sz="11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3507" y="1827130"/>
            <a:ext cx="2232721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62626"/>
                </a:solidFill>
                <a:latin typeface="본고딕"/>
              </a:rPr>
              <a:t>워크플로우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3507" y="1971130"/>
            <a:ext cx="2232721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57575"/>
                </a:solidFill>
                <a:latin typeface="본고딕"/>
              </a:rPr>
              <a:t>기반 자동화</a:t>
            </a:r>
          </a:p>
        </p:txBody>
      </p:sp>
      <p:sp>
        <p:nvSpPr>
          <p:cNvPr id="16" name="Oval 15"/>
          <p:cNvSpPr/>
          <p:nvPr/>
        </p:nvSpPr>
        <p:spPr>
          <a:xfrm>
            <a:off x="8336589" y="1431130"/>
            <a:ext cx="360000" cy="3600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6589" y="1431130"/>
            <a:ext cx="36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700"/>
              </a:spcBef>
            </a:pPr>
            <a:r>
              <a:rPr sz="1100" b="1">
                <a:solidFill>
                  <a:srgbClr val="FFFFFF"/>
                </a:solidFill>
              </a:rPr>
              <a:t>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0228" y="1827130"/>
            <a:ext cx="2232721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62626"/>
                </a:solidFill>
                <a:latin typeface="본고딕"/>
              </a:rPr>
              <a:t>실시간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0228" y="1971130"/>
            <a:ext cx="2232721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57575"/>
                </a:solidFill>
                <a:latin typeface="본고딕"/>
              </a:rPr>
              <a:t>모니터링 &amp; 관리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1507" y="2259130"/>
            <a:ext cx="1440000" cy="288000"/>
          </a:xfrm>
          <a:prstGeom prst="round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21507" y="2331130"/>
            <a:ext cx="144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본고딕"/>
              </a:rPr>
              <a:t>GitHub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1507" y="2421130"/>
            <a:ext cx="14400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본고딕"/>
              </a:rPr>
              <a:t>github.com/jongik-sv/orchay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41507" y="2259130"/>
            <a:ext cx="1440000" cy="288000"/>
          </a:xfrm>
          <a:prstGeom prst="round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41507" y="2331130"/>
            <a:ext cx="144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본고딕"/>
              </a:rPr>
              <a:t>PyPI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41507" y="2421130"/>
            <a:ext cx="14400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본고딕"/>
              </a:rPr>
              <a:t>pypi.org/project/orchay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0064" y="3087130"/>
            <a:ext cx="9362886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02452"/>
                </a:solidFill>
                <a:latin typeface="본고딕"/>
              </a:rPr>
              <a:t>Q&amp;A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0064" y="3519130"/>
            <a:ext cx="9362886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757575"/>
                </a:solidFill>
                <a:latin typeface="본고딕"/>
              </a:rPr>
              <a:t>질문이 있으신가요?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dPxuVT9SgS5FEtnWf0jH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dPxuVT9SgS5FEtnWf0jHw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IIfDxmQRFKPI4nuOO6gb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IIfDxmQRFKPI4nuOO6gbw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IIfDxmQRFKPI4nuOO6gbw"/>
</p:tagLst>
</file>

<file path=ppt/theme/theme1.xml><?xml version="1.0" encoding="utf-8"?>
<a:theme xmlns:a="http://schemas.openxmlformats.org/drawingml/2006/main" name="1_Office 테마">
  <a:themeElements>
    <a:clrScheme name="동국제강">
      <a:dk1>
        <a:srgbClr val="262626"/>
      </a:dk1>
      <a:lt1>
        <a:srgbClr val="FFFFFF"/>
      </a:lt1>
      <a:dk2>
        <a:srgbClr val="002452"/>
      </a:dk2>
      <a:lt2>
        <a:srgbClr val="B6B6B6"/>
      </a:lt2>
      <a:accent1>
        <a:srgbClr val="757575"/>
      </a:accent1>
      <a:accent2>
        <a:srgbClr val="4B6580"/>
      </a:accent2>
      <a:accent3>
        <a:srgbClr val="B7D0D4"/>
      </a:accent3>
      <a:accent4>
        <a:srgbClr val="C51F2A"/>
      </a:accent4>
      <a:accent5>
        <a:srgbClr val="D55633"/>
      </a:accent5>
      <a:accent6>
        <a:srgbClr val="E9B86E"/>
      </a:accent6>
      <a:hlink>
        <a:srgbClr val="0563C1"/>
      </a:hlink>
      <a:folHlink>
        <a:srgbClr val="954F72"/>
      </a:folHlink>
    </a:clrScheme>
    <a:fontScheme name="동국제강">
      <a:majorFont>
        <a:latin typeface="본고딕 Medium"/>
        <a:ea typeface="본고딕 Medium"/>
        <a:cs typeface=""/>
      </a:majorFont>
      <a:minorFont>
        <a:latin typeface="본고딕 Normal"/>
        <a:ea typeface="본고딕 Normal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7828</TotalTime>
  <Words>50</Words>
  <Application>Microsoft Office PowerPoint</Application>
  <PresentationFormat>A4 용지(210x297mm)</PresentationFormat>
  <Paragraphs>26</Paragraphs>
  <Slides>5</Slides>
  <Notes>5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2" baseType="lpstr">
      <vt:lpstr>맑은 고딕</vt:lpstr>
      <vt:lpstr>본고딕 Bold</vt:lpstr>
      <vt:lpstr>본고딕 Medium</vt:lpstr>
      <vt:lpstr>본고딕 Normal</vt:lpstr>
      <vt:lpstr>Arial</vt:lpstr>
      <vt:lpstr>1_Office 테마</vt:lpstr>
      <vt:lpstr>think-cell 슬라이드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동국제강그룹  문서 템플릿 통합 계획안</dc:title>
  <dc:creator>heeseung.jang</dc:creator>
  <cp:lastModifiedBy>Microsoft 계정</cp:lastModifiedBy>
  <cp:revision>299</cp:revision>
  <cp:lastPrinted>2025-07-23T03:28:55Z</cp:lastPrinted>
  <dcterms:created xsi:type="dcterms:W3CDTF">2019-03-13T02:13:57Z</dcterms:created>
  <dcterms:modified xsi:type="dcterms:W3CDTF">2025-12-23T23:46:14Z</dcterms:modified>
</cp:coreProperties>
</file>