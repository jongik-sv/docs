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</c:v>
                </c:pt>
              </c:strCache>
            </c:strRef>
          </c:tx>
          <c:spPr>
            <a:solidFill>
              <a:srgbClr val="002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</c:v>
                </c:pt>
              </c:strCache>
            </c:strRef>
          </c:tx>
          <c:spPr>
            <a:solidFill>
              <a:srgbClr val="4B65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개발</c:v>
                </c:pt>
              </c:strCache>
            </c:strRef>
          </c:tx>
          <c:spPr>
            <a:solidFill>
              <a:srgbClr val="E9B8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DBA/QA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월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투입 인력 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3526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39713"/>
            <a:ext cx="9144000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4901" y="203150"/>
            <a:ext cx="598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4901" y="2600325"/>
            <a:ext cx="803168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수행계획서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34901" y="3330476"/>
            <a:ext cx="80316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I 2025.01.03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6213"/>
            <a:ext cx="6217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4901" y="1960513"/>
            <a:ext cx="787419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901" y="1295400"/>
            <a:ext cx="507950" cy="507950"/>
          </a:xfrm>
          <a:prstGeom prst="roundRect">
            <a:avLst>
              <a:gd name="adj" fmla="val 1000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5841" y="1430238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6752" y="1396901"/>
            <a:ext cx="67908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54429" y="1444526"/>
            <a:ext cx="4637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4901" y="2782788"/>
            <a:ext cx="787419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901" y="2117675"/>
            <a:ext cx="507950" cy="507950"/>
          </a:xfrm>
          <a:prstGeom prst="roundRect">
            <a:avLst>
              <a:gd name="adj" fmla="val 1000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5841" y="2252514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6752" y="2219176"/>
            <a:ext cx="67908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 및 방법론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54429" y="2266801"/>
            <a:ext cx="4637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06-08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4901" y="3605064"/>
            <a:ext cx="787419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901" y="2939951"/>
            <a:ext cx="507950" cy="507950"/>
          </a:xfrm>
          <a:prstGeom prst="roundRect">
            <a:avLst>
              <a:gd name="adj" fmla="val 1000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5841" y="3074789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6752" y="3041452"/>
            <a:ext cx="67908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및 일정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54429" y="3089077"/>
            <a:ext cx="4637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09-12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4901" y="4427339"/>
            <a:ext cx="787419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3762226"/>
            <a:ext cx="507950" cy="507950"/>
          </a:xfrm>
          <a:prstGeom prst="roundRect">
            <a:avLst>
              <a:gd name="adj" fmla="val 1000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5841" y="3897064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6752" y="3863727"/>
            <a:ext cx="67908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품질·위험·소통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54429" y="3911352"/>
            <a:ext cx="4637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13-17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17450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85651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글로벌물류의 차세대 물류관리 시스템을 12개월 내 구축합니다.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1104751"/>
            <a:ext cx="1825675" cy="3657749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104751"/>
            <a:ext cx="1825675" cy="5075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5401" y="1472952"/>
            <a:ext cx="1473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5401" y="1949202"/>
            <a:ext cx="1473568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5401" y="2882652"/>
            <a:ext cx="147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Top 5 물류기업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075" y="1104751"/>
            <a:ext cx="1825675" cy="3657749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51075" y="1104751"/>
            <a:ext cx="1825675" cy="50750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41575" y="1472952"/>
            <a:ext cx="1473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41575" y="1949202"/>
            <a:ext cx="147356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41575" y="2473077"/>
            <a:ext cx="14735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7250" y="1104751"/>
            <a:ext cx="1825675" cy="3657749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7250" y="1104751"/>
            <a:ext cx="1825675" cy="50750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7750" y="1472952"/>
            <a:ext cx="1473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7750" y="1949202"/>
            <a:ext cx="147356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57750" y="2473077"/>
            <a:ext cx="1473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 ~ 2025.12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83425" y="1104751"/>
            <a:ext cx="1825675" cy="3657749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83425" y="1104751"/>
            <a:ext cx="1825675" cy="5075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73925" y="1472952"/>
            <a:ext cx="14735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투입인력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73925" y="1949202"/>
            <a:ext cx="147356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8명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73925" y="2473077"/>
            <a:ext cx="1473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M/M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레거시 시스템 노후화 문제를 해결하고 물류 처리 효율 30%를 향상시킵니다.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3746599" cy="542925"/>
          </a:xfrm>
          <a:prstGeom prst="roundRect">
            <a:avLst>
              <a:gd name="adj" fmla="val 18714"/>
            </a:avLst>
          </a:prstGeom>
          <a:solidFill>
            <a:srgbClr val="E74C3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8802" y="1130052"/>
            <a:ext cx="33035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및 문제점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812578"/>
            <a:ext cx="3821531" cy="1905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10년+ 레거시 시스템 노후화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104579"/>
            <a:ext cx="3821531" cy="1905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속도 저하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2396579"/>
            <a:ext cx="3821531" cy="1905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파악 불가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688580"/>
            <a:ext cx="3821531" cy="1905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시스템 연동 한계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62500" y="977652"/>
            <a:ext cx="3746599" cy="542925"/>
          </a:xfrm>
          <a:prstGeom prst="roundRect">
            <a:avLst>
              <a:gd name="adj" fmla="val 18714"/>
            </a:avLst>
          </a:prstGeom>
          <a:solidFill>
            <a:srgbClr val="2E7D3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16401" y="1130052"/>
            <a:ext cx="33035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목표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2500" y="1812578"/>
            <a:ext cx="3821531" cy="1905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물류 최적화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2500" y="2104579"/>
            <a:ext cx="3821531" cy="1905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재고/배송 추적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62500" y="2396579"/>
            <a:ext cx="3821531" cy="1905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기반 확장성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90651" y="4121348"/>
            <a:ext cx="1257151" cy="641152"/>
          </a:xfrm>
          <a:prstGeom prst="roundRect">
            <a:avLst>
              <a:gd name="adj" fmla="val 3961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01703" y="4121348"/>
            <a:ext cx="1156097" cy="641152"/>
          </a:xfrm>
          <a:prstGeom prst="roundRect">
            <a:avLst>
              <a:gd name="adj" fmla="val 3961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11701" y="4121348"/>
            <a:ext cx="1041499" cy="641152"/>
          </a:xfrm>
          <a:prstGeom prst="roundRect">
            <a:avLst>
              <a:gd name="adj" fmla="val 3961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WMS, TMS, OMS, Dashboard 4개 핵심 모듈로 통합 물류 플랫폼을 구축합니다.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2648099" cy="1765399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77652"/>
            <a:ext cx="2648099" cy="634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5401" y="1231553"/>
            <a:ext cx="23124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5401" y="1533079"/>
            <a:ext cx="23124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창고관리시스템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5401" y="185052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5401" y="206007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5401" y="226962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피킹/패킹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36900" y="977652"/>
            <a:ext cx="2648099" cy="1765399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36900" y="977652"/>
            <a:ext cx="2648099" cy="63401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27400" y="1231553"/>
            <a:ext cx="23124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27400" y="1533079"/>
            <a:ext cx="23124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배송관리시스템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27400" y="185052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7400" y="206007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경로최적화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27400" y="226962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4901" y="2996952"/>
            <a:ext cx="2648099" cy="1765548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4901" y="2996952"/>
            <a:ext cx="2648099" cy="63401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5401" y="3250853"/>
            <a:ext cx="23124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401" y="3552379"/>
            <a:ext cx="23124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주문관리시스템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5401" y="386982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주문접수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5401" y="407937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5401" y="428892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36900" y="2996952"/>
            <a:ext cx="2648099" cy="1765548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36900" y="2996952"/>
            <a:ext cx="2648099" cy="63401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27400" y="3250853"/>
            <a:ext cx="23124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27400" y="3552379"/>
            <a:ext cx="23124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통합모니터링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27400" y="3869829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27400" y="4079379"/>
            <a:ext cx="2312441" cy="142875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27400" y="4260354"/>
            <a:ext cx="2312441" cy="171450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65999" y="977652"/>
            <a:ext cx="1943100" cy="3784848"/>
          </a:xfrm>
          <a:prstGeom prst="roundRect">
            <a:avLst>
              <a:gd name="adj" fmla="val 5229"/>
            </a:avLst>
          </a:prstGeom>
          <a:solidFill>
            <a:srgbClr val="F5F5F5"/>
          </a:solidFill>
          <a:ln w="19050">
            <a:solidFill>
              <a:srgbClr val="B6B6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5549" y="1187202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제외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75549" y="1504652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 시스템 (인터페이스만)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75549" y="1720453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시스템 (인터페이스만)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75549" y="1936254"/>
            <a:ext cx="1554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ERP (인터페이스만)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전환과 혁신적 기능 구현의 균형을 핵심 가치로 추진합니다.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2413099" cy="253901"/>
          </a:xfrm>
          <a:prstGeom prst="rect">
            <a:avLst/>
          </a:prstGeom>
          <a:solidFill>
            <a:srgbClr val="00245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79439" y="1650653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800"/>
              </a:spcBef>
              <a:spcAft>
                <a:spcPts val="4800"/>
              </a:spcAft>
              <a:buNone/>
            </a:pPr>
            <a:r>
              <a:rPr lang="en-US" sz="4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5401" y="1422053"/>
            <a:ext cx="2072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5401" y="1787128"/>
            <a:ext cx="207274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 모듈별 순차 전환으로 리스크 최소화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65450" y="977652"/>
            <a:ext cx="2413099" cy="253901"/>
          </a:xfrm>
          <a:prstGeom prst="rect">
            <a:avLst/>
          </a:prstGeom>
          <a:solidFill>
            <a:srgbClr val="C51F2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09989" y="1650653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800"/>
              </a:spcBef>
              <a:spcAft>
                <a:spcPts val="4800"/>
              </a:spcAft>
              <a:buNone/>
            </a:pPr>
            <a:r>
              <a:rPr lang="en-US" sz="48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55950" y="1422053"/>
            <a:ext cx="2072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5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55950" y="1787128"/>
            <a:ext cx="207274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스프린트로 빠른 피드백과 유연한 대응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977652"/>
            <a:ext cx="2413099" cy="253901"/>
          </a:xfrm>
          <a:prstGeom prst="rect">
            <a:avLst/>
          </a:prstGeom>
          <a:solidFill>
            <a:srgbClr val="2E7D3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0538" y="1650653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800"/>
              </a:spcBef>
              <a:spcAft>
                <a:spcPts val="4800"/>
              </a:spcAft>
              <a:buNone/>
            </a:pPr>
            <a:r>
              <a:rPr lang="en-US" sz="4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6500" y="1422053"/>
            <a:ext cx="20727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86500" y="1787128"/>
            <a:ext cx="207274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현업 리뷰를 통한 요구사항 정합성 확보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Agile-Waterfall 하이브리드 방법론으로 안정성과 유연성을 확보합니다.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5150" y="1600200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57151" y="1944588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501" y="2679650"/>
            <a:ext cx="1854398" cy="1460302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2832050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1240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33145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3505051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901" y="3797052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요구사항정의서, AS-IS 분석서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11450" y="2693789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73450" y="1600200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65450" y="1944588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90800" y="2679650"/>
            <a:ext cx="1854398" cy="1460302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43200" y="2832050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1240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설계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33145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3505051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797052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 일체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19749" y="2693789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81749" y="1600200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73750" y="1944588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99099" y="2679650"/>
            <a:ext cx="1854398" cy="1460302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1499" y="2832050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51499" y="31240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구현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1499" y="33145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51499" y="3505051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51499" y="3797052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소스코드, 단위테스트결과서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28048" y="2693789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90048" y="1600200"/>
            <a:ext cx="888950" cy="888950"/>
          </a:xfrm>
          <a:prstGeom prst="roundRect">
            <a:avLst>
              <a:gd name="adj" fmla="val 10286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05849" y="1944588"/>
            <a:ext cx="4663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07398" y="2679650"/>
            <a:ext cx="1854398" cy="1460302"/>
          </a:xfrm>
          <a:prstGeom prst="roundRect">
            <a:avLst>
              <a:gd name="adj" fmla="val 69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59798" y="2832050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59798" y="31240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통합/인수 테스트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59798" y="3314551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59798" y="3505051"/>
            <a:ext cx="1580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59798" y="3797052"/>
            <a:ext cx="1580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테스트결과서, 이행계획서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추진 전략 및 방법론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+ Spring Boot + PostgreSQL + AWS 기반 클라우드 네이티브 아키텍처입니다.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1916311"/>
            <a:ext cx="1462088" cy="1907381"/>
          </a:xfrm>
          <a:prstGeom prst="roundRect">
            <a:avLst>
              <a:gd name="adj" fmla="val 694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4590" y="2170212"/>
            <a:ext cx="11027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5401" y="2560737"/>
            <a:ext cx="1081088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0038" y="2662238"/>
            <a:ext cx="79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0038" y="2858988"/>
            <a:ext cx="7918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v3.4, MIT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5401" y="3195340"/>
            <a:ext cx="1081088" cy="374452"/>
          </a:xfrm>
          <a:prstGeom prst="roundRect">
            <a:avLst>
              <a:gd name="adj" fmla="val 1356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0038" y="3296841"/>
            <a:ext cx="79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0280" y="3582442"/>
            <a:ext cx="14913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Architecture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7488" y="1744861"/>
            <a:ext cx="1168450" cy="2250281"/>
          </a:xfrm>
          <a:prstGeom prst="roundRect">
            <a:avLst>
              <a:gd name="adj" fmla="val 8695"/>
            </a:avLst>
          </a:prstGeom>
          <a:solidFill>
            <a:srgbClr val="689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70114" y="1998762"/>
            <a:ext cx="8031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77988" y="2389287"/>
            <a:ext cx="787450" cy="704552"/>
          </a:xfrm>
          <a:prstGeom prst="roundRect">
            <a:avLst>
              <a:gd name="adj" fmla="val 7210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25562" y="2490788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25562" y="2858988"/>
            <a:ext cx="4923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77988" y="3195340"/>
            <a:ext cx="787450" cy="545902"/>
          </a:xfrm>
          <a:prstGeom prst="roundRect">
            <a:avLst>
              <a:gd name="adj" fmla="val 930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25562" y="3296841"/>
            <a:ext cx="4923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46438" y="1836986"/>
            <a:ext cx="1566565" cy="2066032"/>
          </a:xfrm>
          <a:prstGeom prst="roundRect">
            <a:avLst>
              <a:gd name="adj" fmla="val 6486"/>
            </a:avLst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25082" y="2090886"/>
            <a:ext cx="12092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6938" y="2481411"/>
            <a:ext cx="1185565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80530" y="2582912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80530" y="2779663"/>
            <a:ext cx="898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36938" y="3116014"/>
            <a:ext cx="1185565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80530" y="3217515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0530" y="3414266"/>
            <a:ext cx="898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03503" y="1995636"/>
            <a:ext cx="1454200" cy="1748730"/>
          </a:xfrm>
          <a:prstGeom prst="roundRect">
            <a:avLst>
              <a:gd name="adj" fmla="val 6987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83271" y="2249537"/>
            <a:ext cx="10946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94003" y="2640062"/>
            <a:ext cx="1073200" cy="374452"/>
          </a:xfrm>
          <a:prstGeom prst="roundRect">
            <a:avLst>
              <a:gd name="adj" fmla="val 1356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38719" y="2741563"/>
            <a:ext cx="783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94003" y="3116014"/>
            <a:ext cx="1073200" cy="374452"/>
          </a:xfrm>
          <a:prstGeom prst="roundRect">
            <a:avLst>
              <a:gd name="adj" fmla="val 1356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38719" y="3217515"/>
            <a:ext cx="783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/ S3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8202" y="1836986"/>
            <a:ext cx="1529655" cy="2066032"/>
          </a:xfrm>
          <a:prstGeom prst="roundRect">
            <a:avLst>
              <a:gd name="adj" fmla="val 6642"/>
            </a:avLst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27216" y="2090886"/>
            <a:ext cx="11716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38702" y="2481411"/>
            <a:ext cx="1148655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382664" y="2582912"/>
            <a:ext cx="860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82664" y="2779663"/>
            <a:ext cx="860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38702" y="3116014"/>
            <a:ext cx="1148655" cy="533102"/>
          </a:xfrm>
          <a:prstGeom prst="roundRect">
            <a:avLst>
              <a:gd name="adj" fmla="val 952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82664" y="3217515"/>
            <a:ext cx="860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82664" y="3414266"/>
            <a:ext cx="860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김철수를 중심으로 8명의 전문가가 프로젝트를 수행합니다.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73810" y="977652"/>
            <a:ext cx="1996380" cy="676275"/>
          </a:xfrm>
          <a:prstGeom prst="roundRect">
            <a:avLst>
              <a:gd name="adj" fmla="val 15024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42466" y="1130052"/>
            <a:ext cx="12590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42466" y="1330077"/>
            <a:ext cx="12590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 부장 (발주PM)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4901" y="2034927"/>
            <a:ext cx="7874198" cy="2596753"/>
          </a:xfrm>
          <a:prstGeom prst="roundRect">
            <a:avLst>
              <a:gd name="adj" fmla="val 586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02819" y="2288828"/>
            <a:ext cx="2138214" cy="653951"/>
          </a:xfrm>
          <a:prstGeom prst="roundRect">
            <a:avLst>
              <a:gd name="adj" fmla="val 77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31394" y="2288828"/>
            <a:ext cx="0" cy="653951"/>
          </a:xfrm>
          <a:prstGeom prst="line">
            <a:avLst/>
          </a:prstGeom>
          <a:noFill/>
          <a:ln w="57150">
            <a:solidFill>
              <a:srgbClr val="C51F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2958" y="2415778"/>
            <a:ext cx="1475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 차장 (PM)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62958" y="2644378"/>
            <a:ext cx="14750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총괄, 품질/위험 관리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8802" y="3196679"/>
            <a:ext cx="2201466" cy="1181100"/>
          </a:xfrm>
          <a:prstGeom prst="roundRect">
            <a:avLst>
              <a:gd name="adj" fmla="val 860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61097" y="3387179"/>
            <a:ext cx="1856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1097" y="3568154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이영희 과장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1267" y="3196679"/>
            <a:ext cx="2201466" cy="1181100"/>
          </a:xfrm>
          <a:prstGeom prst="roundRect">
            <a:avLst>
              <a:gd name="adj" fmla="val 860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43563" y="3387179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43563" y="3596729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박준형 책임 (AA)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43563" y="3806279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최수진 선임 (PL)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43563" y="4015829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임동현/강서연/윤재호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53733" y="3196679"/>
            <a:ext cx="2201466" cy="1181100"/>
          </a:xfrm>
          <a:prstGeom prst="roundRect">
            <a:avLst>
              <a:gd name="adj" fmla="val 860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26028" y="3387179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26028" y="3596729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오현우 대리 (DBA)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26028" y="3806279"/>
            <a:ext cx="1856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한미영 대리 (QA)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78M/M 투입으로 PM/AA 주도의 12개월 프로젝트를 수행합니다.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1104602"/>
            <a:ext cx="3042791" cy="441127"/>
          </a:xfrm>
          <a:prstGeom prst="roundRect">
            <a:avLst>
              <a:gd name="adj" fmla="val 5758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8802" y="1206103"/>
            <a:ext cx="25856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M/M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총 투입 | 6-9월 최대 8명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54735" y="2925217"/>
            <a:ext cx="2521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[월별 투입 인력 스택드 바 차트 영역]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34903" y="450473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9554" y="4534793"/>
            <a:ext cx="194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83955" y="450473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88606" y="4534793"/>
            <a:ext cx="172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12022" y="450473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6673" y="4520505"/>
            <a:ext cx="259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24624" y="4504730"/>
            <a:ext cx="203150" cy="203150"/>
          </a:xfrm>
          <a:prstGeom prst="roundRect">
            <a:avLst>
              <a:gd name="adj" fmla="val 1875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29275" y="4534793"/>
            <a:ext cx="4894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DBA/QA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34901" y="1736229"/>
          <a:ext cx="7912001" cy="25780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단계, 6개 마일스톤으로 12개월 프로젝트를 체계적으로 관리합니다.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1222028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50802" y="1104602"/>
            <a:ext cx="6858298" cy="406301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50802" y="1104602"/>
            <a:ext cx="548580" cy="406301"/>
          </a:xfrm>
          <a:prstGeom prst="roundRect">
            <a:avLst>
              <a:gd name="adj" fmla="val 1250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36093" y="1231553"/>
            <a:ext cx="1815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1729829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분석/설계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50802" y="1612404"/>
            <a:ext cx="6858298" cy="406301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99382" y="1612404"/>
            <a:ext cx="2263229" cy="406301"/>
          </a:xfrm>
          <a:prstGeom prst="roundRect">
            <a:avLst>
              <a:gd name="adj" fmla="val 12503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19735" y="1739354"/>
            <a:ext cx="4309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2월~5월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4901" y="2237631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802" y="2120205"/>
            <a:ext cx="6858298" cy="406301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31221" y="2120205"/>
            <a:ext cx="2263229" cy="406301"/>
          </a:xfrm>
          <a:prstGeom prst="roundRect">
            <a:avLst>
              <a:gd name="adj" fmla="val 12503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51574" y="2247156"/>
            <a:ext cx="4309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6월~9월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901" y="274543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50802" y="2628007"/>
            <a:ext cx="6858298" cy="406301"/>
          </a:xfrm>
          <a:prstGeom prst="roundRect">
            <a:avLst>
              <a:gd name="adj" fmla="val 125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4450" y="2628007"/>
            <a:ext cx="1165771" cy="406301"/>
          </a:xfrm>
          <a:prstGeom prst="roundRect">
            <a:avLst>
              <a:gd name="adj" fmla="val 1250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02525" y="2754957"/>
            <a:ext cx="560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10월~12월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01" y="3224808"/>
            <a:ext cx="1122908" cy="269677"/>
          </a:xfrm>
          <a:prstGeom prst="roundRect">
            <a:avLst>
              <a:gd name="adj" fmla="val 7064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1851" y="3288209"/>
            <a:ext cx="8863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착수보고 (1/10)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84759" y="3224808"/>
            <a:ext cx="1354187" cy="269677"/>
          </a:xfrm>
          <a:prstGeom prst="roundRect">
            <a:avLst>
              <a:gd name="adj" fmla="val 7064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011710" y="3288209"/>
            <a:ext cx="11222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요구사항 확정 (3/31)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65897" y="3224808"/>
            <a:ext cx="1151037" cy="269677"/>
          </a:xfrm>
          <a:prstGeom prst="roundRect">
            <a:avLst>
              <a:gd name="adj" fmla="val 7064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92847" y="3288209"/>
            <a:ext cx="915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설계 완료 (5/31)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43884" y="3224808"/>
            <a:ext cx="1151037" cy="269677"/>
          </a:xfrm>
          <a:prstGeom prst="roundRect">
            <a:avLst>
              <a:gd name="adj" fmla="val 7064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0834" y="3288209"/>
            <a:ext cx="915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개발 완료 (9/30)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1871" y="3224808"/>
            <a:ext cx="1301502" cy="269677"/>
          </a:xfrm>
          <a:prstGeom prst="roundRect">
            <a:avLst>
              <a:gd name="adj" fmla="val 7064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48821" y="3288209"/>
            <a:ext cx="10685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테스트 완료 (11/15)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4901" y="3621435"/>
            <a:ext cx="1252538" cy="269677"/>
          </a:xfrm>
          <a:prstGeom prst="roundRect">
            <a:avLst>
              <a:gd name="adj" fmla="val 7064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1851" y="3684836"/>
            <a:ext cx="10186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시스템 오픈 (12/1)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조직 및 일정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핵심 산출물을 단계별로 작성하고 품질을 관리합니다.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1422499" cy="453926"/>
          </a:xfrm>
          <a:prstGeom prst="roundRect">
            <a:avLst>
              <a:gd name="adj" fmla="val 22383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165" y="1104602"/>
            <a:ext cx="1191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8528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3951" y="1558528"/>
            <a:ext cx="0" cy="596801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5401" y="168547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5401" y="185692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4901" y="2256830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53951" y="2256830"/>
            <a:ext cx="0" cy="596801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401" y="2383780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수행계획서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5401" y="2555230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7900" y="977652"/>
            <a:ext cx="1422499" cy="453926"/>
          </a:xfrm>
          <a:prstGeom prst="roundRect">
            <a:avLst>
              <a:gd name="adj" fmla="val 22383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63164" y="1104602"/>
            <a:ext cx="1191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7900" y="1558528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266950" y="1558528"/>
            <a:ext cx="0" cy="596801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8400" y="168547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요구사항정의서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38400" y="185692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7900" y="2256830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266950" y="2256830"/>
            <a:ext cx="0" cy="596801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38400" y="2383780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현행시스템분석서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38400" y="2555230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60899" y="977652"/>
            <a:ext cx="1422499" cy="453926"/>
          </a:xfrm>
          <a:prstGeom prst="roundRect">
            <a:avLst>
              <a:gd name="adj" fmla="val 22383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76164" y="1104602"/>
            <a:ext cx="1191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60899" y="1558528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79949" y="1558528"/>
            <a:ext cx="0" cy="596801"/>
          </a:xfrm>
          <a:prstGeom prst="line">
            <a:avLst/>
          </a:prstGeom>
          <a:noFill/>
          <a:ln w="38100">
            <a:solidFill>
              <a:srgbClr val="E9B8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1399" y="168547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아키텍처설계서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51399" y="185692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→ 발주PM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60899" y="2256830"/>
            <a:ext cx="1422499" cy="768251"/>
          </a:xfrm>
          <a:prstGeom prst="roundRect">
            <a:avLst>
              <a:gd name="adj" fmla="val 66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879949" y="2256830"/>
            <a:ext cx="0" cy="768251"/>
          </a:xfrm>
          <a:prstGeom prst="line">
            <a:avLst/>
          </a:prstGeom>
          <a:noFill/>
          <a:ln w="38100">
            <a:solidFill>
              <a:srgbClr val="33679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1399" y="2383780"/>
            <a:ext cx="11011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데이터베이스설계서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51399" y="2726680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 → 발주PM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60899" y="3126581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879949" y="3126581"/>
            <a:ext cx="0" cy="596801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51399" y="3253532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화면설계서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51399" y="3424982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73898" y="977652"/>
            <a:ext cx="1422499" cy="453926"/>
          </a:xfrm>
          <a:prstGeom prst="roundRect">
            <a:avLst>
              <a:gd name="adj" fmla="val 22383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89163" y="1104602"/>
            <a:ext cx="1191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73898" y="1558528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492948" y="1558528"/>
            <a:ext cx="0" cy="596801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4398" y="168547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4398" y="185692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개발팀 → PL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898" y="977652"/>
            <a:ext cx="1422499" cy="453926"/>
          </a:xfrm>
          <a:prstGeom prst="roundRect">
            <a:avLst>
              <a:gd name="adj" fmla="val 2238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202162" y="1104602"/>
            <a:ext cx="1191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테스트/이행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86898" y="1558528"/>
            <a:ext cx="1422499" cy="568226"/>
          </a:xfrm>
          <a:prstGeom prst="roundRect">
            <a:avLst>
              <a:gd name="adj" fmla="val 89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7105948" y="1558528"/>
            <a:ext cx="0" cy="568226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7398" y="1685479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통합테스트결과서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77398" y="1856929"/>
            <a:ext cx="1101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→ PM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86898" y="2228255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7105948" y="2228255"/>
            <a:ext cx="0" cy="596801"/>
          </a:xfrm>
          <a:prstGeom prst="line">
            <a:avLst/>
          </a:prstGeom>
          <a:noFill/>
          <a:ln w="38100">
            <a:solidFill>
              <a:srgbClr val="4B65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77398" y="2355205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운영자매뉴얼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77398" y="2526655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→ 발주PM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86898" y="2926556"/>
            <a:ext cx="1422499" cy="596801"/>
          </a:xfrm>
          <a:prstGeom prst="roundRect">
            <a:avLst>
              <a:gd name="adj" fmla="val 851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7105948" y="2926556"/>
            <a:ext cx="0" cy="596801"/>
          </a:xfrm>
          <a:prstGeom prst="line">
            <a:avLst/>
          </a:prstGeom>
          <a:noFill/>
          <a:ln w="38100">
            <a:solidFill>
              <a:srgbClr val="0024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77398" y="3053507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완료보고서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77398" y="3224957"/>
            <a:ext cx="11011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→ 스폰서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리뷰, 정적 분석, 테스트로 품질을 확보하고 4대 보안 영역을 관리합니다.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3746599" cy="542925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8802" y="1130052"/>
            <a:ext cx="33035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보증 활동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520577"/>
            <a:ext cx="3746599" cy="2641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5401" y="1711077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검토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5401" y="1952327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 담당자 검토 및 승인 / 단계별 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5401" y="2276177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5401" y="2517428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 필수, 2인 이상 승인 / 개발 기간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5401" y="2841278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분석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5401" y="3082528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품질 게이트 적용 / 개발 기간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5401" y="3406378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5401" y="3647629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기반 테스트 / 통합·인수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62500" y="977652"/>
            <a:ext cx="3746599" cy="542925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6401" y="1130052"/>
            <a:ext cx="33035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관리 계획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2500" y="1520577"/>
            <a:ext cx="3746599" cy="26414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0" y="1711077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인적 보안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3000" y="1952327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보안서약서 징구, 보안 교육 실시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3000" y="2276177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 보안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3000" y="2517428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통제구역 출입 관리, 반입 장비 통제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3000" y="2841278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보안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3000" y="3082528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소스코드 보안약점 진단, DB 암호화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3000" y="3406378"/>
            <a:ext cx="34329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보안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3000" y="3647629"/>
            <a:ext cx="34329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백신, 화면보호기, DLP 솔루션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5대 위험을 사전 식별하고 체계적인 대응 방안을 수립합니다.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3746599" cy="3784848"/>
          </a:xfrm>
          <a:prstGeom prst="roundRect">
            <a:avLst>
              <a:gd name="adj" fmla="val 271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9058" y="1206103"/>
            <a:ext cx="575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상:높음/높음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79058" y="1450479"/>
            <a:ext cx="575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중:보통/보통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79058" y="1694855"/>
            <a:ext cx="575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하:낮음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62500" y="977652"/>
            <a:ext cx="3746599" cy="1158776"/>
          </a:xfrm>
          <a:prstGeom prst="roundRect">
            <a:avLst>
              <a:gd name="adj" fmla="val 438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86313" y="977652"/>
            <a:ext cx="0" cy="1158776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2525" y="1130052"/>
            <a:ext cx="3462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변경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2525" y="1383953"/>
            <a:ext cx="34620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변경관리위원회(CCB) 통해 통제, 영향도 분석 필수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2525" y="1669703"/>
            <a:ext cx="3462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2500" y="2263378"/>
            <a:ext cx="3746599" cy="1158776"/>
          </a:xfrm>
          <a:prstGeom prst="roundRect">
            <a:avLst>
              <a:gd name="adj" fmla="val 438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86313" y="2263378"/>
            <a:ext cx="0" cy="115877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2525" y="2415778"/>
            <a:ext cx="3462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지연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2525" y="2669679"/>
            <a:ext cx="34620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진척관리, Critical Path 집중 모니터링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2525" y="2955429"/>
            <a:ext cx="3462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2500" y="3549104"/>
            <a:ext cx="3746599" cy="1158776"/>
          </a:xfrm>
          <a:prstGeom prst="roundRect">
            <a:avLst>
              <a:gd name="adj" fmla="val 438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86313" y="3549104"/>
            <a:ext cx="0" cy="1158776"/>
          </a:xfrm>
          <a:prstGeom prst="line">
            <a:avLst/>
          </a:prstGeom>
          <a:noFill/>
          <a:ln w="47625">
            <a:solidFill>
              <a:srgbClr val="F1C4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2525" y="3701504"/>
            <a:ext cx="3462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난제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2525" y="3955405"/>
            <a:ext cx="34620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선행, 외부 전문가 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62525" y="4241155"/>
            <a:ext cx="3462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스탠드업부터 월간보고까지 체계적인 보고·회의 체계를 운영합니다.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1778198" cy="378484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77652"/>
            <a:ext cx="1778198" cy="63401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5401" y="1587103"/>
            <a:ext cx="14251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5401" y="2180779"/>
            <a:ext cx="14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5401" y="2510879"/>
            <a:ext cx="1397198" cy="482501"/>
          </a:xfrm>
          <a:prstGeom prst="roundRect">
            <a:avLst>
              <a:gd name="adj" fmla="val 31585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0918" y="2675930"/>
            <a:ext cx="1166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09:30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5401" y="3120330"/>
            <a:ext cx="142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참석: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개발팀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5401" y="3323481"/>
            <a:ext cx="14251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진행 현황, 블로커 공유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67000" y="977652"/>
            <a:ext cx="1778198" cy="378484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67000" y="977652"/>
            <a:ext cx="1778198" cy="63401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57500" y="1587103"/>
            <a:ext cx="14251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57500" y="2180779"/>
            <a:ext cx="14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주간보고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57500" y="2510879"/>
            <a:ext cx="1397198" cy="482501"/>
          </a:xfrm>
          <a:prstGeom prst="roundRect">
            <a:avLst>
              <a:gd name="adj" fmla="val 31585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73017" y="2675930"/>
            <a:ext cx="1166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금 14:00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7500" y="3120330"/>
            <a:ext cx="142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참석: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PM, 발주PM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0" y="3323481"/>
            <a:ext cx="14251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주간 실적/계획, 이슈 공유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9099" y="977652"/>
            <a:ext cx="1778198" cy="378484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99099" y="977652"/>
            <a:ext cx="1778198" cy="63401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89599" y="1587103"/>
            <a:ext cx="14251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89599" y="2180779"/>
            <a:ext cx="14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스프린트 리뷰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89599" y="2510879"/>
            <a:ext cx="1397198" cy="482501"/>
          </a:xfrm>
          <a:prstGeom prst="roundRect">
            <a:avLst>
              <a:gd name="adj" fmla="val 31585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05117" y="2675930"/>
            <a:ext cx="1166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격주 금요일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89599" y="3120330"/>
            <a:ext cx="142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참석: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9599" y="3323481"/>
            <a:ext cx="142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데모, 피드백 수렴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31198" y="977652"/>
            <a:ext cx="1778198" cy="378484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31198" y="977652"/>
            <a:ext cx="1778198" cy="634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21698" y="1587103"/>
            <a:ext cx="14251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10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21698" y="2180779"/>
            <a:ext cx="14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월간보고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1698" y="2510879"/>
            <a:ext cx="1397198" cy="482501"/>
          </a:xfrm>
          <a:prstGeom prst="roundRect">
            <a:avLst>
              <a:gd name="adj" fmla="val 31585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037216" y="2675930"/>
            <a:ext cx="11661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21698" y="3120330"/>
            <a:ext cx="142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참석: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경영진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21698" y="3323481"/>
            <a:ext cx="14251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내용:</a:t>
            </a:r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마일스톤 점검, 리스크 보고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45명 대상 3종 교육을 오픈 3주 전부터 체계적으로 실시합니다.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2455515" cy="1415802"/>
          </a:xfrm>
          <a:prstGeom prst="roundRect">
            <a:avLst>
              <a:gd name="adj" fmla="val 7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3476" y="977652"/>
            <a:ext cx="0" cy="1415802"/>
          </a:xfrm>
          <a:prstGeom prst="line">
            <a:avLst/>
          </a:prstGeom>
          <a:noFill/>
          <a:ln w="57150">
            <a:solidFill>
              <a:srgbClr val="4B6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2551" y="1295102"/>
            <a:ext cx="888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교육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04467" y="1168152"/>
            <a:ext cx="495449" cy="482501"/>
          </a:xfrm>
          <a:prstGeom prst="roundRect">
            <a:avLst>
              <a:gd name="adj" fmla="val 31585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9002" y="1333202"/>
            <a:ext cx="246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2551" y="1777603"/>
            <a:ext cx="20577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2주 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2551" y="2031504"/>
            <a:ext cx="20577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주요 기능 및 사용법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4317" y="977652"/>
            <a:ext cx="2455515" cy="1415802"/>
          </a:xfrm>
          <a:prstGeom prst="roundRect">
            <a:avLst>
              <a:gd name="adj" fmla="val 7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72892" y="977652"/>
            <a:ext cx="0" cy="1415802"/>
          </a:xfrm>
          <a:prstGeom prst="line">
            <a:avLst/>
          </a:prstGeom>
          <a:noFill/>
          <a:ln w="57150">
            <a:solidFill>
              <a:srgbClr val="00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1967" y="1295102"/>
            <a:ext cx="888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교육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77433" y="1168152"/>
            <a:ext cx="431899" cy="482501"/>
          </a:xfrm>
          <a:prstGeom prst="roundRect">
            <a:avLst>
              <a:gd name="adj" fmla="val 35286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2603" y="1333202"/>
            <a:ext cx="1815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91967" y="1777603"/>
            <a:ext cx="20577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3주 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91967" y="2031504"/>
            <a:ext cx="20577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구성, 백업/복구, 장애대응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53733" y="977652"/>
            <a:ext cx="2455515" cy="1415802"/>
          </a:xfrm>
          <a:prstGeom prst="roundRect">
            <a:avLst>
              <a:gd name="adj" fmla="val 7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82308" y="977652"/>
            <a:ext cx="0" cy="1415802"/>
          </a:xfrm>
          <a:prstGeom prst="line">
            <a:avLst/>
          </a:prstGeom>
          <a:noFill/>
          <a:ln w="57150">
            <a:solidFill>
              <a:srgbClr val="E9B8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1383" y="1295102"/>
            <a:ext cx="888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교육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23299" y="1168152"/>
            <a:ext cx="495449" cy="482501"/>
          </a:xfrm>
          <a:prstGeom prst="roundRect">
            <a:avLst>
              <a:gd name="adj" fmla="val 31585"/>
            </a:avLst>
          </a:prstGeom>
          <a:solidFill>
            <a:srgbClr val="FFF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47834" y="1333202"/>
            <a:ext cx="246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9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1383" y="1777603"/>
            <a:ext cx="20577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1주 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1383" y="2031504"/>
            <a:ext cx="20577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관리, 리포트 활용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4901" y="2647355"/>
            <a:ext cx="7874198" cy="1577429"/>
          </a:xfrm>
          <a:prstGeom prst="roundRect">
            <a:avLst>
              <a:gd name="adj" fmla="val 9661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8802" y="2901255"/>
            <a:ext cx="7513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이전 계획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8802" y="3266331"/>
            <a:ext cx="7513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시스템 소스코드, 설계 산출물, 운영 매뉴얼 일체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8802" y="3501182"/>
            <a:ext cx="7513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방법: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담당자 1:1 멘토링 및 인계인수서 작성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8802" y="3736032"/>
            <a:ext cx="7513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지원:</a:t>
            </a:r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오픈 후 3개월 안정화 지원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53901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품질·위험·소통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34901" y="622102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착수 시 4가지 환경/자원 협조를 요청드립니다.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977652"/>
            <a:ext cx="1778198" cy="3784848"/>
          </a:xfrm>
          <a:prstGeom prst="roundRect">
            <a:avLst>
              <a:gd name="adj" fmla="val 8570"/>
            </a:avLst>
          </a:prstGeom>
          <a:solidFill>
            <a:srgbClr val="002452">
              <a:alpha val="3000"/>
            </a:srgbClr>
          </a:solidFill>
          <a:ln w="19050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4451" y="11872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6037" y="1263402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4051" y="1301502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4451" y="1911102"/>
            <a:ext cx="1386280" cy="3429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룸 (10석 규모)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4451" y="2330202"/>
            <a:ext cx="1386280" cy="3429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네트워크(VPN) 접근권한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4451" y="2749302"/>
            <a:ext cx="1386280" cy="17145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출입증 발급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4451" y="4070449"/>
            <a:ext cx="1359098" cy="482501"/>
          </a:xfrm>
          <a:prstGeom prst="roundRect">
            <a:avLst>
              <a:gd name="adj" fmla="val 31585"/>
            </a:avLst>
          </a:prstGeom>
          <a:solidFill>
            <a:srgbClr val="00245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86308" y="4235500"/>
            <a:ext cx="107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02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67000" y="977652"/>
            <a:ext cx="1778198" cy="3784848"/>
          </a:xfrm>
          <a:prstGeom prst="roundRect">
            <a:avLst>
              <a:gd name="adj" fmla="val 8570"/>
            </a:avLst>
          </a:prstGeom>
          <a:solidFill>
            <a:srgbClr val="4B6580">
              <a:alpha val="3000"/>
            </a:srgbClr>
          </a:solidFill>
          <a:ln w="19050">
            <a:solidFill>
              <a:srgbClr val="4B65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76550" y="11872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48136" y="1263402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86150" y="1301502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76550" y="1911102"/>
            <a:ext cx="1386280" cy="3429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테스트용 샘플 데이터 제공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76550" y="2330202"/>
            <a:ext cx="1386280" cy="3429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비식별화 필수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76550" y="4070449"/>
            <a:ext cx="1359098" cy="482501"/>
          </a:xfrm>
          <a:prstGeom prst="roundRect">
            <a:avLst>
              <a:gd name="adj" fmla="val 31585"/>
            </a:avLst>
          </a:prstGeom>
          <a:solidFill>
            <a:srgbClr val="4B658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18407" y="4235500"/>
            <a:ext cx="107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B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설계/개발 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9099" y="977652"/>
            <a:ext cx="1778198" cy="3784848"/>
          </a:xfrm>
          <a:prstGeom prst="roundRect">
            <a:avLst>
              <a:gd name="adj" fmla="val 8570"/>
            </a:avLst>
          </a:prstGeom>
          <a:solidFill>
            <a:srgbClr val="E9B86E">
              <a:alpha val="8000"/>
            </a:srgbClr>
          </a:solidFill>
          <a:ln w="19050">
            <a:solidFill>
              <a:srgbClr val="E9B8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08649" y="11872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80236" y="1263402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18249" y="1301502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8649" y="1911102"/>
            <a:ext cx="1386280" cy="3429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계정 및 권한 부여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08649" y="2330202"/>
            <a:ext cx="1386280" cy="3429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개발/스테이징/운영 3개 환경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08649" y="4070449"/>
            <a:ext cx="1359098" cy="482501"/>
          </a:xfrm>
          <a:prstGeom prst="roundRect">
            <a:avLst>
              <a:gd name="adj" fmla="val 31585"/>
            </a:avLst>
          </a:prstGeom>
          <a:solidFill>
            <a:srgbClr val="E9B86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50506" y="4235500"/>
            <a:ext cx="107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9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31198" y="977652"/>
            <a:ext cx="1778198" cy="3784848"/>
          </a:xfrm>
          <a:prstGeom prst="roundRect">
            <a:avLst>
              <a:gd name="adj" fmla="val 8570"/>
            </a:avLst>
          </a:prstGeom>
          <a:solidFill>
            <a:srgbClr val="2E7D32">
              <a:alpha val="3000"/>
            </a:srgbClr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40748" y="11872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12335" y="1263402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50348" y="1301502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0748" y="1911102"/>
            <a:ext cx="1386280" cy="34290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인터뷰 지원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0748" y="2330202"/>
            <a:ext cx="1386280" cy="171450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테스트 참여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0748" y="4070449"/>
            <a:ext cx="1359098" cy="482501"/>
          </a:xfrm>
          <a:prstGeom prst="roundRect">
            <a:avLst>
              <a:gd name="adj" fmla="val 31585"/>
            </a:avLst>
          </a:prstGeom>
          <a:solidFill>
            <a:srgbClr val="2E7D3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082605" y="4235500"/>
            <a:ext cx="107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단계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8391" y="1674912"/>
            <a:ext cx="3627069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936950" y="2871788"/>
            <a:ext cx="126995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58391" y="3163788"/>
            <a:ext cx="36270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 PM팀 I 김철수 차장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수행계획서</dc:subject>
  <dc:creator>(주)테크솔루션 PM팀</dc:creator>
  <cp:lastModifiedBy>(주)테크솔루션 PM팀</cp:lastModifiedBy>
  <cp:revision>1</cp:revision>
  <dcterms:created xsi:type="dcterms:W3CDTF">2026-01-05T12:16:34Z</dcterms:created>
  <dcterms:modified xsi:type="dcterms:W3CDTF">2026-01-05T12:16:34Z</dcterms:modified>
</cp:coreProperties>
</file>