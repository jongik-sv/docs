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85245" y="1278136"/>
            <a:ext cx="2373511" cy="355402"/>
          </a:xfrm>
          <a:prstGeom prst="roundRect">
            <a:avLst>
              <a:gd name="adj" fmla="val 89335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93195" y="1379637"/>
            <a:ext cx="13847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79476" y="1887438"/>
            <a:ext cx="598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731002" y="2598539"/>
            <a:ext cx="168199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수행계획서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02885" y="3471565"/>
            <a:ext cx="949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02885" y="3674715"/>
            <a:ext cx="949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(주)글로벌물류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95804" y="3471565"/>
            <a:ext cx="949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95804" y="3674715"/>
            <a:ext cx="949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86697" y="3471565"/>
            <a:ext cx="1156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86697" y="3674715"/>
            <a:ext cx="1156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2025.01 - 2025.12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30786" y="4610100"/>
            <a:ext cx="12830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DOC-PRJ-2025-001-001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90182" y="4610100"/>
            <a:ext cx="30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21448" y="4610100"/>
            <a:ext cx="2204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39048" y="4610100"/>
            <a:ext cx="303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70314" y="4610100"/>
            <a:ext cx="349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대외비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9277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196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506" y="127292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5150" y="1196727"/>
            <a:ext cx="975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5150" y="1422053"/>
            <a:ext cx="975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배경, 목적, 범위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77760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85380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5150" y="1777603"/>
            <a:ext cx="764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5150" y="2002929"/>
            <a:ext cx="7643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지표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23584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506" y="24346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5150" y="2358479"/>
            <a:ext cx="15591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범위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5150" y="2583805"/>
            <a:ext cx="15591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WMS, TMS, OMS, 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950" y="292030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506" y="299650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5150" y="2920305"/>
            <a:ext cx="10299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5150" y="3145631"/>
            <a:ext cx="10299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전략 및 방법론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50118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" y="357738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5150" y="3501182"/>
            <a:ext cx="975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5150" y="3726507"/>
            <a:ext cx="975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및 구성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1196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85556" y="1272927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1196727"/>
            <a:ext cx="9759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조직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1422053"/>
            <a:ext cx="975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및 책임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177760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85556" y="1853803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1777603"/>
            <a:ext cx="12631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 일정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2002929"/>
            <a:ext cx="12631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일정 및 마일스톤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235847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85556" y="2434679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2358479"/>
            <a:ext cx="11789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품질/보안 관리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2583805"/>
            <a:ext cx="11789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보증 및 보안 대책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293935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685556" y="301555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2939355"/>
            <a:ext cx="11789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관리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0" y="3164681"/>
            <a:ext cx="11789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위험 및 대응 방안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739676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1082576"/>
            <a:ext cx="36213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정보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435001"/>
            <a:ext cx="3550295" cy="2260402"/>
          </a:xfrm>
          <a:prstGeom prst="roundRect">
            <a:avLst>
              <a:gd name="adj" fmla="val 4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168890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77752" y="1688902"/>
            <a:ext cx="1827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851" y="203180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77752" y="2031802"/>
            <a:ext cx="949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(주)글로벌물류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1851" y="237470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77752" y="2374702"/>
            <a:ext cx="949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1851" y="271760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계약금액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77752" y="2717602"/>
            <a:ext cx="11555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15억원 (VAT 별도)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1851" y="3060502"/>
            <a:ext cx="10043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46498" y="3060502"/>
            <a:ext cx="20990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2025.01.06 ~ 2025.12.31 (12개월)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75696" y="1082576"/>
            <a:ext cx="43455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및 목적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75696" y="1435001"/>
            <a:ext cx="4260354" cy="2043559"/>
          </a:xfrm>
          <a:prstGeom prst="roundRect">
            <a:avLst>
              <a:gd name="adj" fmla="val 49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99508" y="1435001"/>
            <a:ext cx="0" cy="2043559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1921" y="1663601"/>
            <a:ext cx="3830639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글로벌물류는 연간 500만건 이상의 물류를 처리하는 국내 Top 5 물류기업으로, 레거시 시스템 노후화와 급증하는 물동량 대응이 필요한 상황입니다.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1921" y="2361605"/>
            <a:ext cx="383063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현황:</a:t>
            </a:r>
            <a:pPr algn="l"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10년 이상 운영된 시스템, 처리 속도 저하, 실시간 재고 파악 불가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51921" y="2869257"/>
            <a:ext cx="3830639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기반 물류 최적화, 실시간 재고/배송 추적, 클라우드 기반 확장성 확보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75696" y="3669060"/>
            <a:ext cx="4260354" cy="47625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66196" y="3821460"/>
            <a:ext cx="39569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투입 인력: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8명 / 78MM | </a:t>
            </a:r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보안등급: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대외비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기대효과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739676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1209526"/>
            <a:ext cx="2437805" cy="2600474"/>
          </a:xfrm>
          <a:prstGeom prst="roundRect">
            <a:avLst>
              <a:gd name="adj" fmla="val 62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233339"/>
            <a:ext cx="2437805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2192" y="1574602"/>
            <a:ext cx="170932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72192" y="2380952"/>
            <a:ext cx="17093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88950" y="2814340"/>
            <a:ext cx="167580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2192" y="3009602"/>
            <a:ext cx="1709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물류 처리 효율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2192" y="3301603"/>
            <a:ext cx="17093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속도 및 정확도 개선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26755" y="1209526"/>
            <a:ext cx="2490490" cy="2600474"/>
          </a:xfrm>
          <a:prstGeom prst="roundRect">
            <a:avLst>
              <a:gd name="adj" fmla="val 611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26755" y="1233339"/>
            <a:ext cx="2490490" cy="0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0470" y="1574602"/>
            <a:ext cx="17630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690470" y="2380952"/>
            <a:ext cx="17630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달성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07755" y="2814340"/>
            <a:ext cx="172849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0470" y="3009602"/>
            <a:ext cx="1763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정확도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90470" y="3301603"/>
            <a:ext cx="17630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재고 추적 시스템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98245" y="1209526"/>
            <a:ext cx="2437805" cy="2600474"/>
          </a:xfrm>
          <a:prstGeom prst="roundRect">
            <a:avLst>
              <a:gd name="adj" fmla="val 625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98245" y="1233339"/>
            <a:ext cx="2437805" cy="0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2487" y="1574602"/>
            <a:ext cx="170932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562487" y="2380952"/>
            <a:ext cx="170932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절감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79245" y="2814340"/>
            <a:ext cx="167580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2487" y="3009602"/>
            <a:ext cx="1709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비용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62487" y="3301603"/>
            <a:ext cx="17093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자동화를 통한 비용 절감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950" y="4191000"/>
            <a:ext cx="8128099" cy="571500"/>
          </a:xfrm>
          <a:prstGeom prst="roundRect">
            <a:avLst>
              <a:gd name="adj" fmla="val 17778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059335" y="4381500"/>
            <a:ext cx="14958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500만건 물류 처리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788" y="4381500"/>
            <a:ext cx="12821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Top 5 물류기업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52691" y="4381500"/>
            <a:ext cx="10526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범위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739676"/>
            <a:ext cx="82906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Scope - 4개 핵심 모듈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1247626"/>
            <a:ext cx="1841599" cy="351487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11300" y="150152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306397" y="1671340"/>
            <a:ext cx="244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8513" y="2326928"/>
            <a:ext cx="13604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창고관리시스템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8513" y="2628454"/>
            <a:ext cx="1360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1851" y="29237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8653" y="2923729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입출고 관리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1851" y="31523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8653" y="3152329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관리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1851" y="33809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8653" y="3380929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피킹/패킹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3450" y="1247626"/>
            <a:ext cx="1841599" cy="351487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06800" y="150152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45009" y="1671340"/>
            <a:ext cx="1583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844013" y="2326928"/>
            <a:ext cx="13604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배송관리시스템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44013" y="2628454"/>
            <a:ext cx="1360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57351" y="29237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84153" y="2923729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배차 관리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57351" y="31523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984153" y="3152329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 최적화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57351" y="33809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84153" y="3380929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배송 추적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8950" y="1247626"/>
            <a:ext cx="1841599" cy="351487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02300" y="150152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18952" y="1671340"/>
            <a:ext cx="20159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9513" y="2326928"/>
            <a:ext cx="13604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주문관리시스템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39513" y="2628454"/>
            <a:ext cx="1360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52851" y="29237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79653" y="2923729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접수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2851" y="31523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79653" y="3152329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 할당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52851" y="33809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79653" y="3380929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정산 처리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94450" y="1247626"/>
            <a:ext cx="1841599" cy="3514874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97800" y="1501527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621588" y="1671340"/>
            <a:ext cx="1871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035013" y="2326928"/>
            <a:ext cx="136047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통합모니터링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35013" y="2628454"/>
            <a:ext cx="1360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48351" y="29237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175153" y="2923729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현황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48351" y="31523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175153" y="3152329"/>
            <a:ext cx="6867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모니터링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8351" y="3380929"/>
            <a:ext cx="25301" cy="152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175153" y="3380929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리포트 생성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추진 전략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739676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50" y="1082576"/>
            <a:ext cx="8128099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648" y="1234976"/>
            <a:ext cx="7772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"안정적 전환"과 "혁신적 기능 구현"의 균형을 핵심 가치로 추진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831777"/>
            <a:ext cx="2540050" cy="2930723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855589"/>
            <a:ext cx="254005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851" y="2133302"/>
            <a:ext cx="207289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1851" y="2669828"/>
            <a:ext cx="2072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단계적 전환 전략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1851" y="3025378"/>
            <a:ext cx="2072893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Bang 방식이 아닌 모듈별 순차 전환으로 운영 리스크를 최소화합니다. 각 모듈의 안정화 후 다음 단계로 진행합니다.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01901" y="1831777"/>
            <a:ext cx="2540050" cy="2930723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01901" y="1855589"/>
            <a:ext cx="2540050" cy="0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5802" y="2133302"/>
            <a:ext cx="207289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55802" y="2669828"/>
            <a:ext cx="2072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애자일 기반 개발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5802" y="3025378"/>
            <a:ext cx="2072893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단위 스프린트로 빠른 피드백 수용과 유연한 대응이 가능합니다. 격주 스프린트 리뷰를 통해 진행 상황을 공유합니다.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95851" y="1831777"/>
            <a:ext cx="2540050" cy="2930723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95851" y="1855589"/>
            <a:ext cx="2540050" cy="0"/>
          </a:xfrm>
          <a:prstGeom prst="line">
            <a:avLst/>
          </a:prstGeom>
          <a:noFill/>
          <a:ln w="47625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752" y="2133302"/>
            <a:ext cx="207289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49752" y="2669828"/>
            <a:ext cx="2072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현업 밀착 협업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49752" y="3025378"/>
            <a:ext cx="2072893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2회 현업 리뷰를 통한 요구사항 정합성을 확보합니다. 현업 담당자의 피드백을 즉시 반영하여 품질을 높입니다.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799802"/>
            <a:ext cx="8128099" cy="2314575"/>
          </a:xfrm>
          <a:prstGeom prst="roundRect">
            <a:avLst>
              <a:gd name="adj" fmla="val 32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799802"/>
            <a:ext cx="8128099" cy="390525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85565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0350" y="914102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81051" y="914102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기술/제품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936802" y="914102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30552" y="914102"/>
            <a:ext cx="4663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라이선스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41753" y="914102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950" y="1576090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950" y="1190327"/>
            <a:ext cx="1320701" cy="3810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350" y="1314152"/>
            <a:ext cx="5052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81051" y="1314152"/>
            <a:ext cx="10304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Vue.js 3, TypeScript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6802" y="1314152"/>
            <a:ext cx="1621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30552" y="1314152"/>
            <a:ext cx="2008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41753" y="1304627"/>
            <a:ext cx="483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구조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7950" y="1966615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950" y="1580852"/>
            <a:ext cx="1320701" cy="3810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0350" y="1704677"/>
            <a:ext cx="486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81051" y="1704677"/>
            <a:ext cx="9203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Boot, 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6802" y="1704677"/>
            <a:ext cx="388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0552" y="1704677"/>
            <a:ext cx="589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41753" y="1695152"/>
            <a:ext cx="5118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구조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7950" y="2338090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1971377"/>
            <a:ext cx="1320701" cy="3619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60350" y="2085677"/>
            <a:ext cx="5185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81051" y="2085677"/>
            <a:ext cx="9979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Redis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36802" y="2085677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30552" y="2085677"/>
            <a:ext cx="967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BSD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41753" y="2085677"/>
            <a:ext cx="8909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RDBMS + Cache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7950" y="2728615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2342852"/>
            <a:ext cx="1320701" cy="3810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60350" y="2466677"/>
            <a:ext cx="2527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81051" y="2466677"/>
            <a:ext cx="1122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(EKS, RDS, S3)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36802" y="2466677"/>
            <a:ext cx="38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30552" y="2466677"/>
            <a:ext cx="621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41753" y="2457152"/>
            <a:ext cx="965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네이티브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7950" y="2733377"/>
            <a:ext cx="1320701" cy="3810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0350" y="2857202"/>
            <a:ext cx="3174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981051" y="2857202"/>
            <a:ext cx="10217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TensorFlow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36802" y="2857202"/>
            <a:ext cx="5423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 / 2.15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30552" y="2857202"/>
            <a:ext cx="9074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PSF / Apache 2.0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41753" y="2847677"/>
            <a:ext cx="11140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수요예측, 경로최적화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7950" y="3241328"/>
            <a:ext cx="8128099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27000" y="3241328"/>
            <a:ext cx="0" cy="47625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4650" y="3393728"/>
            <a:ext cx="3886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346150" y="3403253"/>
            <a:ext cx="32033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Agile-Waterfall 하이브리드 | 대규모 SI 안정성 + 애자일 유연성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조직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799802"/>
            <a:ext cx="8128099" cy="2180034"/>
          </a:xfrm>
          <a:prstGeom prst="roundRect">
            <a:avLst>
              <a:gd name="adj" fmla="val 34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799802"/>
            <a:ext cx="8128099" cy="364927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59966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901303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31802" y="901303"/>
            <a:ext cx="349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01603" y="901303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책임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66099" y="901303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7950" y="1524893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901" y="1266230"/>
            <a:ext cx="6737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발주기관 PM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31802" y="1266230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정민호 부장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01603" y="1266230"/>
            <a:ext cx="15286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총괄 관리, 의사결정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66099" y="1266230"/>
            <a:ext cx="732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승인권자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7950" y="1889820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901" y="1631156"/>
            <a:ext cx="5571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 PM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31802" y="1631156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김철수 차장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01603" y="1631156"/>
            <a:ext cx="1826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수행 총괄, 품질/위험 관리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66099" y="1631156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대리인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7950" y="2254746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901" y="1996083"/>
            <a:ext cx="7405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(아키텍트)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31802" y="1996083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박준형 책임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01603" y="1996083"/>
            <a:ext cx="14120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설계, 아키텍처 검토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66099" y="1996083"/>
            <a:ext cx="6284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전문가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7950" y="2619673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901" y="2361009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리더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31802" y="2361009"/>
            <a:ext cx="615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최수진 선임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01603" y="2361009"/>
            <a:ext cx="132783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총괄, 기술 이슈 해결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6099" y="2361009"/>
            <a:ext cx="3497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풀스택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901" y="2735461"/>
            <a:ext cx="5203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/ DBA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31802" y="2725936"/>
            <a:ext cx="732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한미영/오현우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01603" y="2725936"/>
            <a:ext cx="14057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관리, DB 설계 및 튜닝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66099" y="2735461"/>
            <a:ext cx="634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ISTQB/OCP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950" y="3132237"/>
            <a:ext cx="2607766" cy="812750"/>
          </a:xfrm>
          <a:prstGeom prst="roundRect">
            <a:avLst>
              <a:gd name="adj" fmla="val 9376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6183" y="3284637"/>
            <a:ext cx="2271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8명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76183" y="3640187"/>
            <a:ext cx="2271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투입 인력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68117" y="3132237"/>
            <a:ext cx="2607766" cy="812750"/>
          </a:xfrm>
          <a:prstGeom prst="roundRect">
            <a:avLst>
              <a:gd name="adj" fmla="val 9376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36349" y="3284637"/>
            <a:ext cx="22713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78MM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436349" y="3602087"/>
            <a:ext cx="2271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투입 공수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28283" y="3132237"/>
            <a:ext cx="2607766" cy="812750"/>
          </a:xfrm>
          <a:prstGeom prst="roundRect">
            <a:avLst>
              <a:gd name="adj" fmla="val 9376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96516" y="3284637"/>
            <a:ext cx="22713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12개월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196516" y="3640187"/>
            <a:ext cx="22713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기간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 일정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739676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Schedule &amp; Milestones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46100" y="171747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10B981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d1fae5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886" y="2199977"/>
            <a:ext cx="12305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5886" y="2453878"/>
            <a:ext cx="1230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01.06 - 01.31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5886" y="2625328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5886" y="2869704"/>
            <a:ext cx="123052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킥오프, 환경구축, 표준정의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0351" y="171747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80137" y="2199977"/>
            <a:ext cx="12305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80137" y="2453878"/>
            <a:ext cx="1230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02.01 - 03.31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80137" y="2625328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80137" y="2869704"/>
            <a:ext cx="12305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확정, 현행 분석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14601" y="171747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64387" y="2199977"/>
            <a:ext cx="12305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387" y="2453878"/>
            <a:ext cx="1230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04.01 - 05.31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387" y="2625328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64387" y="2869704"/>
            <a:ext cx="12305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아키텍처, 화면, DB 설계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98852" y="171747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48638" y="2199977"/>
            <a:ext cx="12305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8638" y="2453878"/>
            <a:ext cx="1230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06.01 - 09.30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48638" y="2625328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16주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48638" y="2869704"/>
            <a:ext cx="12305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코딩, 단위테스트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83102" y="171747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32888" y="2199977"/>
            <a:ext cx="12305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2888" y="2453878"/>
            <a:ext cx="1230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10.01 - 11.15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2888" y="2625328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2888" y="2869704"/>
            <a:ext cx="12305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통합, 성능, 인수 테스트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67352" y="171747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563EB"/>
          </a:solidFill>
          <a:ln w="38100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dbeaf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17138" y="2199977"/>
            <a:ext cx="12305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17138" y="2453878"/>
            <a:ext cx="1230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11.16 - 12.31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17138" y="2625328"/>
            <a:ext cx="1230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17138" y="2869704"/>
            <a:ext cx="12305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오픈, 운영이관, 안정화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7950" y="3471714"/>
            <a:ext cx="8128099" cy="714375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55373" y="3662214"/>
            <a:ext cx="6608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5373" y="3843189"/>
            <a:ext cx="6608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착수보고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24060" y="3662214"/>
            <a:ext cx="9263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03.31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24060" y="3843189"/>
            <a:ext cx="9263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요구사항 확정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57936" y="3662214"/>
            <a:ext cx="6931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05.31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57936" y="3843189"/>
            <a:ext cx="693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설계 완료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60926" y="3662214"/>
            <a:ext cx="6931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09.30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60926" y="3843189"/>
            <a:ext cx="693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개발 완료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62773" y="3662214"/>
            <a:ext cx="809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62773" y="3843189"/>
            <a:ext cx="809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테스트 완료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80063" y="3662214"/>
            <a:ext cx="809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80063" y="3843189"/>
            <a:ext cx="809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시스템 오픈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5105" y="1451074"/>
            <a:ext cx="389379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191000" y="2260699"/>
            <a:ext cx="762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25105" y="2552700"/>
            <a:ext cx="38937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4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 물류관리 시스템 구축 프로젝트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53970" y="3298775"/>
            <a:ext cx="9495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53970" y="3501926"/>
            <a:ext cx="949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(주)테크솔루션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94780" y="3298775"/>
            <a:ext cx="751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94780" y="3482876"/>
            <a:ext cx="7517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김철수 차장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35761" y="3298775"/>
            <a:ext cx="1156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5761" y="3501926"/>
            <a:ext cx="1156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2025.01 - 2025.12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-91440" y="4610100"/>
            <a:ext cx="9326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DOC-PRJ-2025-001-001 | v1.0 | 대외비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(주)글로벌물류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프로젝트 수행계획서</dc:title>
  <dc:subject>프로젝트 수행계획서</dc:subject>
  <dc:creator>(주)테크솔루션</dc:creator>
  <cp:lastModifiedBy>(주)테크솔루션</cp:lastModifiedBy>
  <cp:revision>1</cp:revision>
  <dcterms:created xsi:type="dcterms:W3CDTF">2026-01-08T16:43:22Z</dcterms:created>
  <dcterms:modified xsi:type="dcterms:W3CDTF">2026-01-08T16:43:22Z</dcterms:modified>
</cp:coreProperties>
</file>