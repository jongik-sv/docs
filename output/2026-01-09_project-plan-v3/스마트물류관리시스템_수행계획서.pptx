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슬라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이드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를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이동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하려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면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클릭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하십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메모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&lt;머리글&gt;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fld id="{B82D5CF0-92E2-4828-BB1C-F72695611774}" type="slidenum"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&lt;숫자&gt;</a:t>
            </a:fld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9F91B4-5C34-490A-844A-CA7CEBD3E6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BA4387-C557-4F19-AFB9-420556A1BB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1DE63E-AE9D-473C-A7AD-32F6332B66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FCF4C9-4FE5-40D9-AD99-16559C037E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55154E-4901-4788-BD1A-64EB8B3F4B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F0A1DB-8723-4982-96F0-1FD0AE2AC1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C48AAE-7970-4F3A-95EA-0F0043BFF5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241520-ECE1-4BEF-AE80-F564097277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29BA7D-CF31-4D9D-A433-D48933117E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E8115B-B6AE-4C21-AE3F-EFA5A7338E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7B6A15-30C4-4B6E-9596-513545B9F3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0EDCCD-D8B4-4C49-A5F9-6FD7B7B21C3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91075E-7AB1-4400-AF19-D1AED37397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CAF32B-1499-4EEA-B005-8419FF3AC27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24712B-3FDD-4BD1-AB7A-0AD324A91B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33B24C-EBB5-4B9A-83E1-4A40D6EBE6F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82E0E5-CF6C-4CEC-AF5B-88AAA3DA19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81B2B2-40E7-4425-BE98-0830B67EA8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제목 텍스트의 서식을 편집하려면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클릭하십시오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901440" y="660240"/>
            <a:ext cx="734004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2514600" y="355680"/>
            <a:ext cx="4076280" cy="596520"/>
          </a:xfrm>
          <a:prstGeom prst="roundRect">
            <a:avLst>
              <a:gd name="adj" fmla="val 17024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202280" y="563400"/>
            <a:ext cx="77076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수행계획서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48640" y="1409760"/>
            <a:ext cx="80463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161"/>
              </a:lnSpc>
              <a:tabLst>
                <a:tab algn="l" pos="0"/>
              </a:tabLst>
            </a:pPr>
            <a:r>
              <a:rPr b="1" lang="ko-KR" sz="3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스마트 물류관리 시스템 구축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48640" y="224784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88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(</a:t>
            </a:r>
            <a:r>
              <a:rPr b="0" lang="ko-KR" sz="16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주</a:t>
            </a:r>
            <a:r>
              <a:rPr b="0" lang="en-US" sz="16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)</a:t>
            </a:r>
            <a:r>
              <a:rPr b="0" lang="ko-KR" sz="16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글로벌물류 차세대 물류관리 시스템 구축 프로젝트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" name="Text 5"/>
          <p:cNvSpPr/>
          <p:nvPr/>
        </p:nvSpPr>
        <p:spPr>
          <a:xfrm>
            <a:off x="901440" y="3441600"/>
            <a:ext cx="734004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4495680" y="3644640"/>
            <a:ext cx="190440" cy="360"/>
          </a:xfrm>
          <a:prstGeom prst="line">
            <a:avLst/>
          </a:prstGeom>
          <a:ln w="152400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638600" y="3568320"/>
            <a:ext cx="360" cy="152640"/>
          </a:xfrm>
          <a:prstGeom prst="line">
            <a:avLst/>
          </a:prstGeom>
          <a:ln w="952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43200" y="3568320"/>
            <a:ext cx="360" cy="152640"/>
          </a:xfrm>
          <a:prstGeom prst="line">
            <a:avLst/>
          </a:prstGeom>
          <a:ln w="952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48640" y="3987720"/>
            <a:ext cx="804636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91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(</a:t>
            </a:r>
            <a:r>
              <a:rPr b="0" lang="ko-KR" sz="1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주</a:t>
            </a:r>
            <a:r>
              <a:rPr b="0" lang="en-US" sz="1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)</a:t>
            </a:r>
            <a:r>
              <a:rPr b="0" lang="ko-KR" sz="1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테크솔루션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48640" y="4231440"/>
            <a:ext cx="804636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91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PM </a:t>
            </a:r>
            <a:r>
              <a:rPr b="0" lang="ko-KR" sz="1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김철수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48640" y="4572000"/>
            <a:ext cx="8046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2025.01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07960" y="355680"/>
            <a:ext cx="513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목차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07960" y="73656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Text 2"/>
          <p:cNvSpPr/>
          <p:nvPr/>
        </p:nvSpPr>
        <p:spPr>
          <a:xfrm>
            <a:off x="507960" y="1143000"/>
            <a:ext cx="3872880" cy="1523520"/>
          </a:xfrm>
          <a:prstGeom prst="roundRect">
            <a:avLst>
              <a:gd name="adj" fmla="val 666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531720" y="1143000"/>
            <a:ext cx="360" cy="1523880"/>
          </a:xfrm>
          <a:prstGeom prst="line">
            <a:avLst/>
          </a:prstGeom>
          <a:ln w="47625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" name="Text 4"/>
          <p:cNvSpPr/>
          <p:nvPr/>
        </p:nvSpPr>
        <p:spPr>
          <a:xfrm>
            <a:off x="809640" y="1396800"/>
            <a:ext cx="36493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01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09640" y="1927080"/>
            <a:ext cx="36493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프로젝트 개요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09640" y="2222280"/>
            <a:ext cx="36493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프로젝트 정보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배경 및 목적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시스템 범위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" name="Text 7"/>
          <p:cNvSpPr/>
          <p:nvPr/>
        </p:nvSpPr>
        <p:spPr>
          <a:xfrm>
            <a:off x="4635360" y="1143000"/>
            <a:ext cx="3872880" cy="1523520"/>
          </a:xfrm>
          <a:prstGeom prst="roundRect">
            <a:avLst>
              <a:gd name="adj" fmla="val 666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4658760" y="1143000"/>
            <a:ext cx="360" cy="1523880"/>
          </a:xfrm>
          <a:prstGeom prst="line">
            <a:avLst/>
          </a:prstGeom>
          <a:ln w="47625">
            <a:solidFill>
              <a:srgbClr val="4e9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" name="Text 9"/>
          <p:cNvSpPr/>
          <p:nvPr/>
        </p:nvSpPr>
        <p:spPr>
          <a:xfrm>
            <a:off x="4936680" y="1396800"/>
            <a:ext cx="36493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02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4936680" y="1927080"/>
            <a:ext cx="36493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추진 전략 및 방법론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4936680" y="2222280"/>
            <a:ext cx="36493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핵심 전략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수행 방법론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기술 아키텍처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507960" y="3047760"/>
            <a:ext cx="3872880" cy="1523520"/>
          </a:xfrm>
          <a:prstGeom prst="roundRect">
            <a:avLst>
              <a:gd name="adj" fmla="val 666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531720" y="3047760"/>
            <a:ext cx="360" cy="1523880"/>
          </a:xfrm>
          <a:prstGeom prst="line">
            <a:avLst/>
          </a:prstGeom>
          <a:ln w="47625">
            <a:solidFill>
              <a:srgbClr val="d8e9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809640" y="3301920"/>
            <a:ext cx="36493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03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809640" y="3831840"/>
            <a:ext cx="36493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프로젝트 조직 및 일정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809640" y="4127040"/>
            <a:ext cx="36493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조직 구성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투입 인력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마스터 일정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마일스톤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4635360" y="3047760"/>
            <a:ext cx="3872880" cy="1523520"/>
          </a:xfrm>
          <a:prstGeom prst="roundRect">
            <a:avLst>
              <a:gd name="adj" fmla="val 666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Shape 18"/>
          <p:cNvSpPr/>
          <p:nvPr/>
        </p:nvSpPr>
        <p:spPr>
          <a:xfrm>
            <a:off x="4658760" y="3047760"/>
            <a:ext cx="360" cy="1523880"/>
          </a:xfrm>
          <a:prstGeom prst="line">
            <a:avLst/>
          </a:prstGeom>
          <a:ln w="47625">
            <a:solidFill>
              <a:srgbClr val="aab7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4936680" y="3301920"/>
            <a:ext cx="36493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04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4936680" y="3831840"/>
            <a:ext cx="36493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4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품질 및 위험 관리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4936680" y="4127040"/>
            <a:ext cx="36493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품질 보증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보안 관리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위험 대응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3308760" y="863640"/>
            <a:ext cx="23605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SECTION. 01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" name="Text 1"/>
          <p:cNvSpPr/>
          <p:nvPr/>
        </p:nvSpPr>
        <p:spPr>
          <a:xfrm>
            <a:off x="2565360" y="1663560"/>
            <a:ext cx="384768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Text 2"/>
          <p:cNvSpPr/>
          <p:nvPr/>
        </p:nvSpPr>
        <p:spPr>
          <a:xfrm>
            <a:off x="2373120" y="2019240"/>
            <a:ext cx="42325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프로젝트 개요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" name="Text 3"/>
          <p:cNvSpPr/>
          <p:nvPr/>
        </p:nvSpPr>
        <p:spPr>
          <a:xfrm>
            <a:off x="1638360" y="2476440"/>
            <a:ext cx="586692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76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프로젝트의 기본 정보와 배경</a:t>
            </a:r>
            <a:r>
              <a:rPr b="0" lang="en-US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추진 목표 및 기대효과</a:t>
            </a:r>
            <a:r>
              <a:rPr b="0" lang="en-US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" name="Text 4"/>
          <p:cNvSpPr/>
          <p:nvPr/>
        </p:nvSpPr>
        <p:spPr>
          <a:xfrm>
            <a:off x="1638360" y="2700000"/>
            <a:ext cx="586692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76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시스템 구축 범위를 설명합니다</a:t>
            </a:r>
            <a:r>
              <a:rPr b="0" lang="en-US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07960" y="304920"/>
            <a:ext cx="22507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프로젝트 정보 및 배경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07960" y="66024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07600" y="1157040"/>
            <a:ext cx="3911760" cy="360"/>
          </a:xfrm>
          <a:prstGeom prst="line">
            <a:avLst/>
          </a:prstGeom>
          <a:ln w="9525">
            <a:solidFill>
              <a:srgbClr val="d8e9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" name="Text 3"/>
          <p:cNvSpPr/>
          <p:nvPr/>
        </p:nvSpPr>
        <p:spPr>
          <a:xfrm>
            <a:off x="507960" y="914400"/>
            <a:ext cx="4302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프로젝트 정보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" name="Text 4"/>
          <p:cNvSpPr/>
          <p:nvPr/>
        </p:nvSpPr>
        <p:spPr>
          <a:xfrm>
            <a:off x="507960" y="1289160"/>
            <a:ext cx="3911400" cy="780480"/>
          </a:xfrm>
          <a:prstGeom prst="roundRect">
            <a:avLst>
              <a:gd name="adj" fmla="val 9760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Text 5"/>
          <p:cNvSpPr/>
          <p:nvPr/>
        </p:nvSpPr>
        <p:spPr>
          <a:xfrm>
            <a:off x="685800" y="1466640"/>
            <a:ext cx="3911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프로젝트명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" name="Text 6"/>
          <p:cNvSpPr/>
          <p:nvPr/>
        </p:nvSpPr>
        <p:spPr>
          <a:xfrm>
            <a:off x="685800" y="1660320"/>
            <a:ext cx="3911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스마트 물류관리 시스템 구축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" name="Text 7"/>
          <p:cNvSpPr/>
          <p:nvPr/>
        </p:nvSpPr>
        <p:spPr>
          <a:xfrm>
            <a:off x="507960" y="2222280"/>
            <a:ext cx="3911400" cy="780480"/>
          </a:xfrm>
          <a:prstGeom prst="roundRect">
            <a:avLst>
              <a:gd name="adj" fmla="val 9760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 8"/>
          <p:cNvSpPr/>
          <p:nvPr/>
        </p:nvSpPr>
        <p:spPr>
          <a:xfrm>
            <a:off x="685800" y="2399760"/>
            <a:ext cx="3911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발주기관 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/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수행사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" name="Text 9"/>
          <p:cNvSpPr/>
          <p:nvPr/>
        </p:nvSpPr>
        <p:spPr>
          <a:xfrm>
            <a:off x="685800" y="2593440"/>
            <a:ext cx="3911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(</a:t>
            </a: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주</a:t>
            </a:r>
            <a:r>
              <a:rPr b="1" lang="en-US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글로벌물류 </a:t>
            </a:r>
            <a:r>
              <a:rPr b="1" lang="en-US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/ (</a:t>
            </a: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주</a:t>
            </a:r>
            <a:r>
              <a:rPr b="1" lang="en-US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테크솔루션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507960" y="3155400"/>
            <a:ext cx="3911400" cy="780480"/>
          </a:xfrm>
          <a:prstGeom prst="roundRect">
            <a:avLst>
              <a:gd name="adj" fmla="val 9760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685800" y="3332880"/>
            <a:ext cx="3911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계약금액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685800" y="3526560"/>
            <a:ext cx="3911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15</a:t>
            </a: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억원 </a:t>
            </a:r>
            <a:r>
              <a:rPr b="1" lang="en-US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(VAT </a:t>
            </a: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별도</a:t>
            </a:r>
            <a:r>
              <a:rPr b="1" lang="en-US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507960" y="4088520"/>
            <a:ext cx="3911400" cy="780480"/>
          </a:xfrm>
          <a:prstGeom prst="roundRect">
            <a:avLst>
              <a:gd name="adj" fmla="val 9760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685800" y="4266000"/>
            <a:ext cx="3911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계약기간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685800" y="4459680"/>
            <a:ext cx="3911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2025.01.06 ~ 2025.12.31 (12</a:t>
            </a: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개월</a:t>
            </a:r>
            <a:r>
              <a:rPr b="1" lang="en-US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" name="Shape 16"/>
          <p:cNvSpPr/>
          <p:nvPr/>
        </p:nvSpPr>
        <p:spPr>
          <a:xfrm>
            <a:off x="4724280" y="1157040"/>
            <a:ext cx="3911760" cy="360"/>
          </a:xfrm>
          <a:prstGeom prst="line">
            <a:avLst/>
          </a:prstGeom>
          <a:ln w="9525">
            <a:solidFill>
              <a:srgbClr val="d8e9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" name="Text 17"/>
          <p:cNvSpPr/>
          <p:nvPr/>
        </p:nvSpPr>
        <p:spPr>
          <a:xfrm>
            <a:off x="4724280" y="914400"/>
            <a:ext cx="4302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추진 배경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4724280" y="1289160"/>
            <a:ext cx="3911400" cy="940320"/>
          </a:xfrm>
          <a:prstGeom prst="roundRect">
            <a:avLst>
              <a:gd name="adj" fmla="val 8100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4902120" y="1466640"/>
            <a:ext cx="3911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현황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4902120" y="1660320"/>
            <a:ext cx="3911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연간 </a:t>
            </a:r>
            <a:r>
              <a:rPr b="1" lang="en-US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500</a:t>
            </a: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만건 물류 처리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8" name="Text 21"/>
          <p:cNvSpPr/>
          <p:nvPr/>
        </p:nvSpPr>
        <p:spPr>
          <a:xfrm>
            <a:off x="4902120" y="1892160"/>
            <a:ext cx="3911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국내 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Top 5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물류기업으로 성장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레거시 시스템 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10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년 이상 운영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9" name="Shape 22"/>
          <p:cNvSpPr/>
          <p:nvPr/>
        </p:nvSpPr>
        <p:spPr>
          <a:xfrm>
            <a:off x="4724280" y="2624760"/>
            <a:ext cx="3911760" cy="360"/>
          </a:xfrm>
          <a:prstGeom prst="line">
            <a:avLst/>
          </a:prstGeom>
          <a:ln w="9525">
            <a:solidFill>
              <a:srgbClr val="d8e9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4724280" y="2382120"/>
            <a:ext cx="4302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문제점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4724280" y="2756880"/>
            <a:ext cx="3911400" cy="13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14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레거시 시스템 노후화로 처리 속도 저하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ts val="14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실시간 재고 파악 불가능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ts val="14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타 시스템</a:t>
            </a:r>
            <a:r>
              <a:rPr b="0" lang="en-US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(ERP, SCM) </a:t>
            </a: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연동 한계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ts val="14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급증하는 물동량 대응 역량 부족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507960" y="304920"/>
            <a:ext cx="22507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추진 목표 및 기대효과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07960" y="66024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Text 2"/>
          <p:cNvSpPr/>
          <p:nvPr/>
        </p:nvSpPr>
        <p:spPr>
          <a:xfrm>
            <a:off x="507960" y="914400"/>
            <a:ext cx="1874520" cy="1904760"/>
          </a:xfrm>
          <a:prstGeom prst="roundRect">
            <a:avLst>
              <a:gd name="adj" fmla="val 5419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Text 3"/>
          <p:cNvSpPr/>
          <p:nvPr/>
        </p:nvSpPr>
        <p:spPr>
          <a:xfrm>
            <a:off x="1271160" y="1123200"/>
            <a:ext cx="3484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📈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6" name="Text 4"/>
          <p:cNvSpPr/>
          <p:nvPr/>
        </p:nvSpPr>
        <p:spPr>
          <a:xfrm>
            <a:off x="1032120" y="1595880"/>
            <a:ext cx="826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30%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7" name="Text 5"/>
          <p:cNvSpPr/>
          <p:nvPr/>
        </p:nvSpPr>
        <p:spPr>
          <a:xfrm>
            <a:off x="987120" y="2100960"/>
            <a:ext cx="916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물류 처리 효율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" name="Text 6"/>
          <p:cNvSpPr/>
          <p:nvPr/>
        </p:nvSpPr>
        <p:spPr>
          <a:xfrm>
            <a:off x="1013400" y="2313360"/>
            <a:ext cx="86328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7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AI </a:t>
            </a:r>
            <a:r>
              <a:rPr b="0" lang="ko-KR" sz="9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기반 최적화로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" name="Text 7"/>
          <p:cNvSpPr/>
          <p:nvPr/>
        </p:nvSpPr>
        <p:spPr>
          <a:xfrm>
            <a:off x="1013400" y="2462040"/>
            <a:ext cx="86328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7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처리량 향상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" name="Text 8"/>
          <p:cNvSpPr/>
          <p:nvPr/>
        </p:nvSpPr>
        <p:spPr>
          <a:xfrm>
            <a:off x="2585880" y="914400"/>
            <a:ext cx="1874520" cy="1904760"/>
          </a:xfrm>
          <a:prstGeom prst="roundRect">
            <a:avLst>
              <a:gd name="adj" fmla="val 5419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Text 9"/>
          <p:cNvSpPr/>
          <p:nvPr/>
        </p:nvSpPr>
        <p:spPr>
          <a:xfrm>
            <a:off x="3349080" y="1123200"/>
            <a:ext cx="3484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📦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2948760" y="1595880"/>
            <a:ext cx="11491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99.5%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3152880" y="2100960"/>
            <a:ext cx="740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재고 정확도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3104640" y="2313360"/>
            <a:ext cx="83736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7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실시간 추적으로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5" name="Text 13"/>
          <p:cNvSpPr/>
          <p:nvPr/>
        </p:nvSpPr>
        <p:spPr>
          <a:xfrm>
            <a:off x="3104640" y="2462040"/>
            <a:ext cx="83736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7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정확도 달성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4664160" y="914400"/>
            <a:ext cx="1874520" cy="1904760"/>
          </a:xfrm>
          <a:prstGeom prst="roundRect">
            <a:avLst>
              <a:gd name="adj" fmla="val 5419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5427360" y="1123200"/>
            <a:ext cx="3484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💰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5188320" y="1595880"/>
            <a:ext cx="826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20%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5143320" y="2100960"/>
            <a:ext cx="916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운영 비용 절감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" name="Text 18"/>
          <p:cNvSpPr/>
          <p:nvPr/>
        </p:nvSpPr>
        <p:spPr>
          <a:xfrm>
            <a:off x="5240520" y="2313360"/>
            <a:ext cx="7218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7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자동화 및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1" name="Text 19"/>
          <p:cNvSpPr/>
          <p:nvPr/>
        </p:nvSpPr>
        <p:spPr>
          <a:xfrm>
            <a:off x="5240520" y="2462040"/>
            <a:ext cx="7218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7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프로세스 개선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6742080" y="914400"/>
            <a:ext cx="1893600" cy="1904760"/>
          </a:xfrm>
          <a:prstGeom prst="roundRect">
            <a:avLst>
              <a:gd name="adj" fmla="val 5364"/>
            </a:avLst>
          </a:prstGeom>
          <a:solidFill>
            <a:srgbClr val="f4f6f6"/>
          </a:solidFill>
          <a:ln w="9525">
            <a:solidFill>
              <a:srgbClr val="aab7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Text 21"/>
          <p:cNvSpPr/>
          <p:nvPr/>
        </p:nvSpPr>
        <p:spPr>
          <a:xfrm>
            <a:off x="7515000" y="1123200"/>
            <a:ext cx="3484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📊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4" name="Text 22"/>
          <p:cNvSpPr/>
          <p:nvPr/>
        </p:nvSpPr>
        <p:spPr>
          <a:xfrm>
            <a:off x="7275960" y="1596240"/>
            <a:ext cx="826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79%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5" name="Text 23"/>
          <p:cNvSpPr/>
          <p:nvPr/>
        </p:nvSpPr>
        <p:spPr>
          <a:xfrm>
            <a:off x="7339680" y="2100960"/>
            <a:ext cx="6991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3</a:t>
            </a:r>
            <a:r>
              <a:rPr b="1" lang="ko-KR" sz="11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년 내 </a:t>
            </a:r>
            <a:r>
              <a:rPr b="1" lang="en-US" sz="11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ROI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6" name="Text 24"/>
          <p:cNvSpPr/>
          <p:nvPr/>
        </p:nvSpPr>
        <p:spPr>
          <a:xfrm>
            <a:off x="7385760" y="2313720"/>
            <a:ext cx="60624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7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투자 대비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7" name="Text 25"/>
          <p:cNvSpPr/>
          <p:nvPr/>
        </p:nvSpPr>
        <p:spPr>
          <a:xfrm>
            <a:off x="7385760" y="2462040"/>
            <a:ext cx="60624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7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수익률 달성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" name="Text 26"/>
          <p:cNvSpPr/>
          <p:nvPr/>
        </p:nvSpPr>
        <p:spPr>
          <a:xfrm>
            <a:off x="507960" y="3781440"/>
            <a:ext cx="8127720" cy="853560"/>
          </a:xfrm>
          <a:prstGeom prst="roundRect">
            <a:avLst>
              <a:gd name="adj" fmla="val 8923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Shape 27"/>
          <p:cNvSpPr/>
          <p:nvPr/>
        </p:nvSpPr>
        <p:spPr>
          <a:xfrm>
            <a:off x="526680" y="3781440"/>
            <a:ext cx="360" cy="853920"/>
          </a:xfrm>
          <a:prstGeom prst="line">
            <a:avLst/>
          </a:prstGeom>
          <a:ln w="38100">
            <a:solidFill>
              <a:srgbClr val="4e9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" name="Text 28"/>
          <p:cNvSpPr/>
          <p:nvPr/>
        </p:nvSpPr>
        <p:spPr>
          <a:xfrm>
            <a:off x="749160" y="3934080"/>
            <a:ext cx="8451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산업 벤치마크 참고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" name="Text 29"/>
          <p:cNvSpPr/>
          <p:nvPr/>
        </p:nvSpPr>
        <p:spPr>
          <a:xfrm>
            <a:off x="749160" y="4137120"/>
            <a:ext cx="84517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물류 자동화 시스템 도입 시 창고 면적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75%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감소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피킹 인력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50%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절감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피킹 오류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99%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감소 효과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2" name="Text 30"/>
          <p:cNvSpPr/>
          <p:nvPr/>
        </p:nvSpPr>
        <p:spPr>
          <a:xfrm>
            <a:off x="749160" y="4359240"/>
            <a:ext cx="84517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출처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: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오토스토어 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TEI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연구 보고서 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(2024)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07960" y="304920"/>
            <a:ext cx="1212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시스템 범위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07960" y="66024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507960" y="914400"/>
            <a:ext cx="3885840" cy="1605600"/>
          </a:xfrm>
          <a:prstGeom prst="roundRect">
            <a:avLst>
              <a:gd name="adj" fmla="val 5539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507600" y="933120"/>
            <a:ext cx="3886200" cy="360"/>
          </a:xfrm>
          <a:prstGeom prst="line">
            <a:avLst/>
          </a:prstGeom>
          <a:ln w="38100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711000" y="1155600"/>
            <a:ext cx="406080" cy="406080"/>
          </a:xfrm>
          <a:prstGeom prst="roundRect">
            <a:avLst>
              <a:gd name="adj" fmla="val 1875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808560" y="1239840"/>
            <a:ext cx="23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🏭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1244520" y="1173240"/>
            <a:ext cx="3241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WMS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1244520" y="1392120"/>
            <a:ext cx="3241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창고관리시스템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711000" y="1688760"/>
            <a:ext cx="347940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입출고 관리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재고 관리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피킹</a:t>
            </a:r>
            <a:r>
              <a:rPr b="0" lang="en-US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/</a:t>
            </a: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패킹 최적화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4597200" y="914400"/>
            <a:ext cx="3885840" cy="1605600"/>
          </a:xfrm>
          <a:prstGeom prst="roundRect">
            <a:avLst>
              <a:gd name="adj" fmla="val 5539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4597200" y="933120"/>
            <a:ext cx="3886200" cy="360"/>
          </a:xfrm>
          <a:prstGeom prst="line">
            <a:avLst/>
          </a:prstGeom>
          <a:ln w="38100">
            <a:solidFill>
              <a:srgbClr val="4e9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4800600" y="1155600"/>
            <a:ext cx="406080" cy="406080"/>
          </a:xfrm>
          <a:prstGeom prst="roundRect">
            <a:avLst>
              <a:gd name="adj" fmla="val 18755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4897800" y="1239840"/>
            <a:ext cx="23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🚚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5333760" y="1173240"/>
            <a:ext cx="3241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TMS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5333760" y="1392120"/>
            <a:ext cx="3241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배송관리시스템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4800600" y="1688760"/>
            <a:ext cx="347940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배차 관리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AI </a:t>
            </a: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경로 최적화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실시간 배송 추적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9" name="Text 16"/>
          <p:cNvSpPr/>
          <p:nvPr/>
        </p:nvSpPr>
        <p:spPr>
          <a:xfrm>
            <a:off x="507960" y="2628000"/>
            <a:ext cx="3885840" cy="1512000"/>
          </a:xfrm>
          <a:prstGeom prst="roundRect">
            <a:avLst>
              <a:gd name="adj" fmla="val 5539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Shape 17"/>
          <p:cNvSpPr/>
          <p:nvPr/>
        </p:nvSpPr>
        <p:spPr>
          <a:xfrm>
            <a:off x="507600" y="2646720"/>
            <a:ext cx="3886200" cy="360"/>
          </a:xfrm>
          <a:prstGeom prst="line">
            <a:avLst/>
          </a:prstGeom>
          <a:ln w="38100">
            <a:solidFill>
              <a:srgbClr val="d8e9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711000" y="2869200"/>
            <a:ext cx="406080" cy="406080"/>
          </a:xfrm>
          <a:prstGeom prst="roundRect">
            <a:avLst>
              <a:gd name="adj" fmla="val 18755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Text 19"/>
          <p:cNvSpPr/>
          <p:nvPr/>
        </p:nvSpPr>
        <p:spPr>
          <a:xfrm>
            <a:off x="808560" y="2953080"/>
            <a:ext cx="23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📋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ext 20"/>
          <p:cNvSpPr/>
          <p:nvPr/>
        </p:nvSpPr>
        <p:spPr>
          <a:xfrm>
            <a:off x="1244520" y="2886480"/>
            <a:ext cx="3241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OMS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Text 21"/>
          <p:cNvSpPr/>
          <p:nvPr/>
        </p:nvSpPr>
        <p:spPr>
          <a:xfrm>
            <a:off x="1244520" y="3105720"/>
            <a:ext cx="3241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주문관리시스템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Text 22"/>
          <p:cNvSpPr/>
          <p:nvPr/>
        </p:nvSpPr>
        <p:spPr>
          <a:xfrm>
            <a:off x="711000" y="3402360"/>
            <a:ext cx="347940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주문 접수</a:t>
            </a:r>
            <a:r>
              <a:rPr b="0" lang="en-US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/</a:t>
            </a: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처리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재고 할당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정산 관리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" name="Text 23"/>
          <p:cNvSpPr/>
          <p:nvPr/>
        </p:nvSpPr>
        <p:spPr>
          <a:xfrm>
            <a:off x="4597200" y="2628000"/>
            <a:ext cx="3885840" cy="1512000"/>
          </a:xfrm>
          <a:prstGeom prst="roundRect">
            <a:avLst>
              <a:gd name="adj" fmla="val 5539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Shape 24"/>
          <p:cNvSpPr/>
          <p:nvPr/>
        </p:nvSpPr>
        <p:spPr>
          <a:xfrm>
            <a:off x="4597200" y="2646720"/>
            <a:ext cx="3886200" cy="360"/>
          </a:xfrm>
          <a:prstGeom prst="line">
            <a:avLst/>
          </a:prstGeom>
          <a:ln w="38100">
            <a:solidFill>
              <a:srgbClr val="aab7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" name="Text 25"/>
          <p:cNvSpPr/>
          <p:nvPr/>
        </p:nvSpPr>
        <p:spPr>
          <a:xfrm>
            <a:off x="4800600" y="2869200"/>
            <a:ext cx="406080" cy="406080"/>
          </a:xfrm>
          <a:prstGeom prst="roundRect">
            <a:avLst>
              <a:gd name="adj" fmla="val 1875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Text 26"/>
          <p:cNvSpPr/>
          <p:nvPr/>
        </p:nvSpPr>
        <p:spPr>
          <a:xfrm>
            <a:off x="4897800" y="2953080"/>
            <a:ext cx="23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📊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0" name="Text 27"/>
          <p:cNvSpPr/>
          <p:nvPr/>
        </p:nvSpPr>
        <p:spPr>
          <a:xfrm>
            <a:off x="5333760" y="2886480"/>
            <a:ext cx="3241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Dashboard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1" name="Text 28"/>
          <p:cNvSpPr/>
          <p:nvPr/>
        </p:nvSpPr>
        <p:spPr>
          <a:xfrm>
            <a:off x="5333760" y="3105720"/>
            <a:ext cx="3241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통합모니터링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" name="Text 29"/>
          <p:cNvSpPr/>
          <p:nvPr/>
        </p:nvSpPr>
        <p:spPr>
          <a:xfrm>
            <a:off x="4800600" y="3402360"/>
            <a:ext cx="347940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실시간 현황 모니터링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KPI </a:t>
            </a: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대시보드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91a19"/>
              </a:buClr>
              <a:buFont typeface="Symbol" charset="2"/>
              <a:buChar char=""/>
            </a:pPr>
            <a:r>
              <a:rPr b="0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리포트 생성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3" name="Text 30"/>
          <p:cNvSpPr/>
          <p:nvPr/>
        </p:nvSpPr>
        <p:spPr>
          <a:xfrm>
            <a:off x="507960" y="4197600"/>
            <a:ext cx="3962160" cy="590040"/>
          </a:xfrm>
          <a:prstGeom prst="roundRect">
            <a:avLst>
              <a:gd name="adj" fmla="val 12906"/>
            </a:avLst>
          </a:prstGeom>
          <a:solidFill>
            <a:srgbClr val="1e5128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Text 31"/>
          <p:cNvSpPr/>
          <p:nvPr/>
        </p:nvSpPr>
        <p:spPr>
          <a:xfrm>
            <a:off x="685800" y="4324320"/>
            <a:ext cx="3967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포함 범위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5" name="Text 32"/>
          <p:cNvSpPr/>
          <p:nvPr/>
        </p:nvSpPr>
        <p:spPr>
          <a:xfrm>
            <a:off x="685800" y="4518000"/>
            <a:ext cx="3967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4</a:t>
            </a:r>
            <a:r>
              <a:rPr b="0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개 핵심 모듈 신규 개발</a:t>
            </a:r>
            <a:r>
              <a:rPr b="0" lang="en-US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레거시 데이터 마이그레이션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6" name="Text 33"/>
          <p:cNvSpPr/>
          <p:nvPr/>
        </p:nvSpPr>
        <p:spPr>
          <a:xfrm>
            <a:off x="4673520" y="4197600"/>
            <a:ext cx="3962160" cy="590040"/>
          </a:xfrm>
          <a:prstGeom prst="roundRect">
            <a:avLst>
              <a:gd name="adj" fmla="val 12906"/>
            </a:avLst>
          </a:prstGeom>
          <a:solidFill>
            <a:srgbClr val="aab7b8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" name="Text 34"/>
          <p:cNvSpPr/>
          <p:nvPr/>
        </p:nvSpPr>
        <p:spPr>
          <a:xfrm>
            <a:off x="4851360" y="4324320"/>
            <a:ext cx="3967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제외 범위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8" name="Text 35"/>
          <p:cNvSpPr/>
          <p:nvPr/>
        </p:nvSpPr>
        <p:spPr>
          <a:xfrm>
            <a:off x="4851360" y="4518000"/>
            <a:ext cx="3967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회계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/HR/ERP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시스템 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(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인터페이스만 개발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3308760" y="863640"/>
            <a:ext cx="23605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SECTION. 02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2565360" y="1663560"/>
            <a:ext cx="3847680" cy="2484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2373120" y="2019240"/>
            <a:ext cx="42325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추진 전략 및 방법론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1638360" y="2476440"/>
            <a:ext cx="586692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76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프로젝트의 핵심 추진 전략과 수행 방법론</a:t>
            </a:r>
            <a:r>
              <a:rPr b="0" lang="en-US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1638360" y="2700000"/>
            <a:ext cx="586692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76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기술 아키텍처를 설명합니다</a:t>
            </a:r>
            <a:r>
              <a:rPr b="0" lang="en-US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507960" y="304920"/>
            <a:ext cx="15004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핵심 추진 전략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507960" y="66024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507960" y="812880"/>
            <a:ext cx="3598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"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안정적 전환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"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과 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"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혁신적 기능 구현</a:t>
            </a:r>
            <a:r>
              <a:rPr b="0" lang="en-US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"</a:t>
            </a: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의 균형을 핵심 가치로 추진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507960" y="1143000"/>
            <a:ext cx="3885840" cy="1186920"/>
          </a:xfrm>
          <a:prstGeom prst="roundRect">
            <a:avLst>
              <a:gd name="adj" fmla="val 855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711000" y="1346040"/>
            <a:ext cx="406080" cy="406080"/>
          </a:xfrm>
          <a:prstGeom prst="roundRect">
            <a:avLst>
              <a:gd name="adj" fmla="val 22505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861120" y="1439640"/>
            <a:ext cx="116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1269720" y="1346040"/>
            <a:ext cx="3213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단계적 전환 전략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1269720" y="1603440"/>
            <a:ext cx="3213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Big Bang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방식이 아닌 모듈별 순차 전환으로 리스크를 최소화합니다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1269720" y="1946160"/>
            <a:ext cx="3213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Risk Mitigation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4572000" y="1143000"/>
            <a:ext cx="3885840" cy="1186920"/>
          </a:xfrm>
          <a:prstGeom prst="roundRect">
            <a:avLst>
              <a:gd name="adj" fmla="val 855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4775040" y="1346040"/>
            <a:ext cx="406080" cy="406080"/>
          </a:xfrm>
          <a:prstGeom prst="roundRect">
            <a:avLst>
              <a:gd name="adj" fmla="val 225055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4925160" y="1439640"/>
            <a:ext cx="116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5333760" y="1346040"/>
            <a:ext cx="3213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애자일 기반 개발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5333760" y="1603440"/>
            <a:ext cx="32130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2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주 단위 스프린트로 빠른 피드백과 유연한 대응을 실현합니다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5333760" y="1774800"/>
            <a:ext cx="3213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2-Week Sprint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9" name="Text 15"/>
          <p:cNvSpPr/>
          <p:nvPr/>
        </p:nvSpPr>
        <p:spPr>
          <a:xfrm>
            <a:off x="507960" y="2508120"/>
            <a:ext cx="3885840" cy="1015560"/>
          </a:xfrm>
          <a:prstGeom prst="roundRect">
            <a:avLst>
              <a:gd name="adj" fmla="val 10001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711000" y="2711160"/>
            <a:ext cx="406080" cy="406080"/>
          </a:xfrm>
          <a:prstGeom prst="roundRect">
            <a:avLst>
              <a:gd name="adj" fmla="val 225055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Text 17"/>
          <p:cNvSpPr/>
          <p:nvPr/>
        </p:nvSpPr>
        <p:spPr>
          <a:xfrm>
            <a:off x="861120" y="2804760"/>
            <a:ext cx="116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1269720" y="2711160"/>
            <a:ext cx="3213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현업 밀착 협업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" name="Text 19"/>
          <p:cNvSpPr/>
          <p:nvPr/>
        </p:nvSpPr>
        <p:spPr>
          <a:xfrm>
            <a:off x="1269720" y="2968200"/>
            <a:ext cx="32130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주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2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회 현업 리뷰를 통해 요구사항 정합성을 확보합니다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1269720" y="3139920"/>
            <a:ext cx="3213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Weekly Review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5" name="Text 21"/>
          <p:cNvSpPr/>
          <p:nvPr/>
        </p:nvSpPr>
        <p:spPr>
          <a:xfrm>
            <a:off x="4572000" y="2508120"/>
            <a:ext cx="3885840" cy="1015560"/>
          </a:xfrm>
          <a:prstGeom prst="roundRect">
            <a:avLst>
              <a:gd name="adj" fmla="val 10001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4775040" y="2711160"/>
            <a:ext cx="406080" cy="406080"/>
          </a:xfrm>
          <a:prstGeom prst="roundRect">
            <a:avLst>
              <a:gd name="adj" fmla="val 22505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Text 23"/>
          <p:cNvSpPr/>
          <p:nvPr/>
        </p:nvSpPr>
        <p:spPr>
          <a:xfrm>
            <a:off x="4925160" y="2804760"/>
            <a:ext cx="116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" name="Text 24"/>
          <p:cNvSpPr/>
          <p:nvPr/>
        </p:nvSpPr>
        <p:spPr>
          <a:xfrm>
            <a:off x="5333760" y="2711160"/>
            <a:ext cx="3213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하이브리드 방법론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9" name="Text 25"/>
          <p:cNvSpPr/>
          <p:nvPr/>
        </p:nvSpPr>
        <p:spPr>
          <a:xfrm>
            <a:off x="5333760" y="2968200"/>
            <a:ext cx="32130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대규모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SI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프로젝트 안정성과 애자일 유연성을 결합합니다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.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0" name="Text 26"/>
          <p:cNvSpPr/>
          <p:nvPr/>
        </p:nvSpPr>
        <p:spPr>
          <a:xfrm>
            <a:off x="5333760" y="3139920"/>
            <a:ext cx="3213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Best of Both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1" name="Text 27"/>
          <p:cNvSpPr/>
          <p:nvPr/>
        </p:nvSpPr>
        <p:spPr>
          <a:xfrm>
            <a:off x="507960" y="4239000"/>
            <a:ext cx="8127720" cy="599400"/>
          </a:xfrm>
          <a:prstGeom prst="roundRect">
            <a:avLst>
              <a:gd name="adj" fmla="val 1270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Text 28"/>
          <p:cNvSpPr/>
          <p:nvPr/>
        </p:nvSpPr>
        <p:spPr>
          <a:xfrm>
            <a:off x="761760" y="4457880"/>
            <a:ext cx="740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수행 방법론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" name="Text 29"/>
          <p:cNvSpPr/>
          <p:nvPr/>
        </p:nvSpPr>
        <p:spPr>
          <a:xfrm>
            <a:off x="1638360" y="4462560"/>
            <a:ext cx="6068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Agile-Waterfall </a:t>
            </a:r>
            <a:r>
              <a:rPr b="0" lang="ko-KR" sz="10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하이브리드 </a:t>
            </a:r>
            <a:r>
              <a:rPr b="0" lang="en-US" sz="10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| </a:t>
            </a:r>
            <a:r>
              <a:rPr b="0" lang="ko-KR" sz="10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분석 → 설계 → 개발 → 테스트 → 이행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" name="Text 30"/>
          <p:cNvSpPr/>
          <p:nvPr/>
        </p:nvSpPr>
        <p:spPr>
          <a:xfrm>
            <a:off x="7359120" y="4416480"/>
            <a:ext cx="1022400" cy="244080"/>
          </a:xfrm>
          <a:prstGeom prst="roundRect">
            <a:avLst>
              <a:gd name="adj" fmla="val 20788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" name="Text 31"/>
          <p:cNvSpPr/>
          <p:nvPr/>
        </p:nvSpPr>
        <p:spPr>
          <a:xfrm>
            <a:off x="7486200" y="4467240"/>
            <a:ext cx="8456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ISO/IEC 12207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507960" y="304920"/>
            <a:ext cx="14439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기술 아키텍처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507960" y="66024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421560" y="1041480"/>
            <a:ext cx="9493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Frontend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1523880" y="791640"/>
            <a:ext cx="2302560" cy="642240"/>
          </a:xfrm>
          <a:prstGeom prst="roundRect">
            <a:avLst>
              <a:gd name="adj" fmla="val 11065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1548360" y="886320"/>
            <a:ext cx="22536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Vue.js 3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1548360" y="108468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v3.4 / TypeScript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1548360" y="122400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SPA </a:t>
            </a:r>
            <a:r>
              <a:rPr b="0" lang="ko-KR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구조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3928320" y="791640"/>
            <a:ext cx="2302560" cy="642240"/>
          </a:xfrm>
          <a:prstGeom prst="roundRect">
            <a:avLst>
              <a:gd name="adj" fmla="val 11065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4" name="Text 8"/>
          <p:cNvSpPr/>
          <p:nvPr/>
        </p:nvSpPr>
        <p:spPr>
          <a:xfrm>
            <a:off x="3952800" y="886320"/>
            <a:ext cx="22536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Vuetify 3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3952800" y="108468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UI Framework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3952800" y="122400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Material Design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6332760" y="791640"/>
            <a:ext cx="2302560" cy="642240"/>
          </a:xfrm>
          <a:prstGeom prst="roundRect">
            <a:avLst>
              <a:gd name="adj" fmla="val 11065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6357240" y="886320"/>
            <a:ext cx="22536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Pinia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6357240" y="108468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State Management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6357240" y="122400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Reactive Store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421560" y="1731600"/>
            <a:ext cx="9493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Backend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1523880" y="1481400"/>
            <a:ext cx="2302560" cy="642600"/>
          </a:xfrm>
          <a:prstGeom prst="roundRect">
            <a:avLst>
              <a:gd name="adj" fmla="val 11065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1548360" y="1576080"/>
            <a:ext cx="22536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Spring Boot 3.2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1548360" y="177480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Java 17 / MSA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5" name="Text 19"/>
          <p:cNvSpPr/>
          <p:nvPr/>
        </p:nvSpPr>
        <p:spPr>
          <a:xfrm>
            <a:off x="1548360" y="191376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마이크로서비스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3928320" y="1481400"/>
            <a:ext cx="2302560" cy="642600"/>
          </a:xfrm>
          <a:prstGeom prst="roundRect">
            <a:avLst>
              <a:gd name="adj" fmla="val 11065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3952800" y="1576080"/>
            <a:ext cx="22536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Spring Cloud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3952800" y="177480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Gateway / Config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9" name="Text 23"/>
          <p:cNvSpPr/>
          <p:nvPr/>
        </p:nvSpPr>
        <p:spPr>
          <a:xfrm>
            <a:off x="3952800" y="191376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서비스 메시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" name="Text 24"/>
          <p:cNvSpPr/>
          <p:nvPr/>
        </p:nvSpPr>
        <p:spPr>
          <a:xfrm>
            <a:off x="6332760" y="1481400"/>
            <a:ext cx="2302560" cy="642600"/>
          </a:xfrm>
          <a:prstGeom prst="roundRect">
            <a:avLst>
              <a:gd name="adj" fmla="val 11065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1" name="Text 25"/>
          <p:cNvSpPr/>
          <p:nvPr/>
        </p:nvSpPr>
        <p:spPr>
          <a:xfrm>
            <a:off x="6357240" y="1576080"/>
            <a:ext cx="22536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Kafka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" name="Text 26"/>
          <p:cNvSpPr/>
          <p:nvPr/>
        </p:nvSpPr>
        <p:spPr>
          <a:xfrm>
            <a:off x="6357240" y="177480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Event Streaming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" name="Text 27"/>
          <p:cNvSpPr/>
          <p:nvPr/>
        </p:nvSpPr>
        <p:spPr>
          <a:xfrm>
            <a:off x="6357240" y="191376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비동기 처리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4" name="Text 28"/>
          <p:cNvSpPr/>
          <p:nvPr/>
        </p:nvSpPr>
        <p:spPr>
          <a:xfrm>
            <a:off x="421560" y="2421720"/>
            <a:ext cx="9493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Database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5" name="Text 29"/>
          <p:cNvSpPr/>
          <p:nvPr/>
        </p:nvSpPr>
        <p:spPr>
          <a:xfrm>
            <a:off x="1523880" y="2171520"/>
            <a:ext cx="2302560" cy="642600"/>
          </a:xfrm>
          <a:prstGeom prst="roundRect">
            <a:avLst>
              <a:gd name="adj" fmla="val 1106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Text 30"/>
          <p:cNvSpPr/>
          <p:nvPr/>
        </p:nvSpPr>
        <p:spPr>
          <a:xfrm>
            <a:off x="1548360" y="2266200"/>
            <a:ext cx="22536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PostgreSQL 16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" name="Text 31"/>
          <p:cNvSpPr/>
          <p:nvPr/>
        </p:nvSpPr>
        <p:spPr>
          <a:xfrm>
            <a:off x="1548360" y="246492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RDBMS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8" name="Text 32"/>
          <p:cNvSpPr/>
          <p:nvPr/>
        </p:nvSpPr>
        <p:spPr>
          <a:xfrm>
            <a:off x="1548360" y="260388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메인 </a:t>
            </a: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DB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9" name="Text 33"/>
          <p:cNvSpPr/>
          <p:nvPr/>
        </p:nvSpPr>
        <p:spPr>
          <a:xfrm>
            <a:off x="3928320" y="2171520"/>
            <a:ext cx="2302560" cy="642600"/>
          </a:xfrm>
          <a:prstGeom prst="roundRect">
            <a:avLst>
              <a:gd name="adj" fmla="val 1106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Text 34"/>
          <p:cNvSpPr/>
          <p:nvPr/>
        </p:nvSpPr>
        <p:spPr>
          <a:xfrm>
            <a:off x="3952800" y="2266200"/>
            <a:ext cx="22536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Redis 7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1" name="Text 35"/>
          <p:cNvSpPr/>
          <p:nvPr/>
        </p:nvSpPr>
        <p:spPr>
          <a:xfrm>
            <a:off x="3952800" y="246492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In-Memory Cache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2" name="Text 36"/>
          <p:cNvSpPr/>
          <p:nvPr/>
        </p:nvSpPr>
        <p:spPr>
          <a:xfrm>
            <a:off x="3952800" y="260388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세션</a:t>
            </a: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/</a:t>
            </a: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캐시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3" name="Text 37"/>
          <p:cNvSpPr/>
          <p:nvPr/>
        </p:nvSpPr>
        <p:spPr>
          <a:xfrm>
            <a:off x="6332760" y="2171520"/>
            <a:ext cx="2302560" cy="642600"/>
          </a:xfrm>
          <a:prstGeom prst="roundRect">
            <a:avLst>
              <a:gd name="adj" fmla="val 1106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4" name="Text 38"/>
          <p:cNvSpPr/>
          <p:nvPr/>
        </p:nvSpPr>
        <p:spPr>
          <a:xfrm>
            <a:off x="6357240" y="2266200"/>
            <a:ext cx="22536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Elasticsearch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" name="Text 39"/>
          <p:cNvSpPr/>
          <p:nvPr/>
        </p:nvSpPr>
        <p:spPr>
          <a:xfrm>
            <a:off x="6357240" y="246492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Search Engine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" name="Text 40"/>
          <p:cNvSpPr/>
          <p:nvPr/>
        </p:nvSpPr>
        <p:spPr>
          <a:xfrm>
            <a:off x="6357240" y="2603880"/>
            <a:ext cx="225360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로그</a:t>
            </a: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/</a:t>
            </a: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검색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7" name="Text 41"/>
          <p:cNvSpPr/>
          <p:nvPr/>
        </p:nvSpPr>
        <p:spPr>
          <a:xfrm>
            <a:off x="421560" y="3120840"/>
            <a:ext cx="949320" cy="1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Infra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" name="Text 42"/>
          <p:cNvSpPr/>
          <p:nvPr/>
        </p:nvSpPr>
        <p:spPr>
          <a:xfrm>
            <a:off x="1523880" y="2861640"/>
            <a:ext cx="2302560" cy="660240"/>
          </a:xfrm>
          <a:prstGeom prst="roundRect">
            <a:avLst>
              <a:gd name="adj" fmla="val 10768"/>
            </a:avLst>
          </a:prstGeom>
          <a:solidFill>
            <a:srgbClr val="f4f6f6"/>
          </a:solidFill>
          <a:ln w="9525">
            <a:solidFill>
              <a:srgbClr val="aab7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9" name="Text 43"/>
          <p:cNvSpPr/>
          <p:nvPr/>
        </p:nvSpPr>
        <p:spPr>
          <a:xfrm>
            <a:off x="1558800" y="2965320"/>
            <a:ext cx="22327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AWS EKS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0" name="Text 44"/>
          <p:cNvSpPr/>
          <p:nvPr/>
        </p:nvSpPr>
        <p:spPr>
          <a:xfrm>
            <a:off x="1558800" y="3163680"/>
            <a:ext cx="223272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Kubernetes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1" name="Text 45"/>
          <p:cNvSpPr/>
          <p:nvPr/>
        </p:nvSpPr>
        <p:spPr>
          <a:xfrm>
            <a:off x="1558800" y="3303000"/>
            <a:ext cx="223272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컨테이너 오케스트레이션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2" name="Text 46"/>
          <p:cNvSpPr/>
          <p:nvPr/>
        </p:nvSpPr>
        <p:spPr>
          <a:xfrm>
            <a:off x="3928320" y="2861640"/>
            <a:ext cx="2302560" cy="660240"/>
          </a:xfrm>
          <a:prstGeom prst="roundRect">
            <a:avLst>
              <a:gd name="adj" fmla="val 10768"/>
            </a:avLst>
          </a:prstGeom>
          <a:solidFill>
            <a:srgbClr val="f4f6f6"/>
          </a:solidFill>
          <a:ln w="9525">
            <a:solidFill>
              <a:srgbClr val="aab7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3" name="Text 47"/>
          <p:cNvSpPr/>
          <p:nvPr/>
        </p:nvSpPr>
        <p:spPr>
          <a:xfrm>
            <a:off x="3963240" y="2965320"/>
            <a:ext cx="22327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AWS RDS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4" name="Text 48"/>
          <p:cNvSpPr/>
          <p:nvPr/>
        </p:nvSpPr>
        <p:spPr>
          <a:xfrm>
            <a:off x="3963240" y="3163680"/>
            <a:ext cx="223272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Managed DB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5" name="Text 49"/>
          <p:cNvSpPr/>
          <p:nvPr/>
        </p:nvSpPr>
        <p:spPr>
          <a:xfrm>
            <a:off x="3963240" y="3303000"/>
            <a:ext cx="223272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고가용성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6" name="Text 50"/>
          <p:cNvSpPr/>
          <p:nvPr/>
        </p:nvSpPr>
        <p:spPr>
          <a:xfrm>
            <a:off x="6332760" y="2861640"/>
            <a:ext cx="2302560" cy="660240"/>
          </a:xfrm>
          <a:prstGeom prst="roundRect">
            <a:avLst>
              <a:gd name="adj" fmla="val 10768"/>
            </a:avLst>
          </a:prstGeom>
          <a:solidFill>
            <a:srgbClr val="f4f6f6"/>
          </a:solidFill>
          <a:ln w="9525">
            <a:solidFill>
              <a:srgbClr val="aab7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7" name="Text 51"/>
          <p:cNvSpPr/>
          <p:nvPr/>
        </p:nvSpPr>
        <p:spPr>
          <a:xfrm>
            <a:off x="6367680" y="2965320"/>
            <a:ext cx="22327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AWS S3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8" name="Text 52"/>
          <p:cNvSpPr/>
          <p:nvPr/>
        </p:nvSpPr>
        <p:spPr>
          <a:xfrm>
            <a:off x="6367680" y="3163680"/>
            <a:ext cx="223272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Object Storage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9" name="Text 53"/>
          <p:cNvSpPr/>
          <p:nvPr/>
        </p:nvSpPr>
        <p:spPr>
          <a:xfrm>
            <a:off x="6367680" y="3303000"/>
            <a:ext cx="2232720" cy="1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파일 저장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0" name="Text 54"/>
          <p:cNvSpPr/>
          <p:nvPr/>
        </p:nvSpPr>
        <p:spPr>
          <a:xfrm>
            <a:off x="421560" y="3819600"/>
            <a:ext cx="94932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AI/ML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1" name="Text 55"/>
          <p:cNvSpPr/>
          <p:nvPr/>
        </p:nvSpPr>
        <p:spPr>
          <a:xfrm>
            <a:off x="1523880" y="3569760"/>
            <a:ext cx="7111800" cy="642240"/>
          </a:xfrm>
          <a:prstGeom prst="roundRect">
            <a:avLst>
              <a:gd name="adj" fmla="val 1106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2" name="Text 56"/>
          <p:cNvSpPr/>
          <p:nvPr/>
        </p:nvSpPr>
        <p:spPr>
          <a:xfrm>
            <a:off x="1307880" y="3664440"/>
            <a:ext cx="754344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TensorFlow 2.15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3" name="Text 57"/>
          <p:cNvSpPr/>
          <p:nvPr/>
        </p:nvSpPr>
        <p:spPr>
          <a:xfrm>
            <a:off x="1307880" y="3862800"/>
            <a:ext cx="754344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Python 3.11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4" name="Text 58"/>
          <p:cNvSpPr/>
          <p:nvPr/>
        </p:nvSpPr>
        <p:spPr>
          <a:xfrm>
            <a:off x="1307880" y="4002120"/>
            <a:ext cx="754344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수요예측 </a:t>
            </a: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/ </a:t>
            </a: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경로최적화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5" name="Text 59"/>
          <p:cNvSpPr/>
          <p:nvPr/>
        </p:nvSpPr>
        <p:spPr>
          <a:xfrm>
            <a:off x="507960" y="4284000"/>
            <a:ext cx="1917360" cy="540000"/>
          </a:xfrm>
          <a:prstGeom prst="roundRect">
            <a:avLst>
              <a:gd name="adj" fmla="val 11485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6" name="Text 60"/>
          <p:cNvSpPr/>
          <p:nvPr/>
        </p:nvSpPr>
        <p:spPr>
          <a:xfrm>
            <a:off x="551880" y="4302360"/>
            <a:ext cx="1829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☁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7" name="Text 61"/>
          <p:cNvSpPr/>
          <p:nvPr/>
        </p:nvSpPr>
        <p:spPr>
          <a:xfrm>
            <a:off x="551880" y="4510800"/>
            <a:ext cx="1829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클라우드 네이티브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8" name="Text 62"/>
          <p:cNvSpPr/>
          <p:nvPr/>
        </p:nvSpPr>
        <p:spPr>
          <a:xfrm>
            <a:off x="551880" y="4653720"/>
            <a:ext cx="1829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확장성 확보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9" name="Text 63"/>
          <p:cNvSpPr/>
          <p:nvPr/>
        </p:nvSpPr>
        <p:spPr>
          <a:xfrm>
            <a:off x="2577960" y="4284000"/>
            <a:ext cx="1917360" cy="540000"/>
          </a:xfrm>
          <a:prstGeom prst="roundRect">
            <a:avLst>
              <a:gd name="adj" fmla="val 11485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Text 64"/>
          <p:cNvSpPr/>
          <p:nvPr/>
        </p:nvSpPr>
        <p:spPr>
          <a:xfrm>
            <a:off x="2621880" y="4302360"/>
            <a:ext cx="1829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🔄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1" name="Text 65"/>
          <p:cNvSpPr/>
          <p:nvPr/>
        </p:nvSpPr>
        <p:spPr>
          <a:xfrm>
            <a:off x="2621880" y="4510800"/>
            <a:ext cx="1829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MSA </a:t>
            </a: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구조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2" name="Text 66"/>
          <p:cNvSpPr/>
          <p:nvPr/>
        </p:nvSpPr>
        <p:spPr>
          <a:xfrm>
            <a:off x="2621880" y="4653720"/>
            <a:ext cx="1829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독립 배포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3" name="Text 67"/>
          <p:cNvSpPr/>
          <p:nvPr/>
        </p:nvSpPr>
        <p:spPr>
          <a:xfrm>
            <a:off x="4647960" y="4284000"/>
            <a:ext cx="1917360" cy="540000"/>
          </a:xfrm>
          <a:prstGeom prst="roundRect">
            <a:avLst>
              <a:gd name="adj" fmla="val 11485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4" name="Text 68"/>
          <p:cNvSpPr/>
          <p:nvPr/>
        </p:nvSpPr>
        <p:spPr>
          <a:xfrm>
            <a:off x="4691880" y="4302360"/>
            <a:ext cx="1829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🤖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5" name="Text 69"/>
          <p:cNvSpPr/>
          <p:nvPr/>
        </p:nvSpPr>
        <p:spPr>
          <a:xfrm>
            <a:off x="4691880" y="4510800"/>
            <a:ext cx="1829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AI </a:t>
            </a: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기반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6" name="Text 70"/>
          <p:cNvSpPr/>
          <p:nvPr/>
        </p:nvSpPr>
        <p:spPr>
          <a:xfrm>
            <a:off x="4691880" y="4653720"/>
            <a:ext cx="1829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지능형 최적화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7" name="Text 71"/>
          <p:cNvSpPr/>
          <p:nvPr/>
        </p:nvSpPr>
        <p:spPr>
          <a:xfrm>
            <a:off x="6717960" y="4284000"/>
            <a:ext cx="1917360" cy="540000"/>
          </a:xfrm>
          <a:prstGeom prst="roundRect">
            <a:avLst>
              <a:gd name="adj" fmla="val 11485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8" name="Text 72"/>
          <p:cNvSpPr/>
          <p:nvPr/>
        </p:nvSpPr>
        <p:spPr>
          <a:xfrm>
            <a:off x="6761880" y="4302360"/>
            <a:ext cx="1829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🔒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9" name="Text 73"/>
          <p:cNvSpPr/>
          <p:nvPr/>
        </p:nvSpPr>
        <p:spPr>
          <a:xfrm>
            <a:off x="6761880" y="4510800"/>
            <a:ext cx="1829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보안 강화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0" name="Text 74"/>
          <p:cNvSpPr/>
          <p:nvPr/>
        </p:nvSpPr>
        <p:spPr>
          <a:xfrm>
            <a:off x="6761880" y="4653720"/>
            <a:ext cx="1829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Zero Trust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3308760" y="863640"/>
            <a:ext cx="23605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SECTION. 03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2565360" y="1663560"/>
            <a:ext cx="3847680" cy="2484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2373120" y="2019240"/>
            <a:ext cx="42325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프로젝트 조직 및 일정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1638360" y="2476440"/>
            <a:ext cx="586692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76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프로젝트 조직 구성과 역할 분담</a:t>
            </a:r>
            <a:r>
              <a:rPr b="0" lang="en-US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1638360" y="2700000"/>
            <a:ext cx="586692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76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투입 인력 현황 및 마스터 일정을 설명합니다</a:t>
            </a:r>
            <a:r>
              <a:rPr b="0" lang="en-US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507960" y="304920"/>
            <a:ext cx="19630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프로젝트 조직 구성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507960" y="66024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2666880" y="863640"/>
            <a:ext cx="1523520" cy="732600"/>
          </a:xfrm>
          <a:prstGeom prst="roundRect">
            <a:avLst>
              <a:gd name="adj" fmla="val 10394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9" name="Text 3"/>
          <p:cNvSpPr/>
          <p:nvPr/>
        </p:nvSpPr>
        <p:spPr>
          <a:xfrm>
            <a:off x="2786040" y="990360"/>
            <a:ext cx="12852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발주기관 </a:t>
            </a: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PM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0" name="Text 4"/>
          <p:cNvSpPr/>
          <p:nvPr/>
        </p:nvSpPr>
        <p:spPr>
          <a:xfrm>
            <a:off x="2786040" y="1139400"/>
            <a:ext cx="1285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정민호 부장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2786040" y="1326960"/>
            <a:ext cx="1285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주</a:t>
            </a:r>
            <a:r>
              <a:rPr b="0" lang="en-US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글로벌물류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4952880" y="863640"/>
            <a:ext cx="1523520" cy="732600"/>
          </a:xfrm>
          <a:prstGeom prst="roundRect">
            <a:avLst>
              <a:gd name="adj" fmla="val 10394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5072040" y="990360"/>
            <a:ext cx="12852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수행사 </a:t>
            </a: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PM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5072040" y="1139400"/>
            <a:ext cx="1285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김철수 차장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5072040" y="1326960"/>
            <a:ext cx="1285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주</a:t>
            </a:r>
            <a:r>
              <a:rPr b="0" lang="en-US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6" name="Text 10"/>
          <p:cNvSpPr/>
          <p:nvPr/>
        </p:nvSpPr>
        <p:spPr>
          <a:xfrm>
            <a:off x="4559040" y="1723680"/>
            <a:ext cx="24840" cy="202680"/>
          </a:xfrm>
          <a:prstGeom prst="rect">
            <a:avLst/>
          </a:prstGeom>
          <a:solidFill>
            <a:srgbClr val="aab7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3809880" y="2053800"/>
            <a:ext cx="1523520" cy="732600"/>
          </a:xfrm>
          <a:prstGeom prst="roundRect">
            <a:avLst>
              <a:gd name="adj" fmla="val 10394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8" name="Text 12"/>
          <p:cNvSpPr/>
          <p:nvPr/>
        </p:nvSpPr>
        <p:spPr>
          <a:xfrm>
            <a:off x="3929040" y="2180520"/>
            <a:ext cx="12852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PMO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9" name="Text 13"/>
          <p:cNvSpPr/>
          <p:nvPr/>
        </p:nvSpPr>
        <p:spPr>
          <a:xfrm>
            <a:off x="3929040" y="2329920"/>
            <a:ext cx="12852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이영희 과장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0" name="Text 14"/>
          <p:cNvSpPr/>
          <p:nvPr/>
        </p:nvSpPr>
        <p:spPr>
          <a:xfrm>
            <a:off x="3929040" y="2517120"/>
            <a:ext cx="1285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품질 검토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1" name="Text 15"/>
          <p:cNvSpPr/>
          <p:nvPr/>
        </p:nvSpPr>
        <p:spPr>
          <a:xfrm>
            <a:off x="3301920" y="2913840"/>
            <a:ext cx="2539440" cy="24840"/>
          </a:xfrm>
          <a:prstGeom prst="rect">
            <a:avLst/>
          </a:prstGeom>
          <a:solidFill>
            <a:srgbClr val="aab7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2" name="Text 16"/>
          <p:cNvSpPr/>
          <p:nvPr/>
        </p:nvSpPr>
        <p:spPr>
          <a:xfrm>
            <a:off x="2057400" y="3066120"/>
            <a:ext cx="1142640" cy="761040"/>
          </a:xfrm>
          <a:prstGeom prst="roundRect">
            <a:avLst>
              <a:gd name="adj" fmla="val 10006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3" name="Text 17"/>
          <p:cNvSpPr/>
          <p:nvPr/>
        </p:nvSpPr>
        <p:spPr>
          <a:xfrm>
            <a:off x="2167920" y="3192840"/>
            <a:ext cx="9216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AA (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아키텍트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)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4" name="Text 18"/>
          <p:cNvSpPr/>
          <p:nvPr/>
        </p:nvSpPr>
        <p:spPr>
          <a:xfrm>
            <a:off x="2167920" y="3342240"/>
            <a:ext cx="921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박준형 책임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5" name="Text 19"/>
          <p:cNvSpPr/>
          <p:nvPr/>
        </p:nvSpPr>
        <p:spPr>
          <a:xfrm>
            <a:off x="2330280" y="3545280"/>
            <a:ext cx="596520" cy="155160"/>
          </a:xfrm>
          <a:prstGeom prst="roundRect">
            <a:avLst>
              <a:gd name="adj" fmla="val 24521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6" name="Text 20"/>
          <p:cNvSpPr/>
          <p:nvPr/>
        </p:nvSpPr>
        <p:spPr>
          <a:xfrm>
            <a:off x="2384280" y="3570480"/>
            <a:ext cx="488520" cy="1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MSA </a:t>
            </a:r>
            <a:r>
              <a:rPr b="0" lang="ko-KR" sz="7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전문가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7" name="Text 21"/>
          <p:cNvSpPr/>
          <p:nvPr/>
        </p:nvSpPr>
        <p:spPr>
          <a:xfrm>
            <a:off x="3352680" y="3066120"/>
            <a:ext cx="1142640" cy="761040"/>
          </a:xfrm>
          <a:prstGeom prst="roundRect">
            <a:avLst>
              <a:gd name="adj" fmla="val 10006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8" name="Text 22"/>
          <p:cNvSpPr/>
          <p:nvPr/>
        </p:nvSpPr>
        <p:spPr>
          <a:xfrm>
            <a:off x="3463200" y="3192840"/>
            <a:ext cx="9216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개발 리더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9" name="Text 23"/>
          <p:cNvSpPr/>
          <p:nvPr/>
        </p:nvSpPr>
        <p:spPr>
          <a:xfrm>
            <a:off x="3463200" y="3342240"/>
            <a:ext cx="921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최수진 선임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0" name="Text 24"/>
          <p:cNvSpPr/>
          <p:nvPr/>
        </p:nvSpPr>
        <p:spPr>
          <a:xfrm>
            <a:off x="3725280" y="3545280"/>
            <a:ext cx="397440" cy="155160"/>
          </a:xfrm>
          <a:prstGeom prst="roundRect">
            <a:avLst>
              <a:gd name="adj" fmla="val 24521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1" name="Text 25"/>
          <p:cNvSpPr/>
          <p:nvPr/>
        </p:nvSpPr>
        <p:spPr>
          <a:xfrm>
            <a:off x="3789360" y="3570480"/>
            <a:ext cx="269280" cy="1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7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풀스택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2" name="Text 26"/>
          <p:cNvSpPr/>
          <p:nvPr/>
        </p:nvSpPr>
        <p:spPr>
          <a:xfrm>
            <a:off x="4647960" y="3066120"/>
            <a:ext cx="1142640" cy="761040"/>
          </a:xfrm>
          <a:prstGeom prst="roundRect">
            <a:avLst>
              <a:gd name="adj" fmla="val 10006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3" name="Text 27"/>
          <p:cNvSpPr/>
          <p:nvPr/>
        </p:nvSpPr>
        <p:spPr>
          <a:xfrm>
            <a:off x="4758480" y="3192840"/>
            <a:ext cx="9216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QA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담당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4" name="Text 28"/>
          <p:cNvSpPr/>
          <p:nvPr/>
        </p:nvSpPr>
        <p:spPr>
          <a:xfrm>
            <a:off x="4758480" y="3342240"/>
            <a:ext cx="921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한미영 대리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5" name="Text 29"/>
          <p:cNvSpPr/>
          <p:nvPr/>
        </p:nvSpPr>
        <p:spPr>
          <a:xfrm>
            <a:off x="5017320" y="3545280"/>
            <a:ext cx="404280" cy="155160"/>
          </a:xfrm>
          <a:prstGeom prst="roundRect">
            <a:avLst>
              <a:gd name="adj" fmla="val 24521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Text 30"/>
          <p:cNvSpPr/>
          <p:nvPr/>
        </p:nvSpPr>
        <p:spPr>
          <a:xfrm>
            <a:off x="5080680" y="3570480"/>
            <a:ext cx="277200" cy="1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ISTQB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7" name="Text 31"/>
          <p:cNvSpPr/>
          <p:nvPr/>
        </p:nvSpPr>
        <p:spPr>
          <a:xfrm>
            <a:off x="5943600" y="3066120"/>
            <a:ext cx="1142640" cy="761040"/>
          </a:xfrm>
          <a:prstGeom prst="roundRect">
            <a:avLst>
              <a:gd name="adj" fmla="val 10006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8" name="Text 32"/>
          <p:cNvSpPr/>
          <p:nvPr/>
        </p:nvSpPr>
        <p:spPr>
          <a:xfrm>
            <a:off x="6054120" y="3192840"/>
            <a:ext cx="9216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DBA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9" name="Text 33"/>
          <p:cNvSpPr/>
          <p:nvPr/>
        </p:nvSpPr>
        <p:spPr>
          <a:xfrm>
            <a:off x="6054120" y="3342240"/>
            <a:ext cx="921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오현우 대리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0" name="Text 34"/>
          <p:cNvSpPr/>
          <p:nvPr/>
        </p:nvSpPr>
        <p:spPr>
          <a:xfrm>
            <a:off x="6349320" y="3545280"/>
            <a:ext cx="330840" cy="155160"/>
          </a:xfrm>
          <a:prstGeom prst="roundRect">
            <a:avLst>
              <a:gd name="adj" fmla="val 24521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1" name="Text 35"/>
          <p:cNvSpPr/>
          <p:nvPr/>
        </p:nvSpPr>
        <p:spPr>
          <a:xfrm>
            <a:off x="6416640" y="3570480"/>
            <a:ext cx="196560" cy="1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OCP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2" name="Text 36"/>
          <p:cNvSpPr/>
          <p:nvPr/>
        </p:nvSpPr>
        <p:spPr>
          <a:xfrm>
            <a:off x="6103800" y="4686480"/>
            <a:ext cx="151920" cy="151920"/>
          </a:xfrm>
          <a:prstGeom prst="roundRect">
            <a:avLst>
              <a:gd name="adj" fmla="val 25000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3" name="Text 37"/>
          <p:cNvSpPr/>
          <p:nvPr/>
        </p:nvSpPr>
        <p:spPr>
          <a:xfrm>
            <a:off x="6332400" y="4691160"/>
            <a:ext cx="462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발주기관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4" name="Text 38"/>
          <p:cNvSpPr/>
          <p:nvPr/>
        </p:nvSpPr>
        <p:spPr>
          <a:xfrm>
            <a:off x="7032600" y="4686480"/>
            <a:ext cx="151920" cy="151920"/>
          </a:xfrm>
          <a:prstGeom prst="roundRect">
            <a:avLst>
              <a:gd name="adj" fmla="val 25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5" name="Text 39"/>
          <p:cNvSpPr/>
          <p:nvPr/>
        </p:nvSpPr>
        <p:spPr>
          <a:xfrm>
            <a:off x="7261200" y="4691160"/>
            <a:ext cx="606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수행사 관리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6" name="Text 40"/>
          <p:cNvSpPr/>
          <p:nvPr/>
        </p:nvSpPr>
        <p:spPr>
          <a:xfrm>
            <a:off x="8092080" y="4686480"/>
            <a:ext cx="151920" cy="151920"/>
          </a:xfrm>
          <a:prstGeom prst="roundRect">
            <a:avLst>
              <a:gd name="adj" fmla="val 25000"/>
            </a:avLst>
          </a:prstGeom>
          <a:solidFill>
            <a:srgbClr val="f4f6f6"/>
          </a:solidFill>
          <a:ln w="9525">
            <a:solidFill>
              <a:srgbClr val="aab7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7" name="Text 41"/>
          <p:cNvSpPr/>
          <p:nvPr/>
        </p:nvSpPr>
        <p:spPr>
          <a:xfrm>
            <a:off x="8320680" y="4691160"/>
            <a:ext cx="3466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수행팀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/>
          <p:nvPr/>
        </p:nvSpPr>
        <p:spPr>
          <a:xfrm>
            <a:off x="507960" y="304920"/>
            <a:ext cx="15004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투입 인력 현황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507960" y="66024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0" name="Text 2"/>
          <p:cNvSpPr/>
          <p:nvPr/>
        </p:nvSpPr>
        <p:spPr>
          <a:xfrm>
            <a:off x="507960" y="914400"/>
            <a:ext cx="8127720" cy="406080"/>
          </a:xfrm>
          <a:prstGeom prst="roundRect">
            <a:avLst>
              <a:gd name="adj" fmla="val 1875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615960" y="1041480"/>
            <a:ext cx="977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역할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1498680" y="1041480"/>
            <a:ext cx="1117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분야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3" name="Text 5"/>
          <p:cNvSpPr/>
          <p:nvPr/>
        </p:nvSpPr>
        <p:spPr>
          <a:xfrm>
            <a:off x="2527200" y="1041480"/>
            <a:ext cx="837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등급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4" name="Text 6"/>
          <p:cNvSpPr/>
          <p:nvPr/>
        </p:nvSpPr>
        <p:spPr>
          <a:xfrm>
            <a:off x="3276360" y="1041480"/>
            <a:ext cx="1117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성명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5" name="Text 7"/>
          <p:cNvSpPr/>
          <p:nvPr/>
        </p:nvSpPr>
        <p:spPr>
          <a:xfrm>
            <a:off x="4292280" y="1041480"/>
            <a:ext cx="1117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투입기간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6" name="Text 8"/>
          <p:cNvSpPr/>
          <p:nvPr/>
        </p:nvSpPr>
        <p:spPr>
          <a:xfrm>
            <a:off x="5202720" y="1041480"/>
            <a:ext cx="3436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주요 책임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7" name="Text 9"/>
          <p:cNvSpPr/>
          <p:nvPr/>
        </p:nvSpPr>
        <p:spPr>
          <a:xfrm>
            <a:off x="507960" y="1320840"/>
            <a:ext cx="8127720" cy="38052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507600" y="1696680"/>
            <a:ext cx="812808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9" name="Text 11"/>
          <p:cNvSpPr/>
          <p:nvPr/>
        </p:nvSpPr>
        <p:spPr>
          <a:xfrm>
            <a:off x="615960" y="143496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PM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0" name="Text 12"/>
          <p:cNvSpPr/>
          <p:nvPr/>
        </p:nvSpPr>
        <p:spPr>
          <a:xfrm>
            <a:off x="1498680" y="143496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관리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1" name="Text 13"/>
          <p:cNvSpPr/>
          <p:nvPr/>
        </p:nvSpPr>
        <p:spPr>
          <a:xfrm>
            <a:off x="2527200" y="1434960"/>
            <a:ext cx="837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특급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2" name="Text 14"/>
          <p:cNvSpPr/>
          <p:nvPr/>
        </p:nvSpPr>
        <p:spPr>
          <a:xfrm>
            <a:off x="3276360" y="143496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김철수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3" name="Text 15"/>
          <p:cNvSpPr/>
          <p:nvPr/>
        </p:nvSpPr>
        <p:spPr>
          <a:xfrm>
            <a:off x="4292280" y="143496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12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개월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4" name="Text 16"/>
          <p:cNvSpPr/>
          <p:nvPr/>
        </p:nvSpPr>
        <p:spPr>
          <a:xfrm>
            <a:off x="5358960" y="1434960"/>
            <a:ext cx="3436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프로젝트 수행 총괄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품질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/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위험 관리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5" name="Shape 17"/>
          <p:cNvSpPr/>
          <p:nvPr/>
        </p:nvSpPr>
        <p:spPr>
          <a:xfrm>
            <a:off x="507600" y="2077920"/>
            <a:ext cx="812808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6" name="Text 18"/>
          <p:cNvSpPr/>
          <p:nvPr/>
        </p:nvSpPr>
        <p:spPr>
          <a:xfrm>
            <a:off x="615960" y="181584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AA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7" name="Text 19"/>
          <p:cNvSpPr/>
          <p:nvPr/>
        </p:nvSpPr>
        <p:spPr>
          <a:xfrm>
            <a:off x="1498680" y="181584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설계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8" name="Text 20"/>
          <p:cNvSpPr/>
          <p:nvPr/>
        </p:nvSpPr>
        <p:spPr>
          <a:xfrm>
            <a:off x="2527200" y="1815840"/>
            <a:ext cx="837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특급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9" name="Text 21"/>
          <p:cNvSpPr/>
          <p:nvPr/>
        </p:nvSpPr>
        <p:spPr>
          <a:xfrm>
            <a:off x="3276360" y="181584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박준형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0" name="Text 22"/>
          <p:cNvSpPr/>
          <p:nvPr/>
        </p:nvSpPr>
        <p:spPr>
          <a:xfrm>
            <a:off x="4292280" y="181584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10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개월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1" name="Text 23"/>
          <p:cNvSpPr/>
          <p:nvPr/>
        </p:nvSpPr>
        <p:spPr>
          <a:xfrm>
            <a:off x="5358960" y="1815840"/>
            <a:ext cx="3436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시스템 설계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아키텍처 검토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2" name="Text 24"/>
          <p:cNvSpPr/>
          <p:nvPr/>
        </p:nvSpPr>
        <p:spPr>
          <a:xfrm>
            <a:off x="507960" y="2082600"/>
            <a:ext cx="8127720" cy="38052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3" name="Shape 25"/>
          <p:cNvSpPr/>
          <p:nvPr/>
        </p:nvSpPr>
        <p:spPr>
          <a:xfrm>
            <a:off x="507600" y="2458800"/>
            <a:ext cx="812808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4" name="Text 26"/>
          <p:cNvSpPr/>
          <p:nvPr/>
        </p:nvSpPr>
        <p:spPr>
          <a:xfrm>
            <a:off x="615960" y="219708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PL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5" name="Text 27"/>
          <p:cNvSpPr/>
          <p:nvPr/>
        </p:nvSpPr>
        <p:spPr>
          <a:xfrm>
            <a:off x="1498680" y="219708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개발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6" name="Text 28"/>
          <p:cNvSpPr/>
          <p:nvPr/>
        </p:nvSpPr>
        <p:spPr>
          <a:xfrm>
            <a:off x="2527200" y="2197080"/>
            <a:ext cx="837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고급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7" name="Text 29"/>
          <p:cNvSpPr/>
          <p:nvPr/>
        </p:nvSpPr>
        <p:spPr>
          <a:xfrm>
            <a:off x="3276360" y="219708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최수진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8" name="Text 30"/>
          <p:cNvSpPr/>
          <p:nvPr/>
        </p:nvSpPr>
        <p:spPr>
          <a:xfrm>
            <a:off x="4292280" y="219708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12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개월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9" name="Text 31"/>
          <p:cNvSpPr/>
          <p:nvPr/>
        </p:nvSpPr>
        <p:spPr>
          <a:xfrm>
            <a:off x="5358960" y="2197080"/>
            <a:ext cx="3436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개발 총괄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기술 이슈 해결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0" name="Shape 32"/>
          <p:cNvSpPr/>
          <p:nvPr/>
        </p:nvSpPr>
        <p:spPr>
          <a:xfrm>
            <a:off x="507600" y="2839680"/>
            <a:ext cx="812808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1" name="Text 33"/>
          <p:cNvSpPr/>
          <p:nvPr/>
        </p:nvSpPr>
        <p:spPr>
          <a:xfrm>
            <a:off x="615960" y="257796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Dev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2" name="Text 34"/>
          <p:cNvSpPr/>
          <p:nvPr/>
        </p:nvSpPr>
        <p:spPr>
          <a:xfrm>
            <a:off x="1498680" y="257796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Backend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3" name="Text 35"/>
          <p:cNvSpPr/>
          <p:nvPr/>
        </p:nvSpPr>
        <p:spPr>
          <a:xfrm>
            <a:off x="2527200" y="2577960"/>
            <a:ext cx="837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고급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4" name="Text 36"/>
          <p:cNvSpPr/>
          <p:nvPr/>
        </p:nvSpPr>
        <p:spPr>
          <a:xfrm>
            <a:off x="3276360" y="257796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임동현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5" name="Text 37"/>
          <p:cNvSpPr/>
          <p:nvPr/>
        </p:nvSpPr>
        <p:spPr>
          <a:xfrm>
            <a:off x="4292280" y="257796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10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개월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6" name="Text 38"/>
          <p:cNvSpPr/>
          <p:nvPr/>
        </p:nvSpPr>
        <p:spPr>
          <a:xfrm>
            <a:off x="5358960" y="2577960"/>
            <a:ext cx="3436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백엔드 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API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개발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7" name="Text 39"/>
          <p:cNvSpPr/>
          <p:nvPr/>
        </p:nvSpPr>
        <p:spPr>
          <a:xfrm>
            <a:off x="507960" y="2844720"/>
            <a:ext cx="8127720" cy="38052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8" name="Shape 40"/>
          <p:cNvSpPr/>
          <p:nvPr/>
        </p:nvSpPr>
        <p:spPr>
          <a:xfrm>
            <a:off x="507600" y="3220920"/>
            <a:ext cx="812808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9" name="Text 41"/>
          <p:cNvSpPr/>
          <p:nvPr/>
        </p:nvSpPr>
        <p:spPr>
          <a:xfrm>
            <a:off x="615960" y="295884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Dev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0" name="Text 42"/>
          <p:cNvSpPr/>
          <p:nvPr/>
        </p:nvSpPr>
        <p:spPr>
          <a:xfrm>
            <a:off x="1498680" y="295884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Frontend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1" name="Text 43"/>
          <p:cNvSpPr/>
          <p:nvPr/>
        </p:nvSpPr>
        <p:spPr>
          <a:xfrm>
            <a:off x="2527200" y="2958840"/>
            <a:ext cx="837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중급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2" name="Text 44"/>
          <p:cNvSpPr/>
          <p:nvPr/>
        </p:nvSpPr>
        <p:spPr>
          <a:xfrm>
            <a:off x="3276360" y="295884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강서연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3" name="Text 45"/>
          <p:cNvSpPr/>
          <p:nvPr/>
        </p:nvSpPr>
        <p:spPr>
          <a:xfrm>
            <a:off x="4292280" y="295884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10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개월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4" name="Text 46"/>
          <p:cNvSpPr/>
          <p:nvPr/>
        </p:nvSpPr>
        <p:spPr>
          <a:xfrm>
            <a:off x="5358960" y="2958840"/>
            <a:ext cx="3436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프론트엔드 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UI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개발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5" name="Shape 47"/>
          <p:cNvSpPr/>
          <p:nvPr/>
        </p:nvSpPr>
        <p:spPr>
          <a:xfrm>
            <a:off x="507600" y="3601800"/>
            <a:ext cx="812808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6" name="Text 48"/>
          <p:cNvSpPr/>
          <p:nvPr/>
        </p:nvSpPr>
        <p:spPr>
          <a:xfrm>
            <a:off x="615960" y="334008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DBA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7" name="Text 49"/>
          <p:cNvSpPr/>
          <p:nvPr/>
        </p:nvSpPr>
        <p:spPr>
          <a:xfrm>
            <a:off x="1498680" y="334008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DB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8" name="Text 50"/>
          <p:cNvSpPr/>
          <p:nvPr/>
        </p:nvSpPr>
        <p:spPr>
          <a:xfrm>
            <a:off x="2527200" y="3340080"/>
            <a:ext cx="837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고급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9" name="Text 51"/>
          <p:cNvSpPr/>
          <p:nvPr/>
        </p:nvSpPr>
        <p:spPr>
          <a:xfrm>
            <a:off x="3276360" y="334008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오현우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0" name="Text 52"/>
          <p:cNvSpPr/>
          <p:nvPr/>
        </p:nvSpPr>
        <p:spPr>
          <a:xfrm>
            <a:off x="4292280" y="334008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8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개월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1" name="Text 53"/>
          <p:cNvSpPr/>
          <p:nvPr/>
        </p:nvSpPr>
        <p:spPr>
          <a:xfrm>
            <a:off x="5358960" y="3340080"/>
            <a:ext cx="3436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DB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설계 및 튜닝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2" name="Text 54"/>
          <p:cNvSpPr/>
          <p:nvPr/>
        </p:nvSpPr>
        <p:spPr>
          <a:xfrm>
            <a:off x="507960" y="3606840"/>
            <a:ext cx="8127720" cy="38052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3" name="Shape 55"/>
          <p:cNvSpPr/>
          <p:nvPr/>
        </p:nvSpPr>
        <p:spPr>
          <a:xfrm>
            <a:off x="507600" y="3982680"/>
            <a:ext cx="812808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4" name="Text 56"/>
          <p:cNvSpPr/>
          <p:nvPr/>
        </p:nvSpPr>
        <p:spPr>
          <a:xfrm>
            <a:off x="615960" y="372096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QA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5" name="Text 57"/>
          <p:cNvSpPr/>
          <p:nvPr/>
        </p:nvSpPr>
        <p:spPr>
          <a:xfrm>
            <a:off x="1498680" y="372096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테스트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6" name="Text 58"/>
          <p:cNvSpPr/>
          <p:nvPr/>
        </p:nvSpPr>
        <p:spPr>
          <a:xfrm>
            <a:off x="2527200" y="3720960"/>
            <a:ext cx="837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중급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7" name="Text 59"/>
          <p:cNvSpPr/>
          <p:nvPr/>
        </p:nvSpPr>
        <p:spPr>
          <a:xfrm>
            <a:off x="3276360" y="372096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한미영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8" name="Text 60"/>
          <p:cNvSpPr/>
          <p:nvPr/>
        </p:nvSpPr>
        <p:spPr>
          <a:xfrm>
            <a:off x="4292280" y="372096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6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개월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9" name="Text 61"/>
          <p:cNvSpPr/>
          <p:nvPr/>
        </p:nvSpPr>
        <p:spPr>
          <a:xfrm>
            <a:off x="5358960" y="3720960"/>
            <a:ext cx="3436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품질 관리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테스트 총괄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0" name="Text 62"/>
          <p:cNvSpPr/>
          <p:nvPr/>
        </p:nvSpPr>
        <p:spPr>
          <a:xfrm>
            <a:off x="507960" y="4012920"/>
            <a:ext cx="8127720" cy="73620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1" name="Text 63"/>
          <p:cNvSpPr/>
          <p:nvPr/>
        </p:nvSpPr>
        <p:spPr>
          <a:xfrm>
            <a:off x="529920" y="4165560"/>
            <a:ext cx="2868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총 인원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2" name="Text 64"/>
          <p:cNvSpPr/>
          <p:nvPr/>
        </p:nvSpPr>
        <p:spPr>
          <a:xfrm>
            <a:off x="529920" y="4358880"/>
            <a:ext cx="28681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8</a:t>
            </a:r>
            <a:r>
              <a:rPr b="1" lang="ko-KR" sz="16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명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3" name="Text 65"/>
          <p:cNvSpPr/>
          <p:nvPr/>
        </p:nvSpPr>
        <p:spPr>
          <a:xfrm>
            <a:off x="3137760" y="4165560"/>
            <a:ext cx="2868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총 투입 공수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4" name="Text 66"/>
          <p:cNvSpPr/>
          <p:nvPr/>
        </p:nvSpPr>
        <p:spPr>
          <a:xfrm>
            <a:off x="3137760" y="4358880"/>
            <a:ext cx="28681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78 MM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5" name="Text 67"/>
          <p:cNvSpPr/>
          <p:nvPr/>
        </p:nvSpPr>
        <p:spPr>
          <a:xfrm>
            <a:off x="5745600" y="4165560"/>
            <a:ext cx="28681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프로젝트 기간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6" name="Text 68"/>
          <p:cNvSpPr/>
          <p:nvPr/>
        </p:nvSpPr>
        <p:spPr>
          <a:xfrm>
            <a:off x="5745600" y="4358880"/>
            <a:ext cx="28681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12</a:t>
            </a:r>
            <a:r>
              <a:rPr b="1" lang="ko-KR" sz="16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개월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0"/>
          <p:cNvSpPr/>
          <p:nvPr/>
        </p:nvSpPr>
        <p:spPr>
          <a:xfrm>
            <a:off x="507960" y="304920"/>
            <a:ext cx="1212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마스터 일정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8" name="Text 1"/>
          <p:cNvSpPr/>
          <p:nvPr/>
        </p:nvSpPr>
        <p:spPr>
          <a:xfrm>
            <a:off x="507960" y="66024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9" name="Text 2"/>
          <p:cNvSpPr/>
          <p:nvPr/>
        </p:nvSpPr>
        <p:spPr>
          <a:xfrm>
            <a:off x="52992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1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0" name="Text 3"/>
          <p:cNvSpPr/>
          <p:nvPr/>
        </p:nvSpPr>
        <p:spPr>
          <a:xfrm>
            <a:off x="120708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2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188460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3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2" name="Text 5"/>
          <p:cNvSpPr/>
          <p:nvPr/>
        </p:nvSpPr>
        <p:spPr>
          <a:xfrm>
            <a:off x="256176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4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3" name="Text 6"/>
          <p:cNvSpPr/>
          <p:nvPr/>
        </p:nvSpPr>
        <p:spPr>
          <a:xfrm>
            <a:off x="323928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5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4" name="Text 7"/>
          <p:cNvSpPr/>
          <p:nvPr/>
        </p:nvSpPr>
        <p:spPr>
          <a:xfrm>
            <a:off x="391644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6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5" name="Text 8"/>
          <p:cNvSpPr/>
          <p:nvPr/>
        </p:nvSpPr>
        <p:spPr>
          <a:xfrm>
            <a:off x="459396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7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6" name="Text 9"/>
          <p:cNvSpPr/>
          <p:nvPr/>
        </p:nvSpPr>
        <p:spPr>
          <a:xfrm>
            <a:off x="527112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8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7" name="Text 10"/>
          <p:cNvSpPr/>
          <p:nvPr/>
        </p:nvSpPr>
        <p:spPr>
          <a:xfrm>
            <a:off x="594828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9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8" name="Text 11"/>
          <p:cNvSpPr/>
          <p:nvPr/>
        </p:nvSpPr>
        <p:spPr>
          <a:xfrm>
            <a:off x="662580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10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9" name="Text 12"/>
          <p:cNvSpPr/>
          <p:nvPr/>
        </p:nvSpPr>
        <p:spPr>
          <a:xfrm>
            <a:off x="730296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11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0" name="Text 13"/>
          <p:cNvSpPr/>
          <p:nvPr/>
        </p:nvSpPr>
        <p:spPr>
          <a:xfrm>
            <a:off x="7980480" y="1015920"/>
            <a:ext cx="632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12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1" name="Text 14"/>
          <p:cNvSpPr/>
          <p:nvPr/>
        </p:nvSpPr>
        <p:spPr>
          <a:xfrm>
            <a:off x="507960" y="1469880"/>
            <a:ext cx="8127720" cy="24840"/>
          </a:xfrm>
          <a:prstGeom prst="rect">
            <a:avLst/>
          </a:prstGeom>
          <a:solidFill>
            <a:srgbClr val="e8e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2" name="Text 15"/>
          <p:cNvSpPr/>
          <p:nvPr/>
        </p:nvSpPr>
        <p:spPr>
          <a:xfrm>
            <a:off x="507960" y="1596600"/>
            <a:ext cx="674280" cy="507600"/>
          </a:xfrm>
          <a:prstGeom prst="roundRect">
            <a:avLst>
              <a:gd name="adj" fmla="val 15001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3" name="Text 16"/>
          <p:cNvSpPr/>
          <p:nvPr/>
        </p:nvSpPr>
        <p:spPr>
          <a:xfrm>
            <a:off x="635040" y="1774440"/>
            <a:ext cx="276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착수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4" name="Text 17"/>
          <p:cNvSpPr/>
          <p:nvPr/>
        </p:nvSpPr>
        <p:spPr>
          <a:xfrm>
            <a:off x="887040" y="1779120"/>
            <a:ext cx="1850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4W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5" name="Text 18"/>
          <p:cNvSpPr/>
          <p:nvPr/>
        </p:nvSpPr>
        <p:spPr>
          <a:xfrm>
            <a:off x="1198800" y="1596600"/>
            <a:ext cx="1348920" cy="507600"/>
          </a:xfrm>
          <a:prstGeom prst="roundRect">
            <a:avLst>
              <a:gd name="adj" fmla="val 15001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6" name="Text 19"/>
          <p:cNvSpPr/>
          <p:nvPr/>
        </p:nvSpPr>
        <p:spPr>
          <a:xfrm>
            <a:off x="1325880" y="1712520"/>
            <a:ext cx="1018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분석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7" name="Text 20"/>
          <p:cNvSpPr/>
          <p:nvPr/>
        </p:nvSpPr>
        <p:spPr>
          <a:xfrm>
            <a:off x="1325880" y="1864800"/>
            <a:ext cx="10188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</a:rPr>
              <a:t>요구사항 확정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8" name="Text 21"/>
          <p:cNvSpPr/>
          <p:nvPr/>
        </p:nvSpPr>
        <p:spPr>
          <a:xfrm>
            <a:off x="2252520" y="1779120"/>
            <a:ext cx="1850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8W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9" name="Text 22"/>
          <p:cNvSpPr/>
          <p:nvPr/>
        </p:nvSpPr>
        <p:spPr>
          <a:xfrm>
            <a:off x="2564280" y="2232000"/>
            <a:ext cx="1348920" cy="507600"/>
          </a:xfrm>
          <a:prstGeom prst="roundRect">
            <a:avLst>
              <a:gd name="adj" fmla="val 15001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0" name="Text 23"/>
          <p:cNvSpPr/>
          <p:nvPr/>
        </p:nvSpPr>
        <p:spPr>
          <a:xfrm>
            <a:off x="2691360" y="2347560"/>
            <a:ext cx="1018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설계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1" name="Text 24"/>
          <p:cNvSpPr/>
          <p:nvPr/>
        </p:nvSpPr>
        <p:spPr>
          <a:xfrm>
            <a:off x="2691360" y="2499840"/>
            <a:ext cx="10188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</a:rPr>
              <a:t>아키텍처</a:t>
            </a:r>
            <a:r>
              <a:rPr b="0" lang="en-US" sz="800" spc="-1" strike="noStrike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</a:rPr>
              <a:t>/</a:t>
            </a:r>
            <a:r>
              <a:rPr b="0" lang="ko-KR" sz="800" spc="-1" strike="noStrike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</a:rPr>
              <a:t>화면</a:t>
            </a:r>
            <a:r>
              <a:rPr b="0" lang="en-US" sz="800" spc="-1" strike="noStrike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</a:rPr>
              <a:t>/DB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2" name="Text 25"/>
          <p:cNvSpPr/>
          <p:nvPr/>
        </p:nvSpPr>
        <p:spPr>
          <a:xfrm>
            <a:off x="3618000" y="2414160"/>
            <a:ext cx="1850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8W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3" name="Text 26"/>
          <p:cNvSpPr/>
          <p:nvPr/>
        </p:nvSpPr>
        <p:spPr>
          <a:xfrm>
            <a:off x="3921480" y="2232000"/>
            <a:ext cx="2706120" cy="507600"/>
          </a:xfrm>
          <a:prstGeom prst="roundRect">
            <a:avLst>
              <a:gd name="adj" fmla="val 15001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4" name="Text 27"/>
          <p:cNvSpPr/>
          <p:nvPr/>
        </p:nvSpPr>
        <p:spPr>
          <a:xfrm>
            <a:off x="4048560" y="2347560"/>
            <a:ext cx="24372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개발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5" name="Text 28"/>
          <p:cNvSpPr/>
          <p:nvPr/>
        </p:nvSpPr>
        <p:spPr>
          <a:xfrm>
            <a:off x="4048560" y="2499840"/>
            <a:ext cx="24372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</a:rPr>
              <a:t>코딩</a:t>
            </a:r>
            <a:r>
              <a:rPr b="0" lang="en-US" sz="800" spc="-1" strike="noStrike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</a:rPr>
              <a:t>, </a:t>
            </a:r>
            <a:r>
              <a:rPr b="0" lang="ko-KR" sz="800" spc="-1" strike="noStrike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</a:rPr>
              <a:t>단위테스트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6" name="Text 29"/>
          <p:cNvSpPr/>
          <p:nvPr/>
        </p:nvSpPr>
        <p:spPr>
          <a:xfrm>
            <a:off x="6264720" y="2414160"/>
            <a:ext cx="2599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16W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7" name="Text 30"/>
          <p:cNvSpPr/>
          <p:nvPr/>
        </p:nvSpPr>
        <p:spPr>
          <a:xfrm>
            <a:off x="6603840" y="2867040"/>
            <a:ext cx="1015560" cy="507600"/>
          </a:xfrm>
          <a:prstGeom prst="roundRect">
            <a:avLst>
              <a:gd name="adj" fmla="val 15001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8" name="Text 31"/>
          <p:cNvSpPr/>
          <p:nvPr/>
        </p:nvSpPr>
        <p:spPr>
          <a:xfrm>
            <a:off x="6730920" y="3044520"/>
            <a:ext cx="6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테스트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9" name="Text 32"/>
          <p:cNvSpPr/>
          <p:nvPr/>
        </p:nvSpPr>
        <p:spPr>
          <a:xfrm>
            <a:off x="7324200" y="3049200"/>
            <a:ext cx="1850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6W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0" name="Text 33"/>
          <p:cNvSpPr/>
          <p:nvPr/>
        </p:nvSpPr>
        <p:spPr>
          <a:xfrm>
            <a:off x="7619760" y="2867040"/>
            <a:ext cx="1015560" cy="507600"/>
          </a:xfrm>
          <a:prstGeom prst="roundRect">
            <a:avLst>
              <a:gd name="adj" fmla="val 15001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1" name="Text 34"/>
          <p:cNvSpPr/>
          <p:nvPr/>
        </p:nvSpPr>
        <p:spPr>
          <a:xfrm>
            <a:off x="7746840" y="3044520"/>
            <a:ext cx="652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이행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2" name="Text 35"/>
          <p:cNvSpPr/>
          <p:nvPr/>
        </p:nvSpPr>
        <p:spPr>
          <a:xfrm>
            <a:off x="8340120" y="3049200"/>
            <a:ext cx="1850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>
                    <a:alpha val="90000"/>
                  </a:srgbClr>
                </a:solidFill>
                <a:latin typeface="Malgun Gothic"/>
                <a:ea typeface="Malgun Gothic"/>
              </a:rPr>
              <a:t>6W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3" name="Text 36"/>
          <p:cNvSpPr/>
          <p:nvPr/>
        </p:nvSpPr>
        <p:spPr>
          <a:xfrm>
            <a:off x="507960" y="4280040"/>
            <a:ext cx="1227240" cy="558360"/>
          </a:xfrm>
          <a:prstGeom prst="roundRect">
            <a:avLst>
              <a:gd name="adj" fmla="val 13639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4" name="Text 37"/>
          <p:cNvSpPr/>
          <p:nvPr/>
        </p:nvSpPr>
        <p:spPr>
          <a:xfrm>
            <a:off x="635040" y="4407120"/>
            <a:ext cx="101160" cy="304560"/>
          </a:xfrm>
          <a:prstGeom prst="roundRect">
            <a:avLst>
              <a:gd name="adj" fmla="val 25024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5" name="Text 38"/>
          <p:cNvSpPr/>
          <p:nvPr/>
        </p:nvSpPr>
        <p:spPr>
          <a:xfrm>
            <a:off x="838080" y="4421160"/>
            <a:ext cx="847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착수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6" name="Text 39"/>
          <p:cNvSpPr/>
          <p:nvPr/>
        </p:nvSpPr>
        <p:spPr>
          <a:xfrm>
            <a:off x="838080" y="4573800"/>
            <a:ext cx="84744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1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 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(4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주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)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7" name="Text 40"/>
          <p:cNvSpPr/>
          <p:nvPr/>
        </p:nvSpPr>
        <p:spPr>
          <a:xfrm>
            <a:off x="1888200" y="4280040"/>
            <a:ext cx="1227240" cy="558360"/>
          </a:xfrm>
          <a:prstGeom prst="roundRect">
            <a:avLst>
              <a:gd name="adj" fmla="val 13639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8" name="Text 41"/>
          <p:cNvSpPr/>
          <p:nvPr/>
        </p:nvSpPr>
        <p:spPr>
          <a:xfrm>
            <a:off x="2014920" y="4407120"/>
            <a:ext cx="101160" cy="304560"/>
          </a:xfrm>
          <a:prstGeom prst="roundRect">
            <a:avLst>
              <a:gd name="adj" fmla="val 25024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9" name="Text 42"/>
          <p:cNvSpPr/>
          <p:nvPr/>
        </p:nvSpPr>
        <p:spPr>
          <a:xfrm>
            <a:off x="2217960" y="4421160"/>
            <a:ext cx="847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분석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0" name="Text 43"/>
          <p:cNvSpPr/>
          <p:nvPr/>
        </p:nvSpPr>
        <p:spPr>
          <a:xfrm>
            <a:off x="2217960" y="4573800"/>
            <a:ext cx="84744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2-3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 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(8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주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)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1" name="Text 44"/>
          <p:cNvSpPr/>
          <p:nvPr/>
        </p:nvSpPr>
        <p:spPr>
          <a:xfrm>
            <a:off x="3268080" y="4280040"/>
            <a:ext cx="1227240" cy="558360"/>
          </a:xfrm>
          <a:prstGeom prst="roundRect">
            <a:avLst>
              <a:gd name="adj" fmla="val 13639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2" name="Text 45"/>
          <p:cNvSpPr/>
          <p:nvPr/>
        </p:nvSpPr>
        <p:spPr>
          <a:xfrm>
            <a:off x="3395160" y="4407120"/>
            <a:ext cx="101160" cy="304560"/>
          </a:xfrm>
          <a:prstGeom prst="roundRect">
            <a:avLst>
              <a:gd name="adj" fmla="val 25024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3" name="Text 46"/>
          <p:cNvSpPr/>
          <p:nvPr/>
        </p:nvSpPr>
        <p:spPr>
          <a:xfrm>
            <a:off x="3598200" y="4421160"/>
            <a:ext cx="847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설계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4" name="Text 47"/>
          <p:cNvSpPr/>
          <p:nvPr/>
        </p:nvSpPr>
        <p:spPr>
          <a:xfrm>
            <a:off x="3598200" y="4573800"/>
            <a:ext cx="84744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4-5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 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(8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주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)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5" name="Text 48"/>
          <p:cNvSpPr/>
          <p:nvPr/>
        </p:nvSpPr>
        <p:spPr>
          <a:xfrm>
            <a:off x="4648320" y="4280040"/>
            <a:ext cx="1227240" cy="558360"/>
          </a:xfrm>
          <a:prstGeom prst="roundRect">
            <a:avLst>
              <a:gd name="adj" fmla="val 13639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6" name="Text 49"/>
          <p:cNvSpPr/>
          <p:nvPr/>
        </p:nvSpPr>
        <p:spPr>
          <a:xfrm>
            <a:off x="4775040" y="4407120"/>
            <a:ext cx="101160" cy="304560"/>
          </a:xfrm>
          <a:prstGeom prst="roundRect">
            <a:avLst>
              <a:gd name="adj" fmla="val 25024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7" name="Text 50"/>
          <p:cNvSpPr/>
          <p:nvPr/>
        </p:nvSpPr>
        <p:spPr>
          <a:xfrm>
            <a:off x="4978080" y="4421160"/>
            <a:ext cx="847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개발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8" name="Text 51"/>
          <p:cNvSpPr/>
          <p:nvPr/>
        </p:nvSpPr>
        <p:spPr>
          <a:xfrm>
            <a:off x="4978080" y="4573800"/>
            <a:ext cx="84744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6-9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 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(16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주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)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9" name="Text 52"/>
          <p:cNvSpPr/>
          <p:nvPr/>
        </p:nvSpPr>
        <p:spPr>
          <a:xfrm>
            <a:off x="6028200" y="4280040"/>
            <a:ext cx="1227240" cy="558360"/>
          </a:xfrm>
          <a:prstGeom prst="roundRect">
            <a:avLst>
              <a:gd name="adj" fmla="val 13639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0" name="Text 53"/>
          <p:cNvSpPr/>
          <p:nvPr/>
        </p:nvSpPr>
        <p:spPr>
          <a:xfrm>
            <a:off x="6155280" y="4407120"/>
            <a:ext cx="101160" cy="304560"/>
          </a:xfrm>
          <a:prstGeom prst="roundRect">
            <a:avLst>
              <a:gd name="adj" fmla="val 25024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1" name="Text 54"/>
          <p:cNvSpPr/>
          <p:nvPr/>
        </p:nvSpPr>
        <p:spPr>
          <a:xfrm>
            <a:off x="6358320" y="4421160"/>
            <a:ext cx="847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테스트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2" name="Text 55"/>
          <p:cNvSpPr/>
          <p:nvPr/>
        </p:nvSpPr>
        <p:spPr>
          <a:xfrm>
            <a:off x="6358320" y="4573800"/>
            <a:ext cx="84744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10-11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 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(6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주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)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3" name="Text 56"/>
          <p:cNvSpPr/>
          <p:nvPr/>
        </p:nvSpPr>
        <p:spPr>
          <a:xfrm>
            <a:off x="7408440" y="4280040"/>
            <a:ext cx="1227240" cy="558360"/>
          </a:xfrm>
          <a:prstGeom prst="roundRect">
            <a:avLst>
              <a:gd name="adj" fmla="val 13639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4" name="Text 57"/>
          <p:cNvSpPr/>
          <p:nvPr/>
        </p:nvSpPr>
        <p:spPr>
          <a:xfrm>
            <a:off x="7535160" y="4407120"/>
            <a:ext cx="101160" cy="304560"/>
          </a:xfrm>
          <a:prstGeom prst="roundRect">
            <a:avLst>
              <a:gd name="adj" fmla="val 25024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5" name="Text 58"/>
          <p:cNvSpPr/>
          <p:nvPr/>
        </p:nvSpPr>
        <p:spPr>
          <a:xfrm>
            <a:off x="7738200" y="4421160"/>
            <a:ext cx="847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이행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6" name="Text 59"/>
          <p:cNvSpPr/>
          <p:nvPr/>
        </p:nvSpPr>
        <p:spPr>
          <a:xfrm>
            <a:off x="7738200" y="4573800"/>
            <a:ext cx="84744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11-12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월 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(6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주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)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 0"/>
          <p:cNvSpPr/>
          <p:nvPr/>
        </p:nvSpPr>
        <p:spPr>
          <a:xfrm>
            <a:off x="507960" y="304920"/>
            <a:ext cx="144396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주요 마일스톤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8" name="Text 1"/>
          <p:cNvSpPr/>
          <p:nvPr/>
        </p:nvSpPr>
        <p:spPr>
          <a:xfrm>
            <a:off x="507960" y="66024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9" name="Text 2"/>
          <p:cNvSpPr/>
          <p:nvPr/>
        </p:nvSpPr>
        <p:spPr>
          <a:xfrm>
            <a:off x="1132200" y="1218960"/>
            <a:ext cx="1248480" cy="37800"/>
          </a:xfrm>
          <a:prstGeom prst="rect">
            <a:avLst/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0" name="Text 3"/>
          <p:cNvSpPr/>
          <p:nvPr/>
        </p:nvSpPr>
        <p:spPr>
          <a:xfrm>
            <a:off x="929160" y="1015920"/>
            <a:ext cx="406080" cy="406080"/>
          </a:xfrm>
          <a:prstGeom prst="roundRect">
            <a:avLst>
              <a:gd name="adj" fmla="val 22505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1" name="Text 4"/>
          <p:cNvSpPr/>
          <p:nvPr/>
        </p:nvSpPr>
        <p:spPr>
          <a:xfrm>
            <a:off x="1033920" y="1137960"/>
            <a:ext cx="2160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M1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2" name="Text 5"/>
          <p:cNvSpPr/>
          <p:nvPr/>
        </p:nvSpPr>
        <p:spPr>
          <a:xfrm>
            <a:off x="507960" y="1549080"/>
            <a:ext cx="1248480" cy="1020600"/>
          </a:xfrm>
          <a:prstGeom prst="roundRect">
            <a:avLst>
              <a:gd name="adj" fmla="val 746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3" name="Text 6"/>
          <p:cNvSpPr/>
          <p:nvPr/>
        </p:nvSpPr>
        <p:spPr>
          <a:xfrm>
            <a:off x="613080" y="1701720"/>
            <a:ext cx="1037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1/10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4" name="Text 7"/>
          <p:cNvSpPr/>
          <p:nvPr/>
        </p:nvSpPr>
        <p:spPr>
          <a:xfrm>
            <a:off x="613080" y="1895040"/>
            <a:ext cx="10378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착수보고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5" name="Text 8"/>
          <p:cNvSpPr/>
          <p:nvPr/>
        </p:nvSpPr>
        <p:spPr>
          <a:xfrm>
            <a:off x="613080" y="21333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수행계획서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6" name="Text 9"/>
          <p:cNvSpPr/>
          <p:nvPr/>
        </p:nvSpPr>
        <p:spPr>
          <a:xfrm>
            <a:off x="613080" y="22755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킥오프 미팅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7" name="Text 10"/>
          <p:cNvSpPr/>
          <p:nvPr/>
        </p:nvSpPr>
        <p:spPr>
          <a:xfrm>
            <a:off x="2508120" y="1218960"/>
            <a:ext cx="1248480" cy="37800"/>
          </a:xfrm>
          <a:prstGeom prst="rect">
            <a:avLst/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8" name="Text 11"/>
          <p:cNvSpPr/>
          <p:nvPr/>
        </p:nvSpPr>
        <p:spPr>
          <a:xfrm>
            <a:off x="2305080" y="1015920"/>
            <a:ext cx="406080" cy="406080"/>
          </a:xfrm>
          <a:prstGeom prst="roundRect">
            <a:avLst>
              <a:gd name="adj" fmla="val 225055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9" name="Text 12"/>
          <p:cNvSpPr/>
          <p:nvPr/>
        </p:nvSpPr>
        <p:spPr>
          <a:xfrm>
            <a:off x="2409840" y="1137960"/>
            <a:ext cx="2160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M2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0" name="Text 13"/>
          <p:cNvSpPr/>
          <p:nvPr/>
        </p:nvSpPr>
        <p:spPr>
          <a:xfrm>
            <a:off x="1883880" y="1549080"/>
            <a:ext cx="1248480" cy="1020600"/>
          </a:xfrm>
          <a:prstGeom prst="roundRect">
            <a:avLst>
              <a:gd name="adj" fmla="val 746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1" name="Text 14"/>
          <p:cNvSpPr/>
          <p:nvPr/>
        </p:nvSpPr>
        <p:spPr>
          <a:xfrm>
            <a:off x="1989000" y="1701720"/>
            <a:ext cx="1037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3/31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2" name="Text 15"/>
          <p:cNvSpPr/>
          <p:nvPr/>
        </p:nvSpPr>
        <p:spPr>
          <a:xfrm>
            <a:off x="1989000" y="1895040"/>
            <a:ext cx="10378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요구사항 확정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3" name="Text 16"/>
          <p:cNvSpPr/>
          <p:nvPr/>
        </p:nvSpPr>
        <p:spPr>
          <a:xfrm>
            <a:off x="1989000" y="21333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요구사항정의서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4" name="Text 17"/>
          <p:cNvSpPr/>
          <p:nvPr/>
        </p:nvSpPr>
        <p:spPr>
          <a:xfrm>
            <a:off x="1989000" y="22755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현행분석서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5" name="Text 18"/>
          <p:cNvSpPr/>
          <p:nvPr/>
        </p:nvSpPr>
        <p:spPr>
          <a:xfrm>
            <a:off x="3883680" y="1218960"/>
            <a:ext cx="1248480" cy="37800"/>
          </a:xfrm>
          <a:prstGeom prst="rect">
            <a:avLst/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6" name="Text 19"/>
          <p:cNvSpPr/>
          <p:nvPr/>
        </p:nvSpPr>
        <p:spPr>
          <a:xfrm>
            <a:off x="3680640" y="1015920"/>
            <a:ext cx="406080" cy="406080"/>
          </a:xfrm>
          <a:prstGeom prst="roundRect">
            <a:avLst>
              <a:gd name="adj" fmla="val 22505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7" name="Text 20"/>
          <p:cNvSpPr/>
          <p:nvPr/>
        </p:nvSpPr>
        <p:spPr>
          <a:xfrm>
            <a:off x="3785400" y="1137960"/>
            <a:ext cx="2160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M3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8" name="Text 21"/>
          <p:cNvSpPr/>
          <p:nvPr/>
        </p:nvSpPr>
        <p:spPr>
          <a:xfrm>
            <a:off x="3259440" y="1549080"/>
            <a:ext cx="1248480" cy="1020600"/>
          </a:xfrm>
          <a:prstGeom prst="roundRect">
            <a:avLst>
              <a:gd name="adj" fmla="val 746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9" name="Text 22"/>
          <p:cNvSpPr/>
          <p:nvPr/>
        </p:nvSpPr>
        <p:spPr>
          <a:xfrm>
            <a:off x="3364560" y="1701720"/>
            <a:ext cx="1037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5/31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0" name="Text 23"/>
          <p:cNvSpPr/>
          <p:nvPr/>
        </p:nvSpPr>
        <p:spPr>
          <a:xfrm>
            <a:off x="3364560" y="1895040"/>
            <a:ext cx="10378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설계 완료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1" name="Text 24"/>
          <p:cNvSpPr/>
          <p:nvPr/>
        </p:nvSpPr>
        <p:spPr>
          <a:xfrm>
            <a:off x="3364560" y="21333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아키텍처설계서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2" name="Text 25"/>
          <p:cNvSpPr/>
          <p:nvPr/>
        </p:nvSpPr>
        <p:spPr>
          <a:xfrm>
            <a:off x="3364560" y="22755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화면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/DB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설계서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3" name="Text 26"/>
          <p:cNvSpPr/>
          <p:nvPr/>
        </p:nvSpPr>
        <p:spPr>
          <a:xfrm>
            <a:off x="5259600" y="1218960"/>
            <a:ext cx="1248480" cy="37800"/>
          </a:xfrm>
          <a:prstGeom prst="rect">
            <a:avLst/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4" name="Text 27"/>
          <p:cNvSpPr/>
          <p:nvPr/>
        </p:nvSpPr>
        <p:spPr>
          <a:xfrm>
            <a:off x="5056560" y="1015920"/>
            <a:ext cx="406080" cy="406080"/>
          </a:xfrm>
          <a:prstGeom prst="roundRect">
            <a:avLst>
              <a:gd name="adj" fmla="val 225055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5" name="Text 28"/>
          <p:cNvSpPr/>
          <p:nvPr/>
        </p:nvSpPr>
        <p:spPr>
          <a:xfrm>
            <a:off x="5161320" y="1137960"/>
            <a:ext cx="2160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M4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6" name="Text 29"/>
          <p:cNvSpPr/>
          <p:nvPr/>
        </p:nvSpPr>
        <p:spPr>
          <a:xfrm>
            <a:off x="4635360" y="1549080"/>
            <a:ext cx="1248480" cy="1020600"/>
          </a:xfrm>
          <a:prstGeom prst="roundRect">
            <a:avLst>
              <a:gd name="adj" fmla="val 746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7" name="Text 30"/>
          <p:cNvSpPr/>
          <p:nvPr/>
        </p:nvSpPr>
        <p:spPr>
          <a:xfrm>
            <a:off x="4740480" y="1701720"/>
            <a:ext cx="1037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9/30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8" name="Text 31"/>
          <p:cNvSpPr/>
          <p:nvPr/>
        </p:nvSpPr>
        <p:spPr>
          <a:xfrm>
            <a:off x="4740480" y="1895040"/>
            <a:ext cx="10378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개발 완료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9" name="Text 32"/>
          <p:cNvSpPr/>
          <p:nvPr/>
        </p:nvSpPr>
        <p:spPr>
          <a:xfrm>
            <a:off x="4740480" y="21333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소스코드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0" name="Text 33"/>
          <p:cNvSpPr/>
          <p:nvPr/>
        </p:nvSpPr>
        <p:spPr>
          <a:xfrm>
            <a:off x="4740480" y="22755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단위테스트결과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1" name="Text 34"/>
          <p:cNvSpPr/>
          <p:nvPr/>
        </p:nvSpPr>
        <p:spPr>
          <a:xfrm>
            <a:off x="6635520" y="1218960"/>
            <a:ext cx="1248480" cy="37800"/>
          </a:xfrm>
          <a:prstGeom prst="rect">
            <a:avLst/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2" name="Text 35"/>
          <p:cNvSpPr/>
          <p:nvPr/>
        </p:nvSpPr>
        <p:spPr>
          <a:xfrm>
            <a:off x="6432120" y="1015920"/>
            <a:ext cx="406080" cy="406080"/>
          </a:xfrm>
          <a:prstGeom prst="roundRect">
            <a:avLst>
              <a:gd name="adj" fmla="val 22505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3" name="Text 36"/>
          <p:cNvSpPr/>
          <p:nvPr/>
        </p:nvSpPr>
        <p:spPr>
          <a:xfrm>
            <a:off x="6536880" y="1137960"/>
            <a:ext cx="2160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M5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4" name="Text 37"/>
          <p:cNvSpPr/>
          <p:nvPr/>
        </p:nvSpPr>
        <p:spPr>
          <a:xfrm>
            <a:off x="6010920" y="1549080"/>
            <a:ext cx="1248480" cy="1020600"/>
          </a:xfrm>
          <a:prstGeom prst="roundRect">
            <a:avLst>
              <a:gd name="adj" fmla="val 746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5" name="Text 38"/>
          <p:cNvSpPr/>
          <p:nvPr/>
        </p:nvSpPr>
        <p:spPr>
          <a:xfrm>
            <a:off x="6116040" y="1701720"/>
            <a:ext cx="1037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11/15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6" name="Text 39"/>
          <p:cNvSpPr/>
          <p:nvPr/>
        </p:nvSpPr>
        <p:spPr>
          <a:xfrm>
            <a:off x="6116040" y="1895040"/>
            <a:ext cx="10378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테스트 완료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7" name="Text 40"/>
          <p:cNvSpPr/>
          <p:nvPr/>
        </p:nvSpPr>
        <p:spPr>
          <a:xfrm>
            <a:off x="6116040" y="21333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통합테스트결과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8" name="Text 41"/>
          <p:cNvSpPr/>
          <p:nvPr/>
        </p:nvSpPr>
        <p:spPr>
          <a:xfrm>
            <a:off x="6116040" y="22755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인수테스트결과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9" name="Text 42"/>
          <p:cNvSpPr/>
          <p:nvPr/>
        </p:nvSpPr>
        <p:spPr>
          <a:xfrm>
            <a:off x="7808040" y="1015920"/>
            <a:ext cx="406080" cy="406080"/>
          </a:xfrm>
          <a:prstGeom prst="roundRect">
            <a:avLst>
              <a:gd name="adj" fmla="val 22505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0" name="Text 43"/>
          <p:cNvSpPr/>
          <p:nvPr/>
        </p:nvSpPr>
        <p:spPr>
          <a:xfrm>
            <a:off x="7912800" y="1137960"/>
            <a:ext cx="2160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M6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1" name="Text 44"/>
          <p:cNvSpPr/>
          <p:nvPr/>
        </p:nvSpPr>
        <p:spPr>
          <a:xfrm>
            <a:off x="7386840" y="1549080"/>
            <a:ext cx="1248480" cy="1020600"/>
          </a:xfrm>
          <a:prstGeom prst="roundRect">
            <a:avLst>
              <a:gd name="adj" fmla="val 746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2" name="Text 45"/>
          <p:cNvSpPr/>
          <p:nvPr/>
        </p:nvSpPr>
        <p:spPr>
          <a:xfrm>
            <a:off x="7491960" y="1701720"/>
            <a:ext cx="10378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12/1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3" name="Text 46"/>
          <p:cNvSpPr/>
          <p:nvPr/>
        </p:nvSpPr>
        <p:spPr>
          <a:xfrm>
            <a:off x="7491960" y="1895040"/>
            <a:ext cx="10378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시스템 오픈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4" name="Text 47"/>
          <p:cNvSpPr/>
          <p:nvPr/>
        </p:nvSpPr>
        <p:spPr>
          <a:xfrm>
            <a:off x="7491960" y="21333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오픈보고서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5" name="Text 48"/>
          <p:cNvSpPr/>
          <p:nvPr/>
        </p:nvSpPr>
        <p:spPr>
          <a:xfrm>
            <a:off x="7491960" y="2275560"/>
            <a:ext cx="103788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운영매뉴얼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6" name="Text 49"/>
          <p:cNvSpPr/>
          <p:nvPr/>
        </p:nvSpPr>
        <p:spPr>
          <a:xfrm>
            <a:off x="507960" y="4051440"/>
            <a:ext cx="8127720" cy="456840"/>
          </a:xfrm>
          <a:prstGeom prst="roundRect">
            <a:avLst>
              <a:gd name="adj" fmla="val 50000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7" name="Text 50"/>
          <p:cNvSpPr/>
          <p:nvPr/>
        </p:nvSpPr>
        <p:spPr>
          <a:xfrm>
            <a:off x="507960" y="4051440"/>
            <a:ext cx="649800" cy="456840"/>
          </a:xfrm>
          <a:prstGeom prst="roundRect">
            <a:avLst>
              <a:gd name="adj" fmla="val 50000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8" name="Text 51"/>
          <p:cNvSpPr/>
          <p:nvPr/>
        </p:nvSpPr>
        <p:spPr>
          <a:xfrm>
            <a:off x="791280" y="4189680"/>
            <a:ext cx="2358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M1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9" name="Text 52"/>
          <p:cNvSpPr/>
          <p:nvPr/>
        </p:nvSpPr>
        <p:spPr>
          <a:xfrm>
            <a:off x="698400" y="4594320"/>
            <a:ext cx="10393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현재 진행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: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착수 단계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ext 0"/>
          <p:cNvSpPr/>
          <p:nvPr/>
        </p:nvSpPr>
        <p:spPr>
          <a:xfrm>
            <a:off x="3308760" y="863640"/>
            <a:ext cx="23605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SECTION. 04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1" name="Text 1"/>
          <p:cNvSpPr/>
          <p:nvPr/>
        </p:nvSpPr>
        <p:spPr>
          <a:xfrm>
            <a:off x="2565360" y="1663560"/>
            <a:ext cx="3847680" cy="24840"/>
          </a:xfrm>
          <a:prstGeom prst="rect">
            <a:avLst/>
          </a:prstGeom>
          <a:solidFill>
            <a:srgbClr val="aab7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2" name="Text 2"/>
          <p:cNvSpPr/>
          <p:nvPr/>
        </p:nvSpPr>
        <p:spPr>
          <a:xfrm>
            <a:off x="2373120" y="2019240"/>
            <a:ext cx="42325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품질 및 위험 관리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1638360" y="2476440"/>
            <a:ext cx="586692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76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품질 보증 활동과 보안 관리 계획</a:t>
            </a:r>
            <a:r>
              <a:rPr b="0" lang="en-US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4" name="Text 4"/>
          <p:cNvSpPr/>
          <p:nvPr/>
        </p:nvSpPr>
        <p:spPr>
          <a:xfrm>
            <a:off x="1638360" y="2700000"/>
            <a:ext cx="586692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76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위험 요소 및 대응 방안을 설명합니다</a:t>
            </a:r>
            <a:r>
              <a:rPr b="0" lang="en-US" sz="11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Text 0"/>
          <p:cNvSpPr/>
          <p:nvPr/>
        </p:nvSpPr>
        <p:spPr>
          <a:xfrm>
            <a:off x="507960" y="304920"/>
            <a:ext cx="17881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품질 및 보안 관리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6" name="Text 1"/>
          <p:cNvSpPr/>
          <p:nvPr/>
        </p:nvSpPr>
        <p:spPr>
          <a:xfrm>
            <a:off x="507960" y="66024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7" name="Text 2"/>
          <p:cNvSpPr/>
          <p:nvPr/>
        </p:nvSpPr>
        <p:spPr>
          <a:xfrm>
            <a:off x="507960" y="863640"/>
            <a:ext cx="3936600" cy="491760"/>
          </a:xfrm>
          <a:prstGeom prst="roundRect">
            <a:avLst>
              <a:gd name="adj" fmla="val 15487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8" name="Text 3"/>
          <p:cNvSpPr/>
          <p:nvPr/>
        </p:nvSpPr>
        <p:spPr>
          <a:xfrm>
            <a:off x="685800" y="990360"/>
            <a:ext cx="2026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✔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9" name="Text 4"/>
          <p:cNvSpPr/>
          <p:nvPr/>
        </p:nvSpPr>
        <p:spPr>
          <a:xfrm>
            <a:off x="972000" y="1019160"/>
            <a:ext cx="1000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품질 보증 활동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0" name="Text 5"/>
          <p:cNvSpPr/>
          <p:nvPr/>
        </p:nvSpPr>
        <p:spPr>
          <a:xfrm>
            <a:off x="507960" y="1355400"/>
            <a:ext cx="3936600" cy="357552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1" name="Shape 6"/>
          <p:cNvSpPr/>
          <p:nvPr/>
        </p:nvSpPr>
        <p:spPr>
          <a:xfrm>
            <a:off x="685440" y="2335680"/>
            <a:ext cx="358164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2" name="Text 7"/>
          <p:cNvSpPr/>
          <p:nvPr/>
        </p:nvSpPr>
        <p:spPr>
          <a:xfrm>
            <a:off x="685800" y="1660320"/>
            <a:ext cx="3939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산출물 검토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3" name="Text 8"/>
          <p:cNvSpPr/>
          <p:nvPr/>
        </p:nvSpPr>
        <p:spPr>
          <a:xfrm>
            <a:off x="685800" y="1863360"/>
            <a:ext cx="3939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단계별 말 발주 담당자 검토 및 승인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4" name="Text 9"/>
          <p:cNvSpPr/>
          <p:nvPr/>
        </p:nvSpPr>
        <p:spPr>
          <a:xfrm>
            <a:off x="685800" y="2023200"/>
            <a:ext cx="39394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PM/PL </a:t>
            </a: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담당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5" name="Shape 10"/>
          <p:cNvSpPr/>
          <p:nvPr/>
        </p:nvSpPr>
        <p:spPr>
          <a:xfrm>
            <a:off x="685440" y="3143520"/>
            <a:ext cx="358164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6" name="Text 11"/>
          <p:cNvSpPr/>
          <p:nvPr/>
        </p:nvSpPr>
        <p:spPr>
          <a:xfrm>
            <a:off x="685800" y="2467800"/>
            <a:ext cx="3939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코드 리뷰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7" name="Text 12"/>
          <p:cNvSpPr/>
          <p:nvPr/>
        </p:nvSpPr>
        <p:spPr>
          <a:xfrm>
            <a:off x="685800" y="2670840"/>
            <a:ext cx="3939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GitHub PR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필수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2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인 이상 승인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8" name="Text 13"/>
          <p:cNvSpPr/>
          <p:nvPr/>
        </p:nvSpPr>
        <p:spPr>
          <a:xfrm>
            <a:off x="685800" y="2831040"/>
            <a:ext cx="39394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개발 기간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9" name="Shape 14"/>
          <p:cNvSpPr/>
          <p:nvPr/>
        </p:nvSpPr>
        <p:spPr>
          <a:xfrm>
            <a:off x="685440" y="3951000"/>
            <a:ext cx="358164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0" name="Text 15"/>
          <p:cNvSpPr/>
          <p:nvPr/>
        </p:nvSpPr>
        <p:spPr>
          <a:xfrm>
            <a:off x="685800" y="3275280"/>
            <a:ext cx="3939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정적 분석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1" name="Text 16"/>
          <p:cNvSpPr/>
          <p:nvPr/>
        </p:nvSpPr>
        <p:spPr>
          <a:xfrm>
            <a:off x="685800" y="3478320"/>
            <a:ext cx="3939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SonarQube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품질 게이트 적용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2" name="Text 17"/>
          <p:cNvSpPr/>
          <p:nvPr/>
        </p:nvSpPr>
        <p:spPr>
          <a:xfrm>
            <a:off x="685800" y="3638520"/>
            <a:ext cx="39394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자동화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3" name="Text 18"/>
          <p:cNvSpPr/>
          <p:nvPr/>
        </p:nvSpPr>
        <p:spPr>
          <a:xfrm>
            <a:off x="685800" y="4082760"/>
            <a:ext cx="3939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테스트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4" name="Text 19"/>
          <p:cNvSpPr/>
          <p:nvPr/>
        </p:nvSpPr>
        <p:spPr>
          <a:xfrm>
            <a:off x="685800" y="4285800"/>
            <a:ext cx="3939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시나리오 기반 통합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/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인수 테스트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5" name="Text 20"/>
          <p:cNvSpPr/>
          <p:nvPr/>
        </p:nvSpPr>
        <p:spPr>
          <a:xfrm>
            <a:off x="685800" y="4446000"/>
            <a:ext cx="39394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QA/</a:t>
            </a: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현업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6" name="Text 21"/>
          <p:cNvSpPr/>
          <p:nvPr/>
        </p:nvSpPr>
        <p:spPr>
          <a:xfrm>
            <a:off x="4699080" y="863640"/>
            <a:ext cx="3936600" cy="491760"/>
          </a:xfrm>
          <a:prstGeom prst="roundRect">
            <a:avLst>
              <a:gd name="adj" fmla="val 15487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7" name="Text 22"/>
          <p:cNvSpPr/>
          <p:nvPr/>
        </p:nvSpPr>
        <p:spPr>
          <a:xfrm>
            <a:off x="4876560" y="990360"/>
            <a:ext cx="23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🔒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8" name="Text 23"/>
          <p:cNvSpPr/>
          <p:nvPr/>
        </p:nvSpPr>
        <p:spPr>
          <a:xfrm>
            <a:off x="5189400" y="1019160"/>
            <a:ext cx="1000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보안 관리 계획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9" name="Text 24"/>
          <p:cNvSpPr/>
          <p:nvPr/>
        </p:nvSpPr>
        <p:spPr>
          <a:xfrm>
            <a:off x="4699080" y="1355400"/>
            <a:ext cx="3936600" cy="261792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0" name="Shape 25"/>
          <p:cNvSpPr/>
          <p:nvPr/>
        </p:nvSpPr>
        <p:spPr>
          <a:xfrm>
            <a:off x="4876560" y="2096280"/>
            <a:ext cx="358164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1" name="Text 26"/>
          <p:cNvSpPr/>
          <p:nvPr/>
        </p:nvSpPr>
        <p:spPr>
          <a:xfrm>
            <a:off x="4876560" y="1634760"/>
            <a:ext cx="355320" cy="355320"/>
          </a:xfrm>
          <a:prstGeom prst="roundRect">
            <a:avLst>
              <a:gd name="adj" fmla="val 257179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2" name="Text 27"/>
          <p:cNvSpPr/>
          <p:nvPr/>
        </p:nvSpPr>
        <p:spPr>
          <a:xfrm>
            <a:off x="4975200" y="1721880"/>
            <a:ext cx="173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👤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3" name="Text 28"/>
          <p:cNvSpPr/>
          <p:nvPr/>
        </p:nvSpPr>
        <p:spPr>
          <a:xfrm>
            <a:off x="5359320" y="1634760"/>
            <a:ext cx="3408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인적 보안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4" name="Text 29"/>
          <p:cNvSpPr/>
          <p:nvPr/>
        </p:nvSpPr>
        <p:spPr>
          <a:xfrm>
            <a:off x="5359320" y="1812600"/>
            <a:ext cx="3408840" cy="1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보안서약서 징구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보안 교육 실시 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(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전 인원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)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5" name="Shape 30"/>
          <p:cNvSpPr/>
          <p:nvPr/>
        </p:nvSpPr>
        <p:spPr>
          <a:xfrm>
            <a:off x="4876560" y="2664360"/>
            <a:ext cx="358164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6" name="Text 31"/>
          <p:cNvSpPr/>
          <p:nvPr/>
        </p:nvSpPr>
        <p:spPr>
          <a:xfrm>
            <a:off x="4876560" y="2202840"/>
            <a:ext cx="355320" cy="355320"/>
          </a:xfrm>
          <a:prstGeom prst="roundRect">
            <a:avLst>
              <a:gd name="adj" fmla="val 257179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7" name="Text 32"/>
          <p:cNvSpPr/>
          <p:nvPr/>
        </p:nvSpPr>
        <p:spPr>
          <a:xfrm>
            <a:off x="4975200" y="2289960"/>
            <a:ext cx="173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🏢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8" name="Text 33"/>
          <p:cNvSpPr/>
          <p:nvPr/>
        </p:nvSpPr>
        <p:spPr>
          <a:xfrm>
            <a:off x="5359320" y="2202840"/>
            <a:ext cx="3408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물리 보안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9" name="Text 34"/>
          <p:cNvSpPr/>
          <p:nvPr/>
        </p:nvSpPr>
        <p:spPr>
          <a:xfrm>
            <a:off x="5359320" y="2380680"/>
            <a:ext cx="3408840" cy="1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통제구역 출입 관리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반입 장비 통제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0" name="Shape 35"/>
          <p:cNvSpPr/>
          <p:nvPr/>
        </p:nvSpPr>
        <p:spPr>
          <a:xfrm>
            <a:off x="4876560" y="3232440"/>
            <a:ext cx="3581640" cy="360"/>
          </a:xfrm>
          <a:prstGeom prst="line">
            <a:avLst/>
          </a:prstGeom>
          <a:ln w="9525">
            <a:solidFill>
              <a:srgbClr val="e8e8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1" name="Text 36"/>
          <p:cNvSpPr/>
          <p:nvPr/>
        </p:nvSpPr>
        <p:spPr>
          <a:xfrm>
            <a:off x="4876560" y="2770920"/>
            <a:ext cx="355320" cy="355320"/>
          </a:xfrm>
          <a:prstGeom prst="roundRect">
            <a:avLst>
              <a:gd name="adj" fmla="val 257179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2" name="Text 37"/>
          <p:cNvSpPr/>
          <p:nvPr/>
        </p:nvSpPr>
        <p:spPr>
          <a:xfrm>
            <a:off x="4975200" y="2858040"/>
            <a:ext cx="173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💻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3" name="Text 38"/>
          <p:cNvSpPr/>
          <p:nvPr/>
        </p:nvSpPr>
        <p:spPr>
          <a:xfrm>
            <a:off x="5359320" y="2770920"/>
            <a:ext cx="3408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기술 보안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4" name="Text 39"/>
          <p:cNvSpPr/>
          <p:nvPr/>
        </p:nvSpPr>
        <p:spPr>
          <a:xfrm>
            <a:off x="5359320" y="2948760"/>
            <a:ext cx="3408840" cy="1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OWASP Top 10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점검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DB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암호화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5" name="Text 40"/>
          <p:cNvSpPr/>
          <p:nvPr/>
        </p:nvSpPr>
        <p:spPr>
          <a:xfrm>
            <a:off x="4876560" y="3339000"/>
            <a:ext cx="355320" cy="355320"/>
          </a:xfrm>
          <a:prstGeom prst="roundRect">
            <a:avLst>
              <a:gd name="adj" fmla="val 257179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6" name="Text 41"/>
          <p:cNvSpPr/>
          <p:nvPr/>
        </p:nvSpPr>
        <p:spPr>
          <a:xfrm>
            <a:off x="4963680" y="3405960"/>
            <a:ext cx="2131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7" name="Text 42"/>
          <p:cNvSpPr/>
          <p:nvPr/>
        </p:nvSpPr>
        <p:spPr>
          <a:xfrm>
            <a:off x="5359320" y="3339000"/>
            <a:ext cx="3408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PC </a:t>
            </a: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보안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8" name="Text 43"/>
          <p:cNvSpPr/>
          <p:nvPr/>
        </p:nvSpPr>
        <p:spPr>
          <a:xfrm>
            <a:off x="5359320" y="3516840"/>
            <a:ext cx="3408840" cy="1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4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백신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화면보호기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DLP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솔루션 적용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Text 0"/>
          <p:cNvSpPr/>
          <p:nvPr/>
        </p:nvSpPr>
        <p:spPr>
          <a:xfrm>
            <a:off x="507960" y="304920"/>
            <a:ext cx="178812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위험 및 변경 관리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0" name="Text 1"/>
          <p:cNvSpPr/>
          <p:nvPr/>
        </p:nvSpPr>
        <p:spPr>
          <a:xfrm>
            <a:off x="507960" y="660240"/>
            <a:ext cx="8127720" cy="24840"/>
          </a:xfrm>
          <a:prstGeom prst="rect">
            <a:avLst/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1" name="Text 2"/>
          <p:cNvSpPr/>
          <p:nvPr/>
        </p:nvSpPr>
        <p:spPr>
          <a:xfrm>
            <a:off x="507960" y="863640"/>
            <a:ext cx="3936600" cy="1400400"/>
          </a:xfrm>
          <a:prstGeom prst="roundRect">
            <a:avLst>
              <a:gd name="adj" fmla="val 7253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2" name="Shape 3"/>
          <p:cNvSpPr/>
          <p:nvPr/>
        </p:nvSpPr>
        <p:spPr>
          <a:xfrm>
            <a:off x="531720" y="863280"/>
            <a:ext cx="360" cy="1400760"/>
          </a:xfrm>
          <a:prstGeom prst="line">
            <a:avLst/>
          </a:prstGeom>
          <a:ln w="47625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3" name="Text 4"/>
          <p:cNvSpPr/>
          <p:nvPr/>
        </p:nvSpPr>
        <p:spPr>
          <a:xfrm>
            <a:off x="733320" y="1050840"/>
            <a:ext cx="881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요구사항 변경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4" name="Text 5"/>
          <p:cNvSpPr/>
          <p:nvPr/>
        </p:nvSpPr>
        <p:spPr>
          <a:xfrm>
            <a:off x="3234600" y="1041120"/>
            <a:ext cx="5396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영향</a:t>
            </a: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: </a:t>
            </a: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상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5" name="Text 6"/>
          <p:cNvSpPr/>
          <p:nvPr/>
        </p:nvSpPr>
        <p:spPr>
          <a:xfrm>
            <a:off x="3776040" y="1041120"/>
            <a:ext cx="5396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확률</a:t>
            </a: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: </a:t>
            </a: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상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6" name="Text 7"/>
          <p:cNvSpPr/>
          <p:nvPr/>
        </p:nvSpPr>
        <p:spPr>
          <a:xfrm>
            <a:off x="733320" y="1323720"/>
            <a:ext cx="38869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프로젝트 범위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일정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비용에 직접적 영향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7" name="Text 8"/>
          <p:cNvSpPr/>
          <p:nvPr/>
        </p:nvSpPr>
        <p:spPr>
          <a:xfrm>
            <a:off x="733320" y="1549080"/>
            <a:ext cx="3533400" cy="537120"/>
          </a:xfrm>
          <a:prstGeom prst="roundRect">
            <a:avLst>
              <a:gd name="adj" fmla="val 945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8" name="Text 9"/>
          <p:cNvSpPr/>
          <p:nvPr/>
        </p:nvSpPr>
        <p:spPr>
          <a:xfrm>
            <a:off x="834840" y="1650600"/>
            <a:ext cx="36637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대응 방안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9" name="Text 10"/>
          <p:cNvSpPr/>
          <p:nvPr/>
        </p:nvSpPr>
        <p:spPr>
          <a:xfrm>
            <a:off x="834840" y="1825200"/>
            <a:ext cx="36637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변경관리위원회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(CCB)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통해 통제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영향도 분석 필수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(PM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담당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0" name="Text 11"/>
          <p:cNvSpPr/>
          <p:nvPr/>
        </p:nvSpPr>
        <p:spPr>
          <a:xfrm>
            <a:off x="4597200" y="863640"/>
            <a:ext cx="3936600" cy="1400400"/>
          </a:xfrm>
          <a:prstGeom prst="roundRect">
            <a:avLst>
              <a:gd name="adj" fmla="val 7253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1" name="Shape 12"/>
          <p:cNvSpPr/>
          <p:nvPr/>
        </p:nvSpPr>
        <p:spPr>
          <a:xfrm>
            <a:off x="4620960" y="863280"/>
            <a:ext cx="360" cy="1400760"/>
          </a:xfrm>
          <a:prstGeom prst="line">
            <a:avLst/>
          </a:prstGeom>
          <a:ln w="47625">
            <a:solidFill>
              <a:srgbClr val="4e9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2" name="Text 13"/>
          <p:cNvSpPr/>
          <p:nvPr/>
        </p:nvSpPr>
        <p:spPr>
          <a:xfrm>
            <a:off x="4822560" y="1050840"/>
            <a:ext cx="599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일정 지연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3" name="Text 14"/>
          <p:cNvSpPr/>
          <p:nvPr/>
        </p:nvSpPr>
        <p:spPr>
          <a:xfrm>
            <a:off x="7323840" y="1041120"/>
            <a:ext cx="5396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영향</a:t>
            </a: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: </a:t>
            </a: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상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4" name="Text 15"/>
          <p:cNvSpPr/>
          <p:nvPr/>
        </p:nvSpPr>
        <p:spPr>
          <a:xfrm>
            <a:off x="7865640" y="1041120"/>
            <a:ext cx="5396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확률</a:t>
            </a: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: </a:t>
            </a: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중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5" name="Text 16"/>
          <p:cNvSpPr/>
          <p:nvPr/>
        </p:nvSpPr>
        <p:spPr>
          <a:xfrm>
            <a:off x="4822560" y="1323720"/>
            <a:ext cx="38869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마일스톤 미달성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오픈 일정 지연 가능성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6" name="Text 17"/>
          <p:cNvSpPr/>
          <p:nvPr/>
        </p:nvSpPr>
        <p:spPr>
          <a:xfrm>
            <a:off x="4822560" y="1549080"/>
            <a:ext cx="3533400" cy="537120"/>
          </a:xfrm>
          <a:prstGeom prst="roundRect">
            <a:avLst>
              <a:gd name="adj" fmla="val 945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7" name="Text 18"/>
          <p:cNvSpPr/>
          <p:nvPr/>
        </p:nvSpPr>
        <p:spPr>
          <a:xfrm>
            <a:off x="4924080" y="1650600"/>
            <a:ext cx="36637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대응 방안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8" name="Text 19"/>
          <p:cNvSpPr/>
          <p:nvPr/>
        </p:nvSpPr>
        <p:spPr>
          <a:xfrm>
            <a:off x="4924080" y="1825200"/>
            <a:ext cx="36637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주간 진척관리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Critical Path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집중 모니터링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(PM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담당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9" name="Text 20"/>
          <p:cNvSpPr/>
          <p:nvPr/>
        </p:nvSpPr>
        <p:spPr>
          <a:xfrm>
            <a:off x="507960" y="2416680"/>
            <a:ext cx="3936600" cy="1400400"/>
          </a:xfrm>
          <a:prstGeom prst="roundRect">
            <a:avLst>
              <a:gd name="adj" fmla="val 7253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0" name="Shape 21"/>
          <p:cNvSpPr/>
          <p:nvPr/>
        </p:nvSpPr>
        <p:spPr>
          <a:xfrm>
            <a:off x="531720" y="2416320"/>
            <a:ext cx="360" cy="1401120"/>
          </a:xfrm>
          <a:prstGeom prst="line">
            <a:avLst/>
          </a:prstGeom>
          <a:ln w="47625">
            <a:solidFill>
              <a:srgbClr val="d8e9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1" name="Text 22"/>
          <p:cNvSpPr/>
          <p:nvPr/>
        </p:nvSpPr>
        <p:spPr>
          <a:xfrm>
            <a:off x="733320" y="2603880"/>
            <a:ext cx="740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기술적 난제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2" name="Text 23"/>
          <p:cNvSpPr/>
          <p:nvPr/>
        </p:nvSpPr>
        <p:spPr>
          <a:xfrm>
            <a:off x="3234600" y="2594520"/>
            <a:ext cx="5396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영향</a:t>
            </a: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: </a:t>
            </a: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중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3" name="Text 24"/>
          <p:cNvSpPr/>
          <p:nvPr/>
        </p:nvSpPr>
        <p:spPr>
          <a:xfrm>
            <a:off x="3776040" y="2594520"/>
            <a:ext cx="5396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확률</a:t>
            </a: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: </a:t>
            </a: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중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4" name="Text 25"/>
          <p:cNvSpPr/>
          <p:nvPr/>
        </p:nvSpPr>
        <p:spPr>
          <a:xfrm>
            <a:off x="733320" y="2876760"/>
            <a:ext cx="38869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MSA, AI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연동 등 신기술 적용 이슈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5" name="Text 26"/>
          <p:cNvSpPr/>
          <p:nvPr/>
        </p:nvSpPr>
        <p:spPr>
          <a:xfrm>
            <a:off x="733320" y="3102120"/>
            <a:ext cx="3533400" cy="537120"/>
          </a:xfrm>
          <a:prstGeom prst="roundRect">
            <a:avLst>
              <a:gd name="adj" fmla="val 945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6" name="Text 27"/>
          <p:cNvSpPr/>
          <p:nvPr/>
        </p:nvSpPr>
        <p:spPr>
          <a:xfrm>
            <a:off x="834840" y="3203640"/>
            <a:ext cx="36637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대응 방안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7" name="Text 28"/>
          <p:cNvSpPr/>
          <p:nvPr/>
        </p:nvSpPr>
        <p:spPr>
          <a:xfrm>
            <a:off x="834840" y="3378240"/>
            <a:ext cx="36637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PoC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선행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외부 전문가 자문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(AA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담당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8" name="Text 29"/>
          <p:cNvSpPr/>
          <p:nvPr/>
        </p:nvSpPr>
        <p:spPr>
          <a:xfrm>
            <a:off x="4597200" y="2416680"/>
            <a:ext cx="3936600" cy="1400400"/>
          </a:xfrm>
          <a:prstGeom prst="roundRect">
            <a:avLst>
              <a:gd name="adj" fmla="val 7253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9" name="Shape 30"/>
          <p:cNvSpPr/>
          <p:nvPr/>
        </p:nvSpPr>
        <p:spPr>
          <a:xfrm>
            <a:off x="4620960" y="2416320"/>
            <a:ext cx="360" cy="1401120"/>
          </a:xfrm>
          <a:prstGeom prst="line">
            <a:avLst/>
          </a:prstGeom>
          <a:ln w="47625">
            <a:solidFill>
              <a:srgbClr val="aab7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0" name="Text 31"/>
          <p:cNvSpPr/>
          <p:nvPr/>
        </p:nvSpPr>
        <p:spPr>
          <a:xfrm>
            <a:off x="4822560" y="2603880"/>
            <a:ext cx="1305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데이터 마이그레이션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1" name="Text 32"/>
          <p:cNvSpPr/>
          <p:nvPr/>
        </p:nvSpPr>
        <p:spPr>
          <a:xfrm>
            <a:off x="7323840" y="2594520"/>
            <a:ext cx="5396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영향</a:t>
            </a: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: </a:t>
            </a: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상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2" name="Text 33"/>
          <p:cNvSpPr/>
          <p:nvPr/>
        </p:nvSpPr>
        <p:spPr>
          <a:xfrm>
            <a:off x="7865640" y="2594520"/>
            <a:ext cx="5396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확률</a:t>
            </a:r>
            <a:r>
              <a:rPr b="0" lang="en-US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: </a:t>
            </a:r>
            <a:r>
              <a:rPr b="0" lang="ko-KR" sz="1200" spc="-1" strike="noStrike">
                <a:solidFill>
                  <a:srgbClr val="000000"/>
                </a:solidFill>
                <a:latin typeface="Malgun Gothic"/>
                <a:ea typeface="Malgun Gothic"/>
              </a:rPr>
              <a:t>중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3" name="Text 34"/>
          <p:cNvSpPr/>
          <p:nvPr/>
        </p:nvSpPr>
        <p:spPr>
          <a:xfrm>
            <a:off x="4822560" y="2876760"/>
            <a:ext cx="38869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레거시 데이터 정합성</a:t>
            </a: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이행 오류 위험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4" name="Text 35"/>
          <p:cNvSpPr/>
          <p:nvPr/>
        </p:nvSpPr>
        <p:spPr>
          <a:xfrm>
            <a:off x="4822560" y="3102120"/>
            <a:ext cx="3533400" cy="537120"/>
          </a:xfrm>
          <a:prstGeom prst="roundRect">
            <a:avLst>
              <a:gd name="adj" fmla="val 945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5" name="Text 36"/>
          <p:cNvSpPr/>
          <p:nvPr/>
        </p:nvSpPr>
        <p:spPr>
          <a:xfrm>
            <a:off x="4924080" y="3203640"/>
            <a:ext cx="36637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대응 방안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6" name="Text 37"/>
          <p:cNvSpPr/>
          <p:nvPr/>
        </p:nvSpPr>
        <p:spPr>
          <a:xfrm>
            <a:off x="4924080" y="3378240"/>
            <a:ext cx="36637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26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사전 검증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롤백 계획 수립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(DBA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담당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7" name="Text 38"/>
          <p:cNvSpPr/>
          <p:nvPr/>
        </p:nvSpPr>
        <p:spPr>
          <a:xfrm>
            <a:off x="507960" y="3960000"/>
            <a:ext cx="8127720" cy="1130400"/>
          </a:xfrm>
          <a:prstGeom prst="roundRect">
            <a:avLst>
              <a:gd name="adj" fmla="val 6079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8" name="Text 39"/>
          <p:cNvSpPr/>
          <p:nvPr/>
        </p:nvSpPr>
        <p:spPr>
          <a:xfrm>
            <a:off x="761760" y="4014720"/>
            <a:ext cx="8381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변경 통제 절차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9" name="Text 40"/>
          <p:cNvSpPr/>
          <p:nvPr/>
        </p:nvSpPr>
        <p:spPr>
          <a:xfrm>
            <a:off x="761760" y="4294080"/>
            <a:ext cx="832320" cy="618480"/>
          </a:xfrm>
          <a:prstGeom prst="roundRect">
            <a:avLst>
              <a:gd name="adj" fmla="val 8209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0" name="Text 41"/>
          <p:cNvSpPr/>
          <p:nvPr/>
        </p:nvSpPr>
        <p:spPr>
          <a:xfrm>
            <a:off x="887760" y="4395600"/>
            <a:ext cx="5803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1" name="Text 42"/>
          <p:cNvSpPr/>
          <p:nvPr/>
        </p:nvSpPr>
        <p:spPr>
          <a:xfrm>
            <a:off x="887760" y="4563720"/>
            <a:ext cx="5803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변경 요청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2" name="Text 43"/>
          <p:cNvSpPr/>
          <p:nvPr/>
        </p:nvSpPr>
        <p:spPr>
          <a:xfrm>
            <a:off x="887760" y="4706640"/>
            <a:ext cx="580320" cy="1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CR </a:t>
            </a:r>
            <a:r>
              <a:rPr b="0" lang="ko-KR" sz="7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접수 </a:t>
            </a:r>
            <a:r>
              <a:rPr b="0" lang="en-US" sz="7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(Jira)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3" name="Text 44"/>
          <p:cNvSpPr/>
          <p:nvPr/>
        </p:nvSpPr>
        <p:spPr>
          <a:xfrm>
            <a:off x="1670760" y="4493880"/>
            <a:ext cx="195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4" name="Text 45"/>
          <p:cNvSpPr/>
          <p:nvPr/>
        </p:nvSpPr>
        <p:spPr>
          <a:xfrm>
            <a:off x="1924560" y="4294080"/>
            <a:ext cx="855720" cy="618480"/>
          </a:xfrm>
          <a:prstGeom prst="roundRect">
            <a:avLst>
              <a:gd name="adj" fmla="val 8209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5" name="Text 46"/>
          <p:cNvSpPr/>
          <p:nvPr/>
        </p:nvSpPr>
        <p:spPr>
          <a:xfrm>
            <a:off x="2049480" y="4395600"/>
            <a:ext cx="606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6" name="Text 47"/>
          <p:cNvSpPr/>
          <p:nvPr/>
        </p:nvSpPr>
        <p:spPr>
          <a:xfrm>
            <a:off x="2049480" y="4563720"/>
            <a:ext cx="606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영향도 분석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7" name="Text 48"/>
          <p:cNvSpPr/>
          <p:nvPr/>
        </p:nvSpPr>
        <p:spPr>
          <a:xfrm>
            <a:off x="2049480" y="4706640"/>
            <a:ext cx="606240" cy="1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3</a:t>
            </a:r>
            <a:r>
              <a:rPr b="0" lang="ko-KR" sz="7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일 내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8" name="Text 49"/>
          <p:cNvSpPr/>
          <p:nvPr/>
        </p:nvSpPr>
        <p:spPr>
          <a:xfrm>
            <a:off x="2856960" y="4493880"/>
            <a:ext cx="195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9" name="Text 50"/>
          <p:cNvSpPr/>
          <p:nvPr/>
        </p:nvSpPr>
        <p:spPr>
          <a:xfrm>
            <a:off x="3110760" y="4294080"/>
            <a:ext cx="757800" cy="618480"/>
          </a:xfrm>
          <a:prstGeom prst="roundRect">
            <a:avLst>
              <a:gd name="adj" fmla="val 8209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0" name="Text 51"/>
          <p:cNvSpPr/>
          <p:nvPr/>
        </p:nvSpPr>
        <p:spPr>
          <a:xfrm>
            <a:off x="3240360" y="4395600"/>
            <a:ext cx="498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1" name="Text 52"/>
          <p:cNvSpPr/>
          <p:nvPr/>
        </p:nvSpPr>
        <p:spPr>
          <a:xfrm>
            <a:off x="3240360" y="4563720"/>
            <a:ext cx="498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CCB </a:t>
            </a: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심의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2" name="Text 53"/>
          <p:cNvSpPr/>
          <p:nvPr/>
        </p:nvSpPr>
        <p:spPr>
          <a:xfrm>
            <a:off x="3240360" y="4706640"/>
            <a:ext cx="498240" cy="1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7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주 </a:t>
            </a:r>
            <a:r>
              <a:rPr b="0" lang="en-US" sz="7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1</a:t>
            </a:r>
            <a:r>
              <a:rPr b="0" lang="ko-KR" sz="7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회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3" name="Text 54"/>
          <p:cNvSpPr/>
          <p:nvPr/>
        </p:nvSpPr>
        <p:spPr>
          <a:xfrm>
            <a:off x="3945240" y="4493880"/>
            <a:ext cx="195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4" name="Text 55"/>
          <p:cNvSpPr/>
          <p:nvPr/>
        </p:nvSpPr>
        <p:spPr>
          <a:xfrm>
            <a:off x="4199040" y="4294080"/>
            <a:ext cx="815040" cy="618480"/>
          </a:xfrm>
          <a:prstGeom prst="roundRect">
            <a:avLst>
              <a:gd name="adj" fmla="val 8209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5" name="Text 56"/>
          <p:cNvSpPr/>
          <p:nvPr/>
        </p:nvSpPr>
        <p:spPr>
          <a:xfrm>
            <a:off x="4325760" y="4395600"/>
            <a:ext cx="5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6" name="Text 57"/>
          <p:cNvSpPr/>
          <p:nvPr/>
        </p:nvSpPr>
        <p:spPr>
          <a:xfrm>
            <a:off x="4325760" y="4563720"/>
            <a:ext cx="561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변경 이행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7" name="Text 58"/>
          <p:cNvSpPr/>
          <p:nvPr/>
        </p:nvSpPr>
        <p:spPr>
          <a:xfrm>
            <a:off x="4325760" y="4706640"/>
            <a:ext cx="561240" cy="1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700" spc="-1" strike="noStrike">
                <a:solidFill>
                  <a:srgbClr val="ffffff">
                    <a:alpha val="70000"/>
                  </a:srgbClr>
                </a:solidFill>
                <a:latin typeface="Malgun Gothic"/>
                <a:ea typeface="Malgun Gothic"/>
              </a:rPr>
              <a:t>산출물 현행화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Text 0"/>
          <p:cNvSpPr/>
          <p:nvPr/>
        </p:nvSpPr>
        <p:spPr>
          <a:xfrm>
            <a:off x="1905120" y="1143000"/>
            <a:ext cx="5333760" cy="2484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9" name="Text 1"/>
          <p:cNvSpPr/>
          <p:nvPr/>
        </p:nvSpPr>
        <p:spPr>
          <a:xfrm>
            <a:off x="-457200" y="1396800"/>
            <a:ext cx="1005804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6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감사합니다</a:t>
            </a:r>
            <a:endParaRPr b="0" lang="en-US" sz="36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0" name="Text 2"/>
          <p:cNvSpPr/>
          <p:nvPr/>
        </p:nvSpPr>
        <p:spPr>
          <a:xfrm>
            <a:off x="-457200" y="2095560"/>
            <a:ext cx="100580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>
                    <a:alpha val="80000"/>
                  </a:srgbClr>
                </a:solidFill>
                <a:latin typeface="Malgun Gothic"/>
                <a:ea typeface="Malgun Gothic"/>
              </a:rPr>
              <a:t>THANK YOU FOR YOUR ATTENTION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1" name="Text 3"/>
          <p:cNvSpPr/>
          <p:nvPr/>
        </p:nvSpPr>
        <p:spPr>
          <a:xfrm>
            <a:off x="1905120" y="2539800"/>
            <a:ext cx="5333760" cy="2484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2" name="Shape 4"/>
          <p:cNvSpPr/>
          <p:nvPr/>
        </p:nvSpPr>
        <p:spPr>
          <a:xfrm>
            <a:off x="4495680" y="2717640"/>
            <a:ext cx="190440" cy="360"/>
          </a:xfrm>
          <a:prstGeom prst="line">
            <a:avLst/>
          </a:prstGeom>
          <a:ln w="152400">
            <a:solidFill>
              <a:srgbClr val="4e9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3" name="Shape 5"/>
          <p:cNvSpPr/>
          <p:nvPr/>
        </p:nvSpPr>
        <p:spPr>
          <a:xfrm>
            <a:off x="4638600" y="2641320"/>
            <a:ext cx="360" cy="152280"/>
          </a:xfrm>
          <a:prstGeom prst="line">
            <a:avLst/>
          </a:prstGeom>
          <a:ln w="952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4" name="Shape 6"/>
          <p:cNvSpPr/>
          <p:nvPr/>
        </p:nvSpPr>
        <p:spPr>
          <a:xfrm>
            <a:off x="4543200" y="2641320"/>
            <a:ext cx="360" cy="152280"/>
          </a:xfrm>
          <a:prstGeom prst="line">
            <a:avLst/>
          </a:prstGeom>
          <a:ln w="952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5" name="Text 7"/>
          <p:cNvSpPr/>
          <p:nvPr/>
        </p:nvSpPr>
        <p:spPr>
          <a:xfrm>
            <a:off x="-457200" y="3174840"/>
            <a:ext cx="10058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주</a:t>
            </a: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테크솔루션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6" name="Text 8"/>
          <p:cNvSpPr/>
          <p:nvPr/>
        </p:nvSpPr>
        <p:spPr>
          <a:xfrm>
            <a:off x="2492640" y="3597120"/>
            <a:ext cx="6796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>
                    <a:alpha val="60000"/>
                  </a:srgbClr>
                </a:solidFill>
                <a:latin typeface="Malgun Gothic"/>
                <a:ea typeface="Malgun Gothic"/>
              </a:rPr>
              <a:t>담당자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7" name="Text 9"/>
          <p:cNvSpPr/>
          <p:nvPr/>
        </p:nvSpPr>
        <p:spPr>
          <a:xfrm>
            <a:off x="2492640" y="3790800"/>
            <a:ext cx="6796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PM </a:t>
            </a:r>
            <a:r>
              <a:rPr b="0" lang="ko-KR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김철수</a:t>
            </a:r>
            <a:endParaRPr b="0" lang="en-US" sz="1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8" name="Text 10"/>
          <p:cNvSpPr/>
          <p:nvPr/>
        </p:nvSpPr>
        <p:spPr>
          <a:xfrm>
            <a:off x="3602160" y="3597120"/>
            <a:ext cx="1047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>
                    <a:alpha val="60000"/>
                  </a:srgbClr>
                </a:solidFill>
                <a:latin typeface="Malgun Gothic"/>
                <a:ea typeface="Malgun Gothic"/>
              </a:rPr>
              <a:t>연락처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9" name="Text 11"/>
          <p:cNvSpPr/>
          <p:nvPr/>
        </p:nvSpPr>
        <p:spPr>
          <a:xfrm>
            <a:off x="3602160" y="3790800"/>
            <a:ext cx="1047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02-1234-5678</a:t>
            </a:r>
            <a:endParaRPr b="0" lang="en-US" sz="1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600" name="Text 12"/>
          <p:cNvSpPr/>
          <p:nvPr/>
        </p:nvSpPr>
        <p:spPr>
          <a:xfrm>
            <a:off x="5034240" y="3597120"/>
            <a:ext cx="16610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>
                    <a:alpha val="60000"/>
                  </a:srgbClr>
                </a:solidFill>
                <a:latin typeface="Malgun Gothic"/>
                <a:ea typeface="Malgun Gothic"/>
              </a:rPr>
              <a:t>이메일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601" name="Text 13"/>
          <p:cNvSpPr/>
          <p:nvPr/>
        </p:nvSpPr>
        <p:spPr>
          <a:xfrm>
            <a:off x="5034240" y="3790800"/>
            <a:ext cx="1661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pm@techsolution.co.kr</a:t>
            </a:r>
            <a:endParaRPr b="0" lang="en-US" sz="1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602" name="Text 14"/>
          <p:cNvSpPr/>
          <p:nvPr/>
        </p:nvSpPr>
        <p:spPr>
          <a:xfrm>
            <a:off x="-457200" y="4695840"/>
            <a:ext cx="100580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>
                    <a:alpha val="50000"/>
                  </a:srgbClr>
                </a:solidFill>
                <a:latin typeface="Malgun Gothic"/>
                <a:ea typeface="Malgun Gothic"/>
              </a:rPr>
              <a:t>스마트 물류관리 시스템 구축 프로젝트 </a:t>
            </a:r>
            <a:r>
              <a:rPr b="0" lang="en-US" sz="900" spc="-1" strike="noStrike">
                <a:solidFill>
                  <a:srgbClr val="ffffff">
                    <a:alpha val="50000"/>
                  </a:srgbClr>
                </a:solidFill>
                <a:latin typeface="Malgun Gothic"/>
                <a:ea typeface="Malgun Gothic"/>
              </a:rPr>
              <a:t>| 2025.01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2026-01-09T08:01:23Z</dcterms:created>
  <dc:creator>(주)테크솔루션</dc:creator>
  <dc:description/>
  <dc:language>ko-KR</dc:language>
  <cp:lastModifiedBy/>
  <dcterms:modified xsi:type="dcterms:W3CDTF">2026-01-09T17:22:05Z</dcterms:modified>
  <cp:revision>2</cp:revision>
  <dc:subject>프로젝트 수행계획서</dc:subject>
  <dc:title>스마트 물류관리 시스템 구축 프로젝트 수행계획서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