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0" y="1015901"/>
            <a:ext cx="4572000" cy="406301"/>
          </a:xfrm>
          <a:prstGeom prst="roundRect">
            <a:avLst>
              <a:gd name="adj" fmla="val 6251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46029" y="1119039"/>
            <a:ext cx="13769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착수보고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" y="1777901"/>
            <a:ext cx="9052560" cy="105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60"/>
              </a:lnSpc>
              <a:buNone/>
            </a:pPr>
            <a:r>
              <a:rPr lang="en-US" sz="32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물류관리 시스템 구축</a:t>
            </a:r>
            <a:endParaRPr lang="en-US" sz="3200" dirty="0"/>
          </a:p>
          <a:p>
            <a:pPr algn="ctr" indent="0" marL="0">
              <a:lnSpc>
                <a:spcPts val="4160"/>
              </a:lnSpc>
              <a:buNone/>
            </a:pPr>
            <a:r>
              <a:rPr lang="en-US" sz="32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수행계획서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" y="2793950"/>
            <a:ext cx="90525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(주)글로벌물류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01901" y="3555950"/>
            <a:ext cx="2539901" cy="25301"/>
          </a:xfrm>
          <a:prstGeom prst="rect">
            <a:avLst/>
          </a:prstGeom>
          <a:solidFill>
            <a:srgbClr val="D8E9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" y="3936950"/>
            <a:ext cx="9052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1월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" y="4381500"/>
            <a:ext cx="90525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(주)테크솔루션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81000"/>
            <a:ext cx="905256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442740" cy="1817191"/>
          </a:xfrm>
          <a:prstGeom prst="roundRect">
            <a:avLst>
              <a:gd name="adj" fmla="val 704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1012" y="1143000"/>
            <a:ext cx="0" cy="1817191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975" y="1396901"/>
            <a:ext cx="108769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07975" y="1977926"/>
            <a:ext cx="10876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7975" y="2310408"/>
            <a:ext cx="108769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배경, 목적, 범위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53841" y="1143000"/>
            <a:ext cx="1442740" cy="1817191"/>
          </a:xfrm>
          <a:prstGeom prst="roundRect">
            <a:avLst>
              <a:gd name="adj" fmla="val 704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177653" y="1143000"/>
            <a:ext cx="0" cy="1817191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616" y="1396901"/>
            <a:ext cx="108769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04616" y="1977926"/>
            <a:ext cx="10876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전략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04616" y="2310408"/>
            <a:ext cx="108769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방법론, 아키텍처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50481" y="1143000"/>
            <a:ext cx="1442740" cy="1817191"/>
          </a:xfrm>
          <a:prstGeom prst="roundRect">
            <a:avLst>
              <a:gd name="adj" fmla="val 704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874294" y="1143000"/>
            <a:ext cx="0" cy="1817191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01257" y="1396901"/>
            <a:ext cx="108769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101257" y="1977926"/>
            <a:ext cx="10876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및 역할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01257" y="2310408"/>
            <a:ext cx="108769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R&amp;R, 투입 인력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47122" y="1143000"/>
            <a:ext cx="1442740" cy="1817191"/>
          </a:xfrm>
          <a:prstGeom prst="roundRect">
            <a:avLst>
              <a:gd name="adj" fmla="val 704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570934" y="1143000"/>
            <a:ext cx="0" cy="1817191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97897" y="1396901"/>
            <a:ext cx="108769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797897" y="1977926"/>
            <a:ext cx="10876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일정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97897" y="2310408"/>
            <a:ext cx="108769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 일정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43763" y="1143000"/>
            <a:ext cx="1442740" cy="1817191"/>
          </a:xfrm>
          <a:prstGeom prst="roundRect">
            <a:avLst>
              <a:gd name="adj" fmla="val 704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267575" y="1143000"/>
            <a:ext cx="0" cy="1817191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4538" y="1396901"/>
            <a:ext cx="108769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94538" y="1977926"/>
            <a:ext cx="1087695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품질/위험 관리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4538" y="2541389"/>
            <a:ext cx="108769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대응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0"/>
            <a:ext cx="1199019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3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39901"/>
            <a:ext cx="12042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0901"/>
            <a:ext cx="288884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682901"/>
            <a:ext cx="762000" cy="5075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331629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배경 및 기대효과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88950"/>
            <a:ext cx="2607766" cy="1339602"/>
          </a:xfrm>
          <a:prstGeom prst="roundRect">
            <a:avLst>
              <a:gd name="adj" fmla="val 758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912763"/>
            <a:ext cx="2607766" cy="0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0277" y="1139726"/>
            <a:ext cx="24216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500만건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50277" y="1669852"/>
            <a:ext cx="24216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물류 처리량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0277" y="1882527"/>
            <a:ext cx="2421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Top 5 물류기업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68117" y="888950"/>
            <a:ext cx="2607766" cy="1339602"/>
          </a:xfrm>
          <a:prstGeom prst="roundRect">
            <a:avLst>
              <a:gd name="adj" fmla="val 758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68117" y="912763"/>
            <a:ext cx="2607766" cy="0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1194" y="1139726"/>
            <a:ext cx="24216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10년+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61194" y="1669852"/>
            <a:ext cx="24216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시스템 운영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1194" y="1882527"/>
            <a:ext cx="2421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속도 저하 문제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79034" y="888950"/>
            <a:ext cx="2607766" cy="1339602"/>
          </a:xfrm>
          <a:prstGeom prst="roundRect">
            <a:avLst>
              <a:gd name="adj" fmla="val 758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79034" y="912763"/>
            <a:ext cx="2607766" cy="0"/>
          </a:xfrm>
          <a:prstGeom prst="line">
            <a:avLst/>
          </a:prstGeom>
          <a:noFill/>
          <a:ln w="47625">
            <a:solidFill>
              <a:srgbClr val="1E51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111" y="1139726"/>
            <a:ext cx="24216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15억원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111" y="1669852"/>
            <a:ext cx="24216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규모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111" y="1882527"/>
            <a:ext cx="2421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수행 기간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793950"/>
            <a:ext cx="71934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174950"/>
            <a:ext cx="2607766" cy="1257002"/>
          </a:xfrm>
          <a:prstGeom prst="roundRect">
            <a:avLst>
              <a:gd name="adj" fmla="val 808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0277" y="3428851"/>
            <a:ext cx="242161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50277" y="4016127"/>
            <a:ext cx="24216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처리 효율 향상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68117" y="3174950"/>
            <a:ext cx="2607766" cy="1257002"/>
          </a:xfrm>
          <a:prstGeom prst="roundRect">
            <a:avLst>
              <a:gd name="adj" fmla="val 808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61194" y="3428851"/>
            <a:ext cx="242161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99.5%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3361194" y="4016127"/>
            <a:ext cx="24216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정확도 달성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79034" y="3174950"/>
            <a:ext cx="2607766" cy="1257002"/>
          </a:xfrm>
          <a:prstGeom prst="roundRect">
            <a:avLst>
              <a:gd name="adj" fmla="val 808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72111" y="3428851"/>
            <a:ext cx="242161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172111" y="4016127"/>
            <a:ext cx="24216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비용 절감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97475"/>
            <a:ext cx="1472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물류관리 시스템 구축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18637" y="4797475"/>
            <a:ext cx="74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148240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범위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88950"/>
            <a:ext cx="1905000" cy="2544961"/>
          </a:xfrm>
          <a:prstGeom prst="roundRect">
            <a:avLst>
              <a:gd name="adj" fmla="val 533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4150" y="1142851"/>
            <a:ext cx="711101" cy="711101"/>
          </a:xfrm>
          <a:prstGeom prst="roundRect">
            <a:avLst>
              <a:gd name="adj" fmla="val 12858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87081" y="1346002"/>
            <a:ext cx="2452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5415" y="2057102"/>
            <a:ext cx="16485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415" y="2326928"/>
            <a:ext cx="164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창고관리시스템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1851" y="2631728"/>
            <a:ext cx="1536918" cy="18276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입출고 관리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1851" y="2814489"/>
            <a:ext cx="1536918" cy="18276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관리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1851" y="2997250"/>
            <a:ext cx="1536918" cy="18276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피킹/패킹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5350" y="888950"/>
            <a:ext cx="1905000" cy="2544961"/>
          </a:xfrm>
          <a:prstGeom prst="roundRect">
            <a:avLst>
              <a:gd name="adj" fmla="val 533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62300" y="1142851"/>
            <a:ext cx="711101" cy="711101"/>
          </a:xfrm>
          <a:prstGeom prst="roundRect">
            <a:avLst>
              <a:gd name="adj" fmla="val 12858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34194" y="1346002"/>
            <a:ext cx="1673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93566" y="2057102"/>
            <a:ext cx="16485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3566" y="2326928"/>
            <a:ext cx="164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배송관리시스템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70002" y="2631728"/>
            <a:ext cx="1536918" cy="18276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배차 관리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70002" y="2814489"/>
            <a:ext cx="1536918" cy="18276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최적화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70002" y="2997250"/>
            <a:ext cx="1536918" cy="18276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추적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3501" y="888950"/>
            <a:ext cx="1905000" cy="2544961"/>
          </a:xfrm>
          <a:prstGeom prst="roundRect">
            <a:avLst>
              <a:gd name="adj" fmla="val 533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70450" y="1142851"/>
            <a:ext cx="711101" cy="711101"/>
          </a:xfrm>
          <a:prstGeom prst="roundRect">
            <a:avLst>
              <a:gd name="adj" fmla="val 12858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22372" y="1346002"/>
            <a:ext cx="207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01716" y="2057102"/>
            <a:ext cx="16485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1716" y="2326928"/>
            <a:ext cx="164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주문관리시스템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78152" y="2631728"/>
            <a:ext cx="1536918" cy="18276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접수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78152" y="2814489"/>
            <a:ext cx="1536918" cy="18276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할당 관리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78152" y="2997250"/>
            <a:ext cx="1536918" cy="18276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처리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81651" y="888950"/>
            <a:ext cx="1905000" cy="2544961"/>
          </a:xfrm>
          <a:prstGeom prst="roundRect">
            <a:avLst>
              <a:gd name="adj" fmla="val 533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378601" y="1142851"/>
            <a:ext cx="711101" cy="711101"/>
          </a:xfrm>
          <a:prstGeom prst="roundRect">
            <a:avLst>
              <a:gd name="adj" fmla="val 12858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638060" y="1346002"/>
            <a:ext cx="1920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09867" y="2057102"/>
            <a:ext cx="16485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9867" y="2326928"/>
            <a:ext cx="164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통합모니터링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86302" y="2631728"/>
            <a:ext cx="1536918" cy="18276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현황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86302" y="2814489"/>
            <a:ext cx="1536918" cy="18276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대시보드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86302" y="2997250"/>
            <a:ext cx="1536918" cy="18276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생성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797475"/>
            <a:ext cx="1472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물류관리 시스템 구축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18637" y="4797475"/>
            <a:ext cx="74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0"/>
            <a:ext cx="1199019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3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39901"/>
            <a:ext cx="12042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0901"/>
            <a:ext cx="196354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전략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682901"/>
            <a:ext cx="762000" cy="5075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183389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추진 전략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88950"/>
            <a:ext cx="2573982" cy="2964954"/>
          </a:xfrm>
          <a:prstGeom prst="roundRect">
            <a:avLst>
              <a:gd name="adj" fmla="val 394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917525"/>
            <a:ext cx="2573982" cy="0"/>
          </a:xfrm>
          <a:prstGeom prst="line">
            <a:avLst/>
          </a:prstGeom>
          <a:noFill/>
          <a:ln w="57150">
            <a:solidFill>
              <a:srgbClr val="1E51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250900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3678" y="1334988"/>
            <a:ext cx="1332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1101" y="1860352"/>
            <a:ext cx="2272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단계적 전환 전략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1101" y="2241352"/>
            <a:ext cx="227279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600"/>
              </a:spcAft>
              <a:buNone/>
            </a:pPr>
            <a:r>
              <a:rPr lang="en-US" sz="11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 Bang 방식이 아닌 모듈별 순차 전환으로 리스크 최소화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1101" y="2863602"/>
            <a:ext cx="2066181" cy="685502"/>
          </a:xfrm>
          <a:prstGeom prst="roundRect">
            <a:avLst>
              <a:gd name="adj" fmla="val 74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3501" y="3016002"/>
            <a:ext cx="193751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WMS → TMS → OMS → Dashboard 순차 오픈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85083" y="888950"/>
            <a:ext cx="2573982" cy="2964954"/>
          </a:xfrm>
          <a:prstGeom prst="roundRect">
            <a:avLst>
              <a:gd name="adj" fmla="val 394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85083" y="917525"/>
            <a:ext cx="2573982" cy="0"/>
          </a:xfrm>
          <a:prstGeom prst="line">
            <a:avLst/>
          </a:prstGeom>
          <a:noFill/>
          <a:ln w="57150">
            <a:solidFill>
              <a:srgbClr val="1E51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984" y="1250900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81561" y="1334988"/>
            <a:ext cx="1332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38984" y="1860352"/>
            <a:ext cx="2272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애자일 기반 개발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38984" y="2241352"/>
            <a:ext cx="227279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600"/>
              </a:spcAft>
              <a:buNone/>
            </a:pPr>
            <a:r>
              <a:rPr lang="en-US" sz="11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단위 스프린트로 빠른 피드백과 유연한 대응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38984" y="2863602"/>
            <a:ext cx="2066181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91384" y="3016002"/>
            <a:ext cx="193751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스프린트 리뷰 격주 금요일 진행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12966" y="888950"/>
            <a:ext cx="2573982" cy="2964954"/>
          </a:xfrm>
          <a:prstGeom prst="roundRect">
            <a:avLst>
              <a:gd name="adj" fmla="val 394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112966" y="917525"/>
            <a:ext cx="2573982" cy="0"/>
          </a:xfrm>
          <a:prstGeom prst="line">
            <a:avLst/>
          </a:prstGeom>
          <a:noFill/>
          <a:ln w="57150">
            <a:solidFill>
              <a:srgbClr val="1E51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6867" y="1250900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09445" y="1334988"/>
            <a:ext cx="1332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6867" y="1860352"/>
            <a:ext cx="2272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밀착 협업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6867" y="2241352"/>
            <a:ext cx="227279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600"/>
              </a:spcAft>
              <a:buNone/>
            </a:pPr>
            <a:r>
              <a:rPr lang="en-US" sz="11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2회 현업 리뷰를 통한 요구사항 정합성 확보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66867" y="2863602"/>
            <a:ext cx="2066181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19267" y="3016002"/>
            <a:ext cx="193751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화/목 현업 담당자 정기 미팅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97475"/>
            <a:ext cx="1472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물류관리 시스템 구축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18637" y="4797475"/>
            <a:ext cx="74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176513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88950"/>
            <a:ext cx="1905000" cy="2484686"/>
          </a:xfrm>
          <a:prstGeom prst="roundRect">
            <a:avLst>
              <a:gd name="adj" fmla="val 533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4900" y="1142851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66289" y="1309539"/>
            <a:ext cx="28682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415" y="1955602"/>
            <a:ext cx="1648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415" y="2257127"/>
            <a:ext cx="1648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Vue.js 3 + TypeScript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1851" y="2571452"/>
            <a:ext cx="1425267" cy="1827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 구조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1851" y="2754213"/>
            <a:ext cx="1425267" cy="1827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UI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1851" y="2936974"/>
            <a:ext cx="1425267" cy="1827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기반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5350" y="888950"/>
            <a:ext cx="1905000" cy="2484686"/>
          </a:xfrm>
          <a:prstGeom prst="roundRect">
            <a:avLst>
              <a:gd name="adj" fmla="val 533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13050" y="1142851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61186" y="1309539"/>
            <a:ext cx="31317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93566" y="1955602"/>
            <a:ext cx="1648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3566" y="2257127"/>
            <a:ext cx="1648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+ Java 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70002" y="2571452"/>
            <a:ext cx="1425267" cy="1827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구조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70002" y="2754213"/>
            <a:ext cx="1425267" cy="1827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RESTful API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70002" y="2936974"/>
            <a:ext cx="1425267" cy="1827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기반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3501" y="888950"/>
            <a:ext cx="1905000" cy="2484686"/>
          </a:xfrm>
          <a:prstGeom prst="roundRect">
            <a:avLst>
              <a:gd name="adj" fmla="val 533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21201" y="1142851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56895" y="1309539"/>
            <a:ext cx="33806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1716" y="1955602"/>
            <a:ext cx="1648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1716" y="2257127"/>
            <a:ext cx="1648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+ Redis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78152" y="2571452"/>
            <a:ext cx="1425267" cy="1827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RDBMS + Cache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78152" y="2754213"/>
            <a:ext cx="1425267" cy="1827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고가용성 구성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78152" y="2936974"/>
            <a:ext cx="1425267" cy="1827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처리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81651" y="888950"/>
            <a:ext cx="1905000" cy="2484686"/>
          </a:xfrm>
          <a:prstGeom prst="roundRect">
            <a:avLst>
              <a:gd name="adj" fmla="val 533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429351" y="1142851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620871" y="1309539"/>
            <a:ext cx="22641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9867" y="1955602"/>
            <a:ext cx="1648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AI/ML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9867" y="2257127"/>
            <a:ext cx="1648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+ TensorFlow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302" y="2571452"/>
            <a:ext cx="1425267" cy="1827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예측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86302" y="2754213"/>
            <a:ext cx="1425267" cy="1827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최적화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86302" y="2936974"/>
            <a:ext cx="1425267" cy="1827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탐지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797475"/>
            <a:ext cx="1472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물류관리 시스템 구축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18637" y="4797475"/>
            <a:ext cx="74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0"/>
            <a:ext cx="1199019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3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39901"/>
            <a:ext cx="12042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0901"/>
            <a:ext cx="25388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및 역할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682901"/>
            <a:ext cx="762000" cy="5075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33852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조직 및 투입 인력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83050" y="888950"/>
            <a:ext cx="1777901" cy="822275"/>
          </a:xfrm>
          <a:prstGeom prst="roundRect">
            <a:avLst>
              <a:gd name="adj" fmla="val 9267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73445" y="1041350"/>
            <a:ext cx="13971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발주기관 PM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73445" y="1234976"/>
            <a:ext cx="1397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정민호 부장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73445" y="1415951"/>
            <a:ext cx="13971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(주)글로벌물류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59350" y="1863626"/>
            <a:ext cx="25301" cy="253901"/>
          </a:xfrm>
          <a:prstGeom prst="rect">
            <a:avLst/>
          </a:prstGeom>
          <a:solidFill>
            <a:srgbClr val="AAB7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83050" y="2117527"/>
            <a:ext cx="1777901" cy="822275"/>
          </a:xfrm>
          <a:prstGeom prst="roundRect">
            <a:avLst>
              <a:gd name="adj" fmla="val 926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73445" y="2269927"/>
            <a:ext cx="13971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수행사 PM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73445" y="2463552"/>
            <a:ext cx="1397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김철수 차장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73445" y="2644527"/>
            <a:ext cx="13971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대리인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59350" y="3092202"/>
            <a:ext cx="25301" cy="253901"/>
          </a:xfrm>
          <a:prstGeom prst="rect">
            <a:avLst/>
          </a:prstGeom>
          <a:solidFill>
            <a:srgbClr val="AAB7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31504" y="3600004"/>
            <a:ext cx="1117848" cy="584002"/>
          </a:xfrm>
          <a:prstGeom prst="roundRect">
            <a:avLst>
              <a:gd name="adj" fmla="val 1304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050554" y="3600004"/>
            <a:ext cx="0" cy="584002"/>
          </a:xfrm>
          <a:prstGeom prst="line">
            <a:avLst/>
          </a:prstGeom>
          <a:noFill/>
          <a:ln w="38100">
            <a:solidFill>
              <a:srgbClr val="1E51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9082" y="3726954"/>
            <a:ext cx="740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 (아키텍트)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39082" y="3895130"/>
            <a:ext cx="7407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박준형 책임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2502" y="3600004"/>
            <a:ext cx="1117848" cy="584002"/>
          </a:xfrm>
          <a:prstGeom prst="roundRect">
            <a:avLst>
              <a:gd name="adj" fmla="val 1304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71552" y="3600004"/>
            <a:ext cx="0" cy="584002"/>
          </a:xfrm>
          <a:prstGeom prst="line">
            <a:avLst/>
          </a:prstGeom>
          <a:noFill/>
          <a:ln w="38100">
            <a:solidFill>
              <a:srgbClr val="1E51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0080" y="3726954"/>
            <a:ext cx="740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리더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0080" y="3895130"/>
            <a:ext cx="7407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최수진 선임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73501" y="3600004"/>
            <a:ext cx="1117848" cy="584002"/>
          </a:xfrm>
          <a:prstGeom prst="roundRect">
            <a:avLst>
              <a:gd name="adj" fmla="val 1304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92551" y="3600004"/>
            <a:ext cx="0" cy="584002"/>
          </a:xfrm>
          <a:prstGeom prst="line">
            <a:avLst/>
          </a:prstGeom>
          <a:noFill/>
          <a:ln w="38100">
            <a:solidFill>
              <a:srgbClr val="1E51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1079" y="3726954"/>
            <a:ext cx="740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담당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81079" y="3895130"/>
            <a:ext cx="7407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한미영 대리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94499" y="3600004"/>
            <a:ext cx="1117848" cy="584002"/>
          </a:xfrm>
          <a:prstGeom prst="roundRect">
            <a:avLst>
              <a:gd name="adj" fmla="val 1304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13549" y="3600004"/>
            <a:ext cx="0" cy="584002"/>
          </a:xfrm>
          <a:prstGeom prst="line">
            <a:avLst/>
          </a:prstGeom>
          <a:noFill/>
          <a:ln w="38100">
            <a:solidFill>
              <a:srgbClr val="1E51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2077" y="3726954"/>
            <a:ext cx="740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02077" y="3895130"/>
            <a:ext cx="7407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오현우 대리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54738" y="3670548"/>
            <a:ext cx="1732062" cy="838051"/>
          </a:xfrm>
          <a:prstGeom prst="roundRect">
            <a:avLst>
              <a:gd name="adj" fmla="val 1212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259538" y="3873698"/>
            <a:ext cx="12347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8명 / 78MM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59538" y="4143524"/>
            <a:ext cx="12347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투입 계획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797475"/>
            <a:ext cx="149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0"/>
            <a:ext cx="1199019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3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39901"/>
            <a:ext cx="12042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0901"/>
            <a:ext cx="288884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일정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682901"/>
            <a:ext cx="762000" cy="5075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303356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 일정 및 마일스톤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523851"/>
            <a:ext cx="8229600" cy="50750"/>
          </a:xfrm>
          <a:prstGeom prst="rect">
            <a:avLst/>
          </a:prstGeom>
          <a:solidFill>
            <a:srgbClr val="D8E9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65150" y="13969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E5128"/>
          </a:solidFill>
          <a:ln w="38100">
            <a:solidFill>
              <a:srgbClr val="D8E9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3702" y="1803202"/>
            <a:ext cx="1396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0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702" y="2006352"/>
            <a:ext cx="1396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702" y="2193578"/>
            <a:ext cx="1396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56991" y="13969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E5128"/>
          </a:solidFill>
          <a:ln w="38100">
            <a:solidFill>
              <a:srgbClr val="D8E9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85543" y="1803202"/>
            <a:ext cx="1396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0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02-03월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5543" y="2006352"/>
            <a:ext cx="1396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5543" y="2193578"/>
            <a:ext cx="1396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8832" y="13969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E5128"/>
          </a:solidFill>
          <a:ln w="38100">
            <a:solidFill>
              <a:srgbClr val="D8E9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77384" y="1803202"/>
            <a:ext cx="1396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0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04-05월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77384" y="2006352"/>
            <a:ext cx="1396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77384" y="2193578"/>
            <a:ext cx="1396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40672" y="13969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E5128"/>
          </a:solidFill>
          <a:ln w="38100">
            <a:solidFill>
              <a:srgbClr val="D8E9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69224" y="1803202"/>
            <a:ext cx="1396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0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06-09월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69224" y="2006352"/>
            <a:ext cx="1396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69224" y="2193578"/>
            <a:ext cx="1396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32513" y="13969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E5128"/>
          </a:solidFill>
          <a:ln w="38100">
            <a:solidFill>
              <a:srgbClr val="D8E9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61065" y="1803202"/>
            <a:ext cx="1396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0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10-11월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61065" y="2006352"/>
            <a:ext cx="1396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61065" y="2193578"/>
            <a:ext cx="1396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24354" y="13969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E5128"/>
          </a:solidFill>
          <a:ln w="38100">
            <a:solidFill>
              <a:srgbClr val="D8E9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352906" y="1803202"/>
            <a:ext cx="1396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0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11-12월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52906" y="2006352"/>
            <a:ext cx="1396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52906" y="2193578"/>
            <a:ext cx="1396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793950"/>
            <a:ext cx="9052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마일스톤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3165425"/>
            <a:ext cx="1244650" cy="844451"/>
          </a:xfrm>
          <a:prstGeom prst="roundRect">
            <a:avLst>
              <a:gd name="adj" fmla="val 902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6250" y="3165425"/>
            <a:ext cx="0" cy="844451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700" y="3317825"/>
            <a:ext cx="991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7700" y="3511451"/>
            <a:ext cx="991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착수보고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7700" y="3714601"/>
            <a:ext cx="991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2025-01-10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54250" y="3165425"/>
            <a:ext cx="1244650" cy="844451"/>
          </a:xfrm>
          <a:prstGeom prst="roundRect">
            <a:avLst>
              <a:gd name="adj" fmla="val 902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1873300" y="3165425"/>
            <a:ext cx="0" cy="844451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44750" y="3317825"/>
            <a:ext cx="991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44750" y="3511451"/>
            <a:ext cx="991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확정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044750" y="3714601"/>
            <a:ext cx="991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2025-03-31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51299" y="3165425"/>
            <a:ext cx="1244650" cy="844451"/>
          </a:xfrm>
          <a:prstGeom prst="roundRect">
            <a:avLst>
              <a:gd name="adj" fmla="val 902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3270349" y="3165425"/>
            <a:ext cx="0" cy="844451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41799" y="3317825"/>
            <a:ext cx="991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41799" y="3511451"/>
            <a:ext cx="991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완료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41799" y="3714601"/>
            <a:ext cx="991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2025-05-31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48349" y="3165425"/>
            <a:ext cx="1244650" cy="844451"/>
          </a:xfrm>
          <a:prstGeom prst="roundRect">
            <a:avLst>
              <a:gd name="adj" fmla="val 902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667399" y="3165425"/>
            <a:ext cx="0" cy="844451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8849" y="3317825"/>
            <a:ext cx="991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38849" y="3511451"/>
            <a:ext cx="991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완료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38849" y="3714601"/>
            <a:ext cx="991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2025-09-30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45398" y="3165425"/>
            <a:ext cx="1244650" cy="844451"/>
          </a:xfrm>
          <a:prstGeom prst="roundRect">
            <a:avLst>
              <a:gd name="adj" fmla="val 902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064448" y="3165425"/>
            <a:ext cx="0" cy="844451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35898" y="3317825"/>
            <a:ext cx="991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35898" y="3511451"/>
            <a:ext cx="991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완료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35898" y="3714601"/>
            <a:ext cx="991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2025-11-15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42448" y="3165425"/>
            <a:ext cx="1244650" cy="844451"/>
          </a:xfrm>
          <a:prstGeom prst="roundRect">
            <a:avLst>
              <a:gd name="adj" fmla="val 902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7461498" y="3165425"/>
            <a:ext cx="0" cy="844451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32948" y="3317825"/>
            <a:ext cx="991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9F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632948" y="3511451"/>
            <a:ext cx="991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오픈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632948" y="3714601"/>
            <a:ext cx="991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2025-12-01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7200" y="4797475"/>
            <a:ext cx="1472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물류관리 시스템 구축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550473" y="4797475"/>
            <a:ext cx="149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0"/>
            <a:ext cx="1199019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3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39901"/>
            <a:ext cx="120425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920901"/>
            <a:ext cx="357692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및 위험 관리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682901"/>
            <a:ext cx="762000" cy="5075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281975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1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위험 및 대응 방안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88950"/>
            <a:ext cx="8229600" cy="431602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1015901"/>
            <a:ext cx="54532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요소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23257" y="1015901"/>
            <a:ext cx="3855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21075" y="1015901"/>
            <a:ext cx="51405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발생확률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60602" y="1015901"/>
            <a:ext cx="54532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방안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77287" y="1015901"/>
            <a:ext cx="25702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89807"/>
            <a:ext cx="8229600" cy="0"/>
          </a:xfrm>
          <a:prstGeom prst="line">
            <a:avLst/>
          </a:prstGeom>
          <a:noFill/>
          <a:ln w="9525">
            <a:solidFill>
              <a:srgbClr val="D8E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701" y="1463873"/>
            <a:ext cx="80218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변경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1915" y="1447502"/>
            <a:ext cx="308223" cy="210592"/>
          </a:xfrm>
          <a:prstGeom prst="roundRect">
            <a:avLst>
              <a:gd name="adj" fmla="val 24122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58155" y="1472803"/>
            <a:ext cx="115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23915" y="1447502"/>
            <a:ext cx="308223" cy="210592"/>
          </a:xfrm>
          <a:prstGeom prst="roundRect">
            <a:avLst>
              <a:gd name="adj" fmla="val 24122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20155" y="1472803"/>
            <a:ext cx="115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60602" y="1463873"/>
            <a:ext cx="18615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CCB 통해 통제, 영향도 분석 필수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04954" y="1463873"/>
            <a:ext cx="20169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1794570"/>
            <a:ext cx="8229600" cy="474018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2263825"/>
            <a:ext cx="8229600" cy="0"/>
          </a:xfrm>
          <a:prstGeom prst="line">
            <a:avLst/>
          </a:prstGeom>
          <a:noFill/>
          <a:ln w="9525">
            <a:solidFill>
              <a:srgbClr val="D8E9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701" y="1937891"/>
            <a:ext cx="54532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지연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1915" y="1921520"/>
            <a:ext cx="308223" cy="210592"/>
          </a:xfrm>
          <a:prstGeom prst="roundRect">
            <a:avLst>
              <a:gd name="adj" fmla="val 24122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58155" y="1946821"/>
            <a:ext cx="115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23915" y="1921520"/>
            <a:ext cx="308223" cy="210592"/>
          </a:xfrm>
          <a:prstGeom prst="roundRect">
            <a:avLst>
              <a:gd name="adj" fmla="val 24122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20155" y="1946821"/>
            <a:ext cx="115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60602" y="1937891"/>
            <a:ext cx="247350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진척관리, Critical Path 집중 모니터링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04954" y="1937891"/>
            <a:ext cx="20169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737842"/>
            <a:ext cx="8229600" cy="0"/>
          </a:xfrm>
          <a:prstGeom prst="line">
            <a:avLst/>
          </a:prstGeom>
          <a:noFill/>
          <a:ln w="9525">
            <a:solidFill>
              <a:srgbClr val="D8E9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8701" y="2411909"/>
            <a:ext cx="67367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난제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61915" y="2395538"/>
            <a:ext cx="308223" cy="210592"/>
          </a:xfrm>
          <a:prstGeom prst="roundRect">
            <a:avLst>
              <a:gd name="adj" fmla="val 24122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558155" y="2420838"/>
            <a:ext cx="115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23915" y="2395538"/>
            <a:ext cx="308223" cy="210592"/>
          </a:xfrm>
          <a:prstGeom prst="roundRect">
            <a:avLst>
              <a:gd name="adj" fmla="val 24122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320155" y="2420838"/>
            <a:ext cx="115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60602" y="2411909"/>
            <a:ext cx="156605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선행, 외부 전문가 자문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0998" y="2411909"/>
            <a:ext cx="16960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2742605"/>
            <a:ext cx="8229600" cy="474018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57200" y="3211860"/>
            <a:ext cx="8229600" cy="0"/>
          </a:xfrm>
          <a:prstGeom prst="line">
            <a:avLst/>
          </a:prstGeom>
          <a:noFill/>
          <a:ln w="9525">
            <a:solidFill>
              <a:srgbClr val="D8E9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8701" y="2885926"/>
            <a:ext cx="54532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 이탈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61915" y="2869555"/>
            <a:ext cx="308223" cy="210592"/>
          </a:xfrm>
          <a:prstGeom prst="roundRect">
            <a:avLst>
              <a:gd name="adj" fmla="val 24122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558155" y="2894856"/>
            <a:ext cx="115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23915" y="2869555"/>
            <a:ext cx="308223" cy="210592"/>
          </a:xfrm>
          <a:prstGeom prst="roundRect">
            <a:avLst>
              <a:gd name="adj" fmla="val 24122"/>
            </a:avLst>
          </a:prstGeom>
          <a:solidFill>
            <a:srgbClr val="D8E9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20155" y="2894856"/>
            <a:ext cx="115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60602" y="2885926"/>
            <a:ext cx="201282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인력 풀 확보, 기술 문서화 강화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04954" y="2885926"/>
            <a:ext cx="20169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685877"/>
            <a:ext cx="8229600" cy="0"/>
          </a:xfrm>
          <a:prstGeom prst="line">
            <a:avLst/>
          </a:prstGeom>
          <a:noFill/>
          <a:ln w="9525">
            <a:solidFill>
              <a:srgbClr val="D8E9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8701" y="3359944"/>
            <a:ext cx="118755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마이그레이션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461915" y="3343573"/>
            <a:ext cx="308223" cy="210592"/>
          </a:xfrm>
          <a:prstGeom prst="roundRect">
            <a:avLst>
              <a:gd name="adj" fmla="val 24122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2558155" y="3368873"/>
            <a:ext cx="115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23915" y="3343573"/>
            <a:ext cx="308223" cy="210592"/>
          </a:xfrm>
          <a:prstGeom prst="roundRect">
            <a:avLst>
              <a:gd name="adj" fmla="val 24122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320155" y="3368873"/>
            <a:ext cx="115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860602" y="3359944"/>
            <a:ext cx="143640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검증, 롤백 계획 수립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69436" y="3359944"/>
            <a:ext cx="27257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91A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4797475"/>
            <a:ext cx="1472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물류관리 시스템 구축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550473" y="4797475"/>
            <a:ext cx="149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0" y="0"/>
            <a:ext cx="762000" cy="51435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" y="1269950"/>
            <a:ext cx="905256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936950" y="2257276"/>
            <a:ext cx="1269950" cy="381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" y="2539901"/>
            <a:ext cx="905256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성공적 완수를 위해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" y="2864941"/>
            <a:ext cx="9052560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최선을 다하겠습니다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" y="3682901"/>
            <a:ext cx="90525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(주)테크솔루션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" y="4060627"/>
            <a:ext cx="9052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E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김철수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수행계획서</dc:title>
  <dc:subject>착수보고</dc:subject>
  <dc:creator>(주)테크솔루션</dc:creator>
  <cp:lastModifiedBy>(주)테크솔루션</cp:lastModifiedBy>
  <cp:revision>1</cp:revision>
  <dcterms:created xsi:type="dcterms:W3CDTF">2026-01-09T06:55:01Z</dcterms:created>
  <dcterms:modified xsi:type="dcterms:W3CDTF">2026-01-09T06:55:01Z</dcterms:modified>
</cp:coreProperties>
</file>