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4099" y="0"/>
            <a:ext cx="2539901" cy="5143500"/>
          </a:xfrm>
          <a:prstGeom prst="rect">
            <a:avLst/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148879"/>
            <a:ext cx="1357313" cy="253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1199629"/>
            <a:ext cx="10735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1605930"/>
            <a:ext cx="5635142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물류관리 시스템 구축</a:t>
            </a:r>
            <a:endParaRPr lang="en-US" sz="3600" dirty="0"/>
          </a:p>
          <a:p>
            <a:pPr algn="l" indent="0" marL="0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수행계획서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34901" y="2946871"/>
            <a:ext cx="56351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차세대 AI 기반 물류 최적화 프로젝트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35374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발주: (주)글로벌물류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36898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수행: (주)테크솔루션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38422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72784" y="4591050"/>
            <a:ext cx="1261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SOLUTION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14243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015901"/>
            <a:ext cx="0" cy="2029271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2526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2526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2526" y="2060228"/>
            <a:ext cx="936180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목적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8150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131963" y="1015901"/>
            <a:ext cx="0" cy="202927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9676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09676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전략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09676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35301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59113" y="1015901"/>
            <a:ext cx="0" cy="2029271"/>
          </a:xfrm>
          <a:prstGeom prst="line">
            <a:avLst/>
          </a:prstGeom>
          <a:noFill/>
          <a:ln w="47625">
            <a:solidFill>
              <a:srgbClr val="B7D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682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3682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36827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구성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및 책임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62451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586264" y="1015901"/>
            <a:ext cx="0" cy="2029271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397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86397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63977" y="2060228"/>
            <a:ext cx="93618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89602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13414" y="1015901"/>
            <a:ext cx="0" cy="2029271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112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59112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계획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91127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</a:t>
            </a:r>
            <a:endParaRPr lang="en-US" sz="900" dirty="0"/>
          </a:p>
        </p:txBody>
      </p:sp>
      <p:pic>
        <p:nvPicPr>
          <p:cNvPr id="2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정보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98973" y="4365724"/>
            <a:ext cx="6548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목적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03018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57490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99302" y="48196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기본 정보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Top 5 물류기업 (주)글로벌물류의 차세대 스마트 물류관리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166813"/>
            <a:ext cx="1952625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0453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453" y="1679377"/>
            <a:ext cx="14737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(주)글로벌물류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0453" y="2320677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500만건+ 물류 처리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24125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24125" y="1166813"/>
            <a:ext cx="1952625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3578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63578" y="1679377"/>
            <a:ext cx="14737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(주)테크솔루션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63578" y="2320677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 전문기업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0" y="1166813"/>
            <a:ext cx="1952625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6703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계약금액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06703" y="1679377"/>
            <a:ext cx="1473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15억원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06703" y="20254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VAT 별도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0375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10375" y="1166813"/>
            <a:ext cx="1952625" cy="0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9828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계약기간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9828" y="1679377"/>
            <a:ext cx="1473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9828" y="20254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2025.01.06 ~ 2025.12.31</a:t>
            </a:r>
            <a:endParaRPr lang="en-US" sz="900" dirty="0"/>
          </a:p>
        </p:txBody>
      </p:sp>
      <p:pic>
        <p:nvPicPr>
          <p:cNvPr id="25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0320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배경 및 목적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0320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시스템 노후화 해결 및 차세대 스마트 물류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323" y="1252538"/>
            <a:ext cx="576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150" y="1285875"/>
            <a:ext cx="9607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문제점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790700"/>
            <a:ext cx="4000500" cy="1730127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1790700"/>
            <a:ext cx="0" cy="1730127"/>
          </a:xfrm>
          <a:prstGeom prst="line">
            <a:avLst/>
          </a:prstGeom>
          <a:noFill/>
          <a:ln w="47625">
            <a:solidFill>
              <a:srgbClr val="757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125" y="1981200"/>
            <a:ext cx="3571875" cy="122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10년 이상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운영된 레거시 시스템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급증하는 물동량 대응 한계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속도 저하 및 병목 현상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 파악 불가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시스템 연동 한계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62500" y="11430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5375" y="1247775"/>
            <a:ext cx="1748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6650" y="1285875"/>
            <a:ext cx="6261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목표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0" y="1790700"/>
            <a:ext cx="4000500" cy="1730127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86313" y="1790700"/>
            <a:ext cx="0" cy="1730127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0625" y="1981200"/>
            <a:ext cx="3571875" cy="122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물류 최적화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재고/배송 추적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기반 확장성 확보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아키텍처로 유연성 강화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의사결정 지원</a:t>
            </a:r>
            <a:endParaRPr lang="en-US" sz="1000" dirty="0"/>
          </a:p>
        </p:txBody>
      </p:sp>
      <p:pic>
        <p:nvPicPr>
          <p:cNvPr id="17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2209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2209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 시스템 도입으로 운영 효율 극대화 및 비용 절감 달성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74410" y="1693813"/>
            <a:ext cx="461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24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9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물류 처리 효율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9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경로 최적화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프로세스 도입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68655" y="1693813"/>
            <a:ext cx="8066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91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달성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6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정확도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6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 추적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재고 조정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7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08410" y="1693813"/>
            <a:ext cx="461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58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절감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73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비용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73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인프라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자동화</a:t>
            </a:r>
            <a:endParaRPr lang="en-US" sz="900" dirty="0"/>
          </a:p>
        </p:txBody>
      </p:sp>
      <p:pic>
        <p:nvPicPr>
          <p:cNvPr id="20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1576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157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핵심 시스템으로 물류 전 프로세스 통합 관리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9862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4959" y="1566714"/>
            <a:ext cx="2445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0453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0453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창고관리시스템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901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입출고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피킹/패킹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24125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82987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1197" y="1566714"/>
            <a:ext cx="1583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63578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63578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배송관리시스템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78026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배차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최적화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추적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7250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26112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42766" y="1566714"/>
            <a:ext cx="2014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06703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06703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주문관리시스템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21151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접수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할당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 처리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0375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69237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93025" y="1566714"/>
            <a:ext cx="1871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9828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9828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통합모니터링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64276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현황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모니터링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900" dirty="0"/>
          </a:p>
        </p:txBody>
      </p:sp>
      <p:pic>
        <p:nvPicPr>
          <p:cNvPr id="29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34544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34544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전략 및 방법론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34544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 &amp;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77145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99302" y="48196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063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추진 전략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0638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"안정적 전환"과 "혁신적 기능 구현"의 균형을 핵심 가치로 추진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37172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98450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 전환 전략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8450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 Bang 방식이 아닌 모듈별 순차 전환으로 리스크 최소화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8450" y="2202954"/>
            <a:ext cx="965299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0850" y="2494955"/>
            <a:ext cx="6737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최소화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59634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15805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577084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애자일 기반 개발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7084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 단위 스프린트로 빠른 피드백과 유연한 대응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77084" y="2202954"/>
            <a:ext cx="860524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29484" y="2494955"/>
            <a:ext cx="566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피드백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8267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94439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55718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밀착 협업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5718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2회 현업 리뷰를 통한 요구사항 정합성 확보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55718" y="2202954"/>
            <a:ext cx="860524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08118" y="2494955"/>
            <a:ext cx="566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정합성 확보</a:t>
            </a:r>
            <a:endParaRPr lang="en-US" sz="900" dirty="0"/>
          </a:p>
        </p:txBody>
      </p:sp>
      <p:pic>
        <p:nvPicPr>
          <p:cNvPr id="23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989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9898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Agile-Waterfall 하이브리드 방법론으로 안정성과 유연성 결합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1751112" cy="355402"/>
          </a:xfrm>
          <a:prstGeom prst="roundRect">
            <a:avLst>
              <a:gd name="adj" fmla="val 14294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1180951"/>
            <a:ext cx="1371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Agile-Waterfall Hybrid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4401" y="1674763"/>
            <a:ext cx="1968698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42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42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정의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분석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3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19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요구사항정의서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분석서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39901" y="1650950"/>
            <a:ext cx="1968698" cy="1460748"/>
          </a:xfrm>
          <a:prstGeom prst="roundRect">
            <a:avLst>
              <a:gd name="adj" fmla="val 69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39901" y="1674763"/>
            <a:ext cx="1968698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97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497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UI/DB 설계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66851" y="2654498"/>
            <a:ext cx="1714798" cy="266700"/>
          </a:xfrm>
          <a:prstGeom prst="roundRect">
            <a:avLst>
              <a:gd name="adj" fmla="val 1904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27427" y="2730698"/>
            <a:ext cx="15936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354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35401" y="1674763"/>
            <a:ext cx="1968698" cy="0"/>
          </a:xfrm>
          <a:prstGeom prst="line">
            <a:avLst/>
          </a:prstGeom>
          <a:noFill/>
          <a:ln w="47625">
            <a:solidFill>
              <a:srgbClr val="B7D0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2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452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구현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23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229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단위테스트결과서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309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730901" y="1674763"/>
            <a:ext cx="1968698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07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테스트/이행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407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통합/인수 테스트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전환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78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184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테스트결과서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이행계획서</a:t>
            </a:r>
            <a:endParaRPr lang="en-US" sz="800" dirty="0"/>
          </a:p>
        </p:txBody>
      </p:sp>
      <p:pic>
        <p:nvPicPr>
          <p:cNvPr id="31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5452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545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기술 스택 기반 클라우드 네이티브 MSA 아키텍처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752" y="1255663"/>
            <a:ext cx="518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96901" y="1079450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1676251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1896" y="1852464"/>
            <a:ext cx="503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96901" y="1676251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1000" y="2273052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7190" y="2449264"/>
            <a:ext cx="554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96901" y="2273052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1000" y="2869853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1851" y="3046065"/>
            <a:ext cx="2591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6901" y="2869853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1000" y="3466654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3156" y="3642866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96901" y="3466654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5041" y="4724400"/>
            <a:ext cx="1534269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593211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44235" y="4772025"/>
            <a:ext cx="1211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Organization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구성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6548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및 책임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12418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4738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473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발주기관-수행사 협력 체계로 효율적인 프로젝트 수행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0" y="1079450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33813" y="1079450"/>
            <a:ext cx="0" cy="806351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0075" y="1231850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 PM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50075" y="1415951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정민호 부장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50075" y="1619101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총괄 관리, 의사결정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59350" y="2076301"/>
            <a:ext cx="25301" cy="190500"/>
          </a:xfrm>
          <a:prstGeom prst="rect">
            <a:avLst/>
          </a:prstGeom>
          <a:solidFill>
            <a:srgbClr val="B6B6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09292" y="2266801"/>
            <a:ext cx="1547515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933105" y="2266801"/>
            <a:ext cx="0" cy="806351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9132" y="2419201"/>
            <a:ext cx="111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수행사 PM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9132" y="2603302"/>
            <a:ext cx="11154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김철수 차장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49132" y="2806452"/>
            <a:ext cx="11154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총괄, 품질/위험 관리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10708" y="2266801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34520" y="2266801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0782" y="2419201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50782" y="260330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이영희 과장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0782" y="2806452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관리 지원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59350" y="3263652"/>
            <a:ext cx="25301" cy="190500"/>
          </a:xfrm>
          <a:prstGeom prst="rect">
            <a:avLst/>
          </a:prstGeom>
          <a:solidFill>
            <a:srgbClr val="B6B6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43149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166961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3223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 (아키텍트)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83223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박준형 책임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83223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설계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1050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944862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1124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리더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61124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최수진 선임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61124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총괄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8950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22763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9025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담당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9025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한미영 대리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9025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관리, 테스트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76851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500664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6926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16926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오현우 대리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16926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설계 및 튜닝</a:t>
            </a:r>
            <a:endParaRPr lang="en-US" sz="800" dirty="0"/>
          </a:p>
        </p:txBody>
      </p:sp>
      <p:pic>
        <p:nvPicPr>
          <p:cNvPr id="42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5302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 현황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5302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8명, 78MM 투입으로 전문 인력 기반 프로젝트 수행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3883223"/>
            <a:ext cx="1142851" cy="625376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3883223"/>
            <a:ext cx="0" cy="625376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526" y="4010174"/>
            <a:ext cx="599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투입 인원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2526" y="4143524"/>
            <a:ext cx="5991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4851" y="3883223"/>
            <a:ext cx="1176338" cy="625376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928664" y="3883223"/>
            <a:ext cx="0" cy="625376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06377" y="4010174"/>
            <a:ext cx="6333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투입 공수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06377" y="4143524"/>
            <a:ext cx="6333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 MM</a:t>
            </a:r>
            <a:endParaRPr lang="en-US" sz="1600" dirty="0"/>
          </a:p>
        </p:txBody>
      </p:sp>
      <p:pic>
        <p:nvPicPr>
          <p:cNvPr id="13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Schedule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03673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6462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6462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 48주 (12개월) 프로젝트 수행 일정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3458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269950"/>
            <a:ext cx="1397050" cy="634901"/>
          </a:xfrm>
          <a:prstGeom prst="roundRect">
            <a:avLst>
              <a:gd name="adj" fmla="val 5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515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169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169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1698" y="2444651"/>
            <a:ext cx="1295653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킥오프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환경구축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표준정의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78050" y="1269950"/>
            <a:ext cx="1397050" cy="634901"/>
          </a:xfrm>
          <a:prstGeom prst="rect">
            <a:avLst/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6220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74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74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748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확정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분석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75099" y="1269950"/>
            <a:ext cx="1397050" cy="634901"/>
          </a:xfrm>
          <a:prstGeom prst="rect">
            <a:avLst/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5925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579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4~5월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2579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25798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화면/DB 설계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149" y="1269950"/>
            <a:ext cx="1397050" cy="634901"/>
          </a:xfrm>
          <a:prstGeom prst="rect">
            <a:avLst/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56299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2847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6~9월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2847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2847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69198" y="1269950"/>
            <a:ext cx="1397050" cy="634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96199" y="1515963"/>
            <a:ext cx="349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9897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10~11월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19897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19897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인수 테스트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66248" y="1269950"/>
            <a:ext cx="1397050" cy="634901"/>
          </a:xfrm>
          <a:prstGeom prst="rect">
            <a:avLst/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50398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16946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11~12월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16946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16946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안정화</a:t>
            </a:r>
            <a:endParaRPr lang="en-US" sz="800" dirty="0"/>
          </a:p>
        </p:txBody>
      </p:sp>
      <p:pic>
        <p:nvPicPr>
          <p:cNvPr id="36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488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4883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마일스톤 기준 프로젝트 진척 관리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460450"/>
            <a:ext cx="8382000" cy="50750"/>
          </a:xfrm>
          <a:prstGeom prst="roundRect">
            <a:avLst>
              <a:gd name="adj" fmla="val 50049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7875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7030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7030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착수보고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7030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2025.01.10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7030" y="2339876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수행계획서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4925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4B65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64079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64079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확정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64079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2025.03.31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64079" y="2339876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요구사항정의서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7197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75757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61129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61129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완료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61129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2025.05.31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61129" y="2339876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설계서 일체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902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B7D0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5817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5817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완료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5817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2025.09.30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58178" y="2339876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6607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C51F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5522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5522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완료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5522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2025.11.15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55228" y="2339876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테스트결과서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63123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E9B8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35227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5227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오픈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5227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2025.12.01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52278" y="2339876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오픈보고서</a:t>
            </a:r>
            <a:endParaRPr lang="en-US" sz="1200" dirty="0"/>
          </a:p>
        </p:txBody>
      </p:sp>
      <p:pic>
        <p:nvPicPr>
          <p:cNvPr id="36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1669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16697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계획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1669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Management Plan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62845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1737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1737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품질 보증 활동으로 고품질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77962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60157" y="151760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646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검토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646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말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 담당자 검토 및 승인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7962" y="2800052"/>
            <a:ext cx="5585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01866" y="2850803"/>
            <a:ext cx="3107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PM/PL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24125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21087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31784" y="1517600"/>
            <a:ext cx="337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37771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37771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PR 필수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2인 이상 승인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82987" y="2800052"/>
            <a:ext cx="634901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06127" y="2850803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개발리더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7250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64212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36692" y="15176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80896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분석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80896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SonarQube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게이트 적용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3240" y="2800052"/>
            <a:ext cx="400645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68723" y="2850803"/>
            <a:ext cx="1496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10375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07337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79817" y="15176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24021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24021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기반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통합/인수 테스트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76976" y="2800052"/>
            <a:ext cx="619274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600273" y="2850803"/>
            <a:ext cx="3726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QA/현업</a:t>
            </a:r>
            <a:endParaRPr lang="en-US" sz="800" dirty="0"/>
          </a:p>
        </p:txBody>
      </p:sp>
      <p:pic>
        <p:nvPicPr>
          <p:cNvPr id="33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358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358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정보보안 및 개인정보보호 체계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47800" y="1269802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14550" y="1941314"/>
            <a:ext cx="1943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4424" y="3047702"/>
            <a:ext cx="3730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정책 준수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4424" y="3327053"/>
            <a:ext cx="373075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고객사 보안 정책 및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개인정보보호법 준수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보안 점검 수행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2501" y="10159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83013" y="12730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92601" y="12445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통제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92601" y="14350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기반 접근 제어(RBAC) / 2FA 인증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2501" y="19303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25876" y="2139851"/>
            <a:ext cx="1748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92601" y="21589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암호화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92601" y="23494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전송 중(TLS 1.3) / 저장 시(AES-256) 암호화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92501" y="28447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83013" y="31018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92601" y="30733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감사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92601" y="32638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모니터링 / 취약점 스캔 / 침투 테스트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92501" y="37591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83013" y="40162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92601" y="39877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보호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92601" y="41782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 처리 / 동의 관리 / 파기 정책</a:t>
            </a:r>
            <a:endParaRPr lang="en-US" sz="800" dirty="0"/>
          </a:p>
        </p:txBody>
      </p:sp>
      <p:pic>
        <p:nvPicPr>
          <p:cNvPr id="25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19648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19648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리스크 식별 및 대응 전략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91171" y="1593652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92672" y="1618952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91171" y="2021979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92672" y="204728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91171" y="2450306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92672" y="2475607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91171" y="2878634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92672" y="2903934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91171" y="3306961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92672" y="3332262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351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2702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14054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</a:t>
            </a:r>
            <a:endParaRPr lang="en-US" sz="800" dirty="0"/>
          </a:p>
        </p:txBody>
      </p:sp>
      <p:pic>
        <p:nvPicPr>
          <p:cNvPr id="1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050" y="126950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4B658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6950" y="3492550"/>
            <a:ext cx="1269950" cy="1269950"/>
          </a:xfrm>
          <a:prstGeom prst="roundRect">
            <a:avLst>
              <a:gd name="adj" fmla="val 50002"/>
            </a:avLst>
          </a:prstGeom>
          <a:solidFill>
            <a:srgbClr val="B7D0D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65032" y="1713086"/>
            <a:ext cx="341393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865032" y="2363912"/>
            <a:ext cx="3413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물류관리 시스템 구축 제안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4475" y="2789262"/>
            <a:ext cx="634901" cy="3810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92019" y="3081263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92019" y="3278014"/>
            <a:ext cx="661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홍길동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55553" y="3081263"/>
            <a:ext cx="886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55553" y="3278014"/>
            <a:ext cx="8868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02-1234-5678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39209" y="3081263"/>
            <a:ext cx="1218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39209" y="3278014"/>
            <a:ext cx="1218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pm@company.com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9530" y="4556224"/>
            <a:ext cx="1698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DONGKUK SYSTEMS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수행계획서</dc:title>
  <dc:subject>프로젝트 수행계획서</dc:subject>
  <dc:creator>Claude Code</dc:creator>
  <cp:lastModifiedBy>Claude Code</cp:lastModifiedBy>
  <cp:revision>1</cp:revision>
  <dcterms:created xsi:type="dcterms:W3CDTF">2026-01-09T03:31:10Z</dcterms:created>
  <dcterms:modified xsi:type="dcterms:W3CDTF">2026-01-09T03:31:10Z</dcterms:modified>
</cp:coreProperties>
</file>