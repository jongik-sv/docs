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4099" y="0"/>
            <a:ext cx="2539901" cy="5143500"/>
          </a:xfrm>
          <a:prstGeom prst="rect">
            <a:avLst/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1148879"/>
            <a:ext cx="1357313" cy="2539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7301" y="1199629"/>
            <a:ext cx="10735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PLAN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1605930"/>
            <a:ext cx="5635142" cy="1188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물류관리 시스템 구축</a:t>
            </a:r>
            <a:endParaRPr lang="en-US" sz="3600" dirty="0"/>
          </a:p>
          <a:p>
            <a:pPr algn="l" indent="0" marL="0">
              <a:lnSpc>
                <a:spcPts val="468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수행계획서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34901" y="2946871"/>
            <a:ext cx="56351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차세대 AI 기반 물류 최적화 프로젝트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3537421"/>
            <a:ext cx="563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발주: (주)글로벌물류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3689821"/>
            <a:ext cx="563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수행: (주)테크솔루션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3842221"/>
            <a:ext cx="56351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72784" y="4591050"/>
            <a:ext cx="12610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SOLUTION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142438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1015901"/>
            <a:ext cx="0" cy="2029271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2526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2526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2526" y="2060228"/>
            <a:ext cx="936180" cy="731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정보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및 목적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범위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8150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131963" y="1015901"/>
            <a:ext cx="0" cy="202927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9676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4B65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09676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전략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09676" y="2060228"/>
            <a:ext cx="9361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방법론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35301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859113" y="1015901"/>
            <a:ext cx="0" cy="2029271"/>
          </a:xfrm>
          <a:prstGeom prst="line">
            <a:avLst/>
          </a:prstGeom>
          <a:noFill/>
          <a:ln w="47625">
            <a:solidFill>
              <a:srgbClr val="B7D0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6827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136827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조직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36827" y="2060228"/>
            <a:ext cx="9361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구성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및 책임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인력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62451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586264" y="1015901"/>
            <a:ext cx="0" cy="2029271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3977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863977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일정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63977" y="2060228"/>
            <a:ext cx="93618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일정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89602" y="1015901"/>
            <a:ext cx="1473250" cy="202927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313414" y="1015901"/>
            <a:ext cx="0" cy="2029271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1127" y="1269802"/>
            <a:ext cx="9361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9B8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591127" y="1780877"/>
            <a:ext cx="936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계획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91127" y="2060228"/>
            <a:ext cx="936180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관리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</a:t>
            </a:r>
            <a:endParaRPr lang="en-US" sz="900" dirty="0"/>
          </a:p>
        </p:txBody>
      </p:sp>
      <p:pic>
        <p:nvPicPr>
          <p:cNvPr id="28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oundRect">
            <a:avLst>
              <a:gd name="adj" fmla="val 50000"/>
            </a:avLst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2446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24469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2446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735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정보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98973" y="4365724"/>
            <a:ext cx="6548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 및 목적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03018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57490" y="4365724"/>
            <a:ext cx="61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범위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99302" y="48196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기본 정보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8549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Top 5 물류기업 (주)글로벌물류의 차세대 스마트 물류관리 시스템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1166813"/>
            <a:ext cx="1952625" cy="0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0453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발주기관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0453" y="1679377"/>
            <a:ext cx="14737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(주)글로벌물류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0453" y="2320677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500만건+ 물류 처리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24125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24125" y="1166813"/>
            <a:ext cx="1952625" cy="0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3578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63578" y="1679377"/>
            <a:ext cx="14737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4B65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(주)테크솔루션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63578" y="2320677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 전문기업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7250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67250" y="1166813"/>
            <a:ext cx="1952625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6703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계약금액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06703" y="1679377"/>
            <a:ext cx="14737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15억원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06703" y="20254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VAT 별도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10375" y="1143000"/>
            <a:ext cx="1952625" cy="1564928"/>
          </a:xfrm>
          <a:prstGeom prst="roundRect">
            <a:avLst>
              <a:gd name="adj" fmla="val 649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810375" y="1166813"/>
            <a:ext cx="1952625" cy="0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9828" y="1444526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계약기간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49828" y="1679377"/>
            <a:ext cx="14737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9B8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9828" y="20254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2025.01.06 ~ 2025.12.31</a:t>
            </a:r>
            <a:endParaRPr lang="en-US" sz="900" dirty="0"/>
          </a:p>
        </p:txBody>
      </p:sp>
      <p:pic>
        <p:nvPicPr>
          <p:cNvPr id="25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40320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배경 및 목적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40320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시스템 노후화 해결 및 차세대 스마트 물류 시스템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1323" y="1252538"/>
            <a:ext cx="576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5150" y="1285875"/>
            <a:ext cx="9607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현황 및 문제점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1790700"/>
            <a:ext cx="4000500" cy="1730127"/>
          </a:xfrm>
          <a:prstGeom prst="roundRect">
            <a:avLst>
              <a:gd name="adj" fmla="val 44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1790700"/>
            <a:ext cx="0" cy="1730127"/>
          </a:xfrm>
          <a:prstGeom prst="line">
            <a:avLst/>
          </a:prstGeom>
          <a:noFill/>
          <a:ln w="47625">
            <a:solidFill>
              <a:srgbClr val="7575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125" y="1981200"/>
            <a:ext cx="3571875" cy="122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10년 이상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운영된 레거시 시스템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급증하는 물동량 대응 한계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속도 저하 및 병목 현상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재고 파악 불가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시스템 연동 한계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62500" y="11430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5375" y="1247775"/>
            <a:ext cx="1748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6650" y="1285875"/>
            <a:ext cx="6261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목표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0" y="1790700"/>
            <a:ext cx="4000500" cy="1730127"/>
          </a:xfrm>
          <a:prstGeom prst="roundRect">
            <a:avLst>
              <a:gd name="adj" fmla="val 440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86313" y="1790700"/>
            <a:ext cx="0" cy="1730127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0625" y="1981200"/>
            <a:ext cx="3571875" cy="122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</a:t>
            </a:r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물류 최적화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재고/배송 추적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기반 확장성 확보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 아키텍처로 유연성 강화</a:t>
            </a:r>
            <a:endParaRPr lang="en-US" sz="1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의사결정 지원</a:t>
            </a:r>
            <a:endParaRPr lang="en-US" sz="1000" dirty="0"/>
          </a:p>
        </p:txBody>
      </p:sp>
      <p:pic>
        <p:nvPicPr>
          <p:cNvPr id="17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42209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42209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물류 시스템 도입으로 운영 효율 극대화 및 비용 절감 달성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1269950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674410" y="1693813"/>
            <a:ext cx="4610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624313" y="2160538"/>
            <a:ext cx="561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9140" y="2984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물류 처리 효율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9140" y="3187601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경로 최적화 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프로세스 도입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0" y="1269950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68655" y="1693813"/>
            <a:ext cx="80669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99.5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91313" y="2160538"/>
            <a:ext cx="561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달성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6140" y="2984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정확도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06140" y="3187601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재고 추적 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재고 조정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7000" y="1269950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08410" y="1693813"/>
            <a:ext cx="46103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58313" y="2160538"/>
            <a:ext cx="561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 절감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73140" y="2984450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비용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73140" y="3187601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인프라 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자동화</a:t>
            </a:r>
            <a:endParaRPr lang="en-US" sz="900" dirty="0"/>
          </a:p>
        </p:txBody>
      </p:sp>
      <p:pic>
        <p:nvPicPr>
          <p:cNvPr id="20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1576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범위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1576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핵심 시스템으로 물류 전 프로세스 통합 관리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39862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34959" y="1566714"/>
            <a:ext cx="24455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0453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0453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창고관리시스템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4901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입출고 관리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재고 관리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피킹/패킹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24125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82987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1197" y="1566714"/>
            <a:ext cx="1583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63578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63578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배송관리시스템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78026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배차 관리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 최적화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추적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7250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26112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42766" y="1566714"/>
            <a:ext cx="20144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906703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OMS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06703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주문관리시스템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21151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접수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 할당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정산 처리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0375" y="1143000"/>
            <a:ext cx="1952625" cy="246980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69237" y="1396901"/>
            <a:ext cx="634901" cy="634901"/>
          </a:xfrm>
          <a:prstGeom prst="roundRect">
            <a:avLst>
              <a:gd name="adj" fmla="val 144022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693025" y="1566714"/>
            <a:ext cx="1871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49828" y="2184202"/>
            <a:ext cx="1473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49828" y="2444502"/>
            <a:ext cx="1473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통합모니터링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64276" y="2730252"/>
            <a:ext cx="144482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현황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모니터링</a:t>
            </a:r>
            <a:endParaRPr lang="en-US" sz="9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</a:t>
            </a:r>
            <a:endParaRPr lang="en-US" sz="900" dirty="0"/>
          </a:p>
        </p:txBody>
      </p:sp>
      <p:pic>
        <p:nvPicPr>
          <p:cNvPr id="29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34544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345446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전략 및 방법론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34544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Strategy &amp; 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전략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9373" y="4365724"/>
            <a:ext cx="61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77145" y="4365724"/>
            <a:ext cx="735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99302" y="481965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40638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추진 전략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40638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"안정적 전환"과 "혁신적 기능 구현"의 균형을 핵심 가치로 추진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2624733" cy="1913781"/>
          </a:xfrm>
          <a:prstGeom prst="roundRect">
            <a:avLst>
              <a:gd name="adj" fmla="val 5309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37172" y="1269950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98450" y="146045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단계적 전환 전략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8450" y="1796951"/>
            <a:ext cx="20296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Big Bang 방식이 아닌 모듈별 순차 전환으로 리스크 최소화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8450" y="2202954"/>
            <a:ext cx="965299" cy="536377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0850" y="2494955"/>
            <a:ext cx="6737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최소화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59634" y="1143000"/>
            <a:ext cx="2624733" cy="1913781"/>
          </a:xfrm>
          <a:prstGeom prst="roundRect">
            <a:avLst>
              <a:gd name="adj" fmla="val 5309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15805" y="1269950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577084" y="146045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애자일 기반 개발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77084" y="1796951"/>
            <a:ext cx="20296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 단위 스프린트로 빠른 피드백과 유연한 대응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77084" y="2202954"/>
            <a:ext cx="860524" cy="536377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29484" y="2494955"/>
            <a:ext cx="566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피드백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38267" y="1143000"/>
            <a:ext cx="2624733" cy="1913781"/>
          </a:xfrm>
          <a:prstGeom prst="roundRect">
            <a:avLst>
              <a:gd name="adj" fmla="val 5309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94439" y="1269950"/>
            <a:ext cx="691622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455718" y="1460450"/>
            <a:ext cx="2029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현업 밀착 협업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55718" y="1796951"/>
            <a:ext cx="2029629" cy="406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2회 현업 리뷰를 통한 요구사항 정합성 확보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55718" y="2202954"/>
            <a:ext cx="860524" cy="536377"/>
          </a:xfrm>
          <a:prstGeom prst="roundRect">
            <a:avLst>
              <a:gd name="adj" fmla="val 947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08118" y="2494955"/>
            <a:ext cx="566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정합성 확보</a:t>
            </a:r>
            <a:endParaRPr lang="en-US" sz="900" dirty="0"/>
          </a:p>
        </p:txBody>
      </p:sp>
      <p:pic>
        <p:nvPicPr>
          <p:cNvPr id="23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0107" y="4724400"/>
            <a:ext cx="1534269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648277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699302" y="477202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989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방법론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9898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Agile-Waterfall 하이브리드 방법론으로 안정성과 유연성 결합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1751112" cy="355402"/>
          </a:xfrm>
          <a:prstGeom prst="roundRect">
            <a:avLst>
              <a:gd name="adj" fmla="val 14294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150" y="1180951"/>
            <a:ext cx="13717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Agile-Waterfall Hybrid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4401" y="1650950"/>
            <a:ext cx="1968698" cy="1575048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4401" y="1674763"/>
            <a:ext cx="1968698" cy="0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42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42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정의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분석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71351" y="2654498"/>
            <a:ext cx="1714798" cy="38100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1927" y="2730698"/>
            <a:ext cx="1593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요구사항정의서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AS-IS 분석서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23718" y="2319338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39901" y="1650950"/>
            <a:ext cx="1968698" cy="1460748"/>
          </a:xfrm>
          <a:prstGeom prst="roundRect">
            <a:avLst>
              <a:gd name="adj" fmla="val 695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539901" y="1674763"/>
            <a:ext cx="1968698" cy="0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97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497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설계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UI/DB 설계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66851" y="2654498"/>
            <a:ext cx="1714798" cy="266700"/>
          </a:xfrm>
          <a:prstGeom prst="roundRect">
            <a:avLst>
              <a:gd name="adj" fmla="val 19048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727427" y="2730698"/>
            <a:ext cx="159364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설계서 일체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19218" y="2262188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35401" y="1650950"/>
            <a:ext cx="1968698" cy="1575048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35401" y="1674763"/>
            <a:ext cx="1968698" cy="0"/>
          </a:xfrm>
          <a:prstGeom prst="line">
            <a:avLst/>
          </a:prstGeom>
          <a:noFill/>
          <a:ln w="47625">
            <a:solidFill>
              <a:srgbClr val="B7D0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2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452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구현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62351" y="2654498"/>
            <a:ext cx="1714798" cy="38100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22927" y="2730698"/>
            <a:ext cx="1593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소스코드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단위테스트결과서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14718" y="2319338"/>
            <a:ext cx="2072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30901" y="1650950"/>
            <a:ext cx="1968698" cy="1575048"/>
          </a:xfrm>
          <a:prstGeom prst="roundRect">
            <a:avLst>
              <a:gd name="adj" fmla="val 645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730901" y="1674763"/>
            <a:ext cx="1968698" cy="0"/>
          </a:xfrm>
          <a:prstGeom prst="line">
            <a:avLst/>
          </a:prstGeom>
          <a:noFill/>
          <a:ln w="47625">
            <a:solidFill>
              <a:srgbClr val="C51F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0703" y="1889075"/>
            <a:ext cx="1749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테스트/이행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40703" y="2162026"/>
            <a:ext cx="174909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통합/인수 테스트</a:t>
            </a:r>
            <a:endParaRPr lang="en-US" sz="900" dirty="0"/>
          </a:p>
          <a:p>
            <a:pPr algn="ctr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전환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7851" y="2654498"/>
            <a:ext cx="1714798" cy="381000"/>
          </a:xfrm>
          <a:prstGeom prst="roundRect">
            <a:avLst>
              <a:gd name="adj" fmla="val 1333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918427" y="2730698"/>
            <a:ext cx="1593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테스트결과서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이행계획서</a:t>
            </a:r>
            <a:endParaRPr lang="en-US" sz="800" dirty="0"/>
          </a:p>
        </p:txBody>
      </p:sp>
      <p:pic>
        <p:nvPicPr>
          <p:cNvPr id="34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5452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아키텍처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5452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기술 스택 기반 클라우드 네이티브 MSA 아키텍처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752" y="1255663"/>
            <a:ext cx="5184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96901" y="1079450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87401" y="1250900"/>
            <a:ext cx="817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Vue.js 3 v3.4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3688" y="1250900"/>
            <a:ext cx="6727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7695" y="1231850"/>
            <a:ext cx="561082" cy="1905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13895" y="1269950"/>
            <a:ext cx="4168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 구조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1000" y="1676251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1896" y="1852464"/>
            <a:ext cx="503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96901" y="1676251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87401" y="1847701"/>
            <a:ext cx="10529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 v3.2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4073" y="1847701"/>
            <a:ext cx="4988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 17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97523" y="1828651"/>
            <a:ext cx="585490" cy="1905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73723" y="1866751"/>
            <a:ext cx="4417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MSA 구조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1000" y="2273052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7190" y="2449264"/>
            <a:ext cx="554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96901" y="2273052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87401" y="2444502"/>
            <a:ext cx="9683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81176" y="2444502"/>
            <a:ext cx="4828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 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98999" y="2425452"/>
            <a:ext cx="928092" cy="1905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75199" y="2463552"/>
            <a:ext cx="79120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RDBMS + Cache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1000" y="2869853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61851" y="3046065"/>
            <a:ext cx="2591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96901" y="2869853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587401" y="3041303"/>
            <a:ext cx="6436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 EKS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62833" y="3041303"/>
            <a:ext cx="300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02062" y="3041303"/>
            <a:ext cx="1742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17318" y="3022253"/>
            <a:ext cx="942677" cy="1905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093518" y="3060353"/>
            <a:ext cx="8060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네이티브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1000" y="3466654"/>
            <a:ext cx="1015901" cy="495300"/>
          </a:xfrm>
          <a:prstGeom prst="roundRect">
            <a:avLst>
              <a:gd name="adj" fmla="val 10256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23156" y="3642866"/>
            <a:ext cx="33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AI/ML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396901" y="3466654"/>
            <a:ext cx="7366099" cy="4953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587401" y="3638104"/>
            <a:ext cx="7494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66566" y="3638104"/>
            <a:ext cx="1044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TensorFlow 2.15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35202" y="3619054"/>
            <a:ext cx="1066056" cy="190500"/>
          </a:xfrm>
          <a:prstGeom prst="roundRect">
            <a:avLst>
              <a:gd name="adj" fmla="val 2000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311402" y="3657154"/>
            <a:ext cx="9319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수요예측, 경로최적화</a:t>
            </a:r>
            <a:endParaRPr lang="en-US" sz="800" dirty="0"/>
          </a:p>
        </p:txBody>
      </p:sp>
      <p:pic>
        <p:nvPicPr>
          <p:cNvPr id="41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5041" y="4724400"/>
            <a:ext cx="1534269" cy="2286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593211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8644235" y="4772025"/>
            <a:ext cx="1211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2446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24469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조직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2446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Organization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구성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9373" y="4365724"/>
            <a:ext cx="6548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및 책임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12418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인력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4738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조직도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4738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발주기관-수행사 협력 체계로 효율적인 프로젝트 수행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0" y="1079450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FF9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33813" y="1079450"/>
            <a:ext cx="0" cy="806351"/>
          </a:xfrm>
          <a:prstGeom prst="line">
            <a:avLst/>
          </a:prstGeom>
          <a:noFill/>
          <a:ln w="47625">
            <a:solidFill>
              <a:srgbClr val="E9B8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50075" y="1231850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발주기관 PM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50075" y="1415951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정민호 부장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50075" y="1619101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총괄 관리, 의사결정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59350" y="2076301"/>
            <a:ext cx="25301" cy="190500"/>
          </a:xfrm>
          <a:prstGeom prst="rect">
            <a:avLst/>
          </a:prstGeom>
          <a:solidFill>
            <a:srgbClr val="B6B6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09292" y="2266801"/>
            <a:ext cx="1547515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933105" y="2266801"/>
            <a:ext cx="0" cy="806351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9132" y="2419201"/>
            <a:ext cx="11154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수행사 PM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9132" y="2603302"/>
            <a:ext cx="11154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김철수 차장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49132" y="2806452"/>
            <a:ext cx="11154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총괄, 품질/위험 관리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10708" y="2266801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34520" y="2266801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0782" y="2419201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50782" y="260330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이영희 과장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0782" y="2806452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관리 지원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59350" y="3263652"/>
            <a:ext cx="25301" cy="190500"/>
          </a:xfrm>
          <a:prstGeom prst="rect">
            <a:avLst/>
          </a:prstGeom>
          <a:solidFill>
            <a:srgbClr val="B6B6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43149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166961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83223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 (아키텍트)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83223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박준형 책임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83223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설계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21050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944862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1124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리더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61124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최수진 선임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61124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총괄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98950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722763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9025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담당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9025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한미영 대리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9025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관리, 테스트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76851" y="3454152"/>
            <a:ext cx="1524000" cy="806351"/>
          </a:xfrm>
          <a:prstGeom prst="roundRect">
            <a:avLst>
              <a:gd name="adj" fmla="val 945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500664" y="3454152"/>
            <a:ext cx="0" cy="806351"/>
          </a:xfrm>
          <a:prstGeom prst="line">
            <a:avLst/>
          </a:prstGeom>
          <a:noFill/>
          <a:ln w="47625">
            <a:solidFill>
              <a:srgbClr val="4B65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6926" y="3606552"/>
            <a:ext cx="1091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16926" y="3790652"/>
            <a:ext cx="1091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오현우 대리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16926" y="3993803"/>
            <a:ext cx="10914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설계 및 튜닝</a:t>
            </a:r>
            <a:endParaRPr lang="en-US" sz="800" dirty="0"/>
          </a:p>
        </p:txBody>
      </p:sp>
      <p:pic>
        <p:nvPicPr>
          <p:cNvPr id="42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5302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투입 인력 현황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5302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8명, 78MM 투입으로 전문 인력 기반 프로젝트 수행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58319" y="1603177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9820" y="1628477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58319" y="2050554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59820" y="2075855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58319" y="2497931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59820" y="2523232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58319" y="2945309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59820" y="2970609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06143" y="2945309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07644" y="2970609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58319" y="3392686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59820" y="3417987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58319" y="3840063"/>
            <a:ext cx="412552" cy="183952"/>
          </a:xfrm>
          <a:prstGeom prst="roundRect">
            <a:avLst>
              <a:gd name="adj" fmla="val 20712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59820" y="3865364"/>
            <a:ext cx="213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1000" y="3883223"/>
            <a:ext cx="1142851" cy="625376"/>
          </a:xfrm>
          <a:prstGeom prst="roundRect">
            <a:avLst>
              <a:gd name="adj" fmla="val 1218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4813" y="3883223"/>
            <a:ext cx="0" cy="625376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526" y="4010174"/>
            <a:ext cx="5991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투입 인원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2526" y="4143524"/>
            <a:ext cx="59917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04851" y="3883223"/>
            <a:ext cx="1176338" cy="625376"/>
          </a:xfrm>
          <a:prstGeom prst="roundRect">
            <a:avLst>
              <a:gd name="adj" fmla="val 1218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928664" y="3883223"/>
            <a:ext cx="0" cy="625376"/>
          </a:xfrm>
          <a:prstGeom prst="line">
            <a:avLst/>
          </a:prstGeom>
          <a:noFill/>
          <a:ln w="47625">
            <a:solidFill>
              <a:srgbClr val="0024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06377" y="4010174"/>
            <a:ext cx="6333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투입 공수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06377" y="4143524"/>
            <a:ext cx="6333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78 MM</a:t>
            </a:r>
            <a:endParaRPr lang="en-US" sz="1600" dirty="0"/>
          </a:p>
        </p:txBody>
      </p:sp>
      <p:pic>
        <p:nvPicPr>
          <p:cNvPr id="27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24469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244694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일정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24469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Schedule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618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일정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03673" y="4365724"/>
            <a:ext cx="735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26462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마스터 일정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26462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6단계 48주 (12개월) 프로젝트 수행 일정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079450"/>
            <a:ext cx="3458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1269950"/>
            <a:ext cx="1397050" cy="634901"/>
          </a:xfrm>
          <a:prstGeom prst="roundRect">
            <a:avLst>
              <a:gd name="adj" fmla="val 50008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5150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1698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1698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1698" y="2444651"/>
            <a:ext cx="1295653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킥오프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환경구축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표준정의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78050" y="1269950"/>
            <a:ext cx="1397050" cy="634901"/>
          </a:xfrm>
          <a:prstGeom prst="rect">
            <a:avLst/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62200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748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748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748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확정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현행 분석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75099" y="1269950"/>
            <a:ext cx="1397050" cy="634901"/>
          </a:xfrm>
          <a:prstGeom prst="rect">
            <a:avLst/>
          </a:prstGeom>
          <a:solidFill>
            <a:srgbClr val="75757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59250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25798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4~5월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25798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25798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설계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화면/DB 설계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149" y="1269950"/>
            <a:ext cx="1397050" cy="634901"/>
          </a:xfrm>
          <a:prstGeom prst="rect">
            <a:avLst/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56299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22847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6~9월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22847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22847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단위테스트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69198" y="1269950"/>
            <a:ext cx="1397050" cy="634901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96199" y="1515963"/>
            <a:ext cx="3497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19897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10~11월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19897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19897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테스트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인수 테스트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66248" y="1269950"/>
            <a:ext cx="1397050" cy="634901"/>
          </a:xfrm>
          <a:prstGeom prst="rect">
            <a:avLst/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950398" y="1515963"/>
            <a:ext cx="2331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16946" y="2031950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11~12월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16946" y="2216051"/>
            <a:ext cx="12956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6주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16946" y="2444651"/>
            <a:ext cx="12956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안정화</a:t>
            </a:r>
            <a:endParaRPr lang="en-US" sz="800" dirty="0"/>
          </a:p>
        </p:txBody>
      </p:sp>
      <p:pic>
        <p:nvPicPr>
          <p:cNvPr id="36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24883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24883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마일스톤 기준 프로젝트 진척 관리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460450"/>
            <a:ext cx="8382000" cy="50750"/>
          </a:xfrm>
          <a:prstGeom prst="roundRect">
            <a:avLst>
              <a:gd name="adj" fmla="val 50049"/>
            </a:avLst>
          </a:prstGeom>
          <a:solidFill>
            <a:srgbClr val="B7D0D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7875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0024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7030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7030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착수보고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7030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2025.01.10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9825" y="2339876"/>
            <a:ext cx="67925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6563" y="2390626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수행계획서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74925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4B65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64079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B65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64079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확정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64079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2025.03.31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1624" y="2339876"/>
            <a:ext cx="86975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36458" y="2390626"/>
            <a:ext cx="6800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요구사항정의서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71974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75757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161129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61129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완료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61129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2025.05.31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19785" y="2339876"/>
            <a:ext cx="707529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16241" y="2390626"/>
            <a:ext cx="5146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설계서 일체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69024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B7D0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58178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58178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완료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58178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2025.09.30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78598" y="2339876"/>
            <a:ext cx="58400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76289" y="2390626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소스코드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66074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C51F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55228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C51F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55228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완료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55228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2025.11.15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80398" y="2339876"/>
            <a:ext cx="77450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376184" y="2390626"/>
            <a:ext cx="582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테스트결과서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963123" y="124465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FFFFF"/>
          </a:solidFill>
          <a:ln w="47625">
            <a:solidFill>
              <a:srgbClr val="E9B8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52278" y="1714500"/>
            <a:ext cx="14249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9B8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52278" y="1936700"/>
            <a:ext cx="14249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오픈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52278" y="21303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2025.12.01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25073" y="2339876"/>
            <a:ext cx="67925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821811" y="2390626"/>
            <a:ext cx="485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오픈보고서</a:t>
            </a:r>
            <a:endParaRPr lang="en-US" sz="800" dirty="0"/>
          </a:p>
        </p:txBody>
      </p:sp>
      <p:pic>
        <p:nvPicPr>
          <p:cNvPr id="42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1333500"/>
            <a:ext cx="3810000" cy="3810000"/>
          </a:xfrm>
          <a:prstGeom prst="rect">
            <a:avLst/>
          </a:prstGeom>
          <a:solidFill>
            <a:srgbClr val="B7D0D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901" y="1763688"/>
            <a:ext cx="1669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FFFFFF">
                    <a:alpha val="2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5901" y="2551137"/>
            <a:ext cx="16697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계획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5901" y="3208362"/>
            <a:ext cx="1669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Management Plan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4076849"/>
            <a:ext cx="762000" cy="5075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9373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관리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62845" y="4365724"/>
            <a:ext cx="502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31737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 계획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31737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품질 보증 활동으로 고품질 시스템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77962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60157" y="151760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646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검토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646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말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 담당자 검토 및 승인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77962" y="2800052"/>
            <a:ext cx="558552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01866" y="2850803"/>
            <a:ext cx="3107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PM/PL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24125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21087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31784" y="1517600"/>
            <a:ext cx="3371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&lt;/&gt;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37771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37771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PR 필수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2인 이상 승인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82987" y="2800052"/>
            <a:ext cx="634901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06127" y="2850803"/>
            <a:ext cx="3886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개발리더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7250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64212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36692" y="1517600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⚙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80896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분석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80896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SonarQube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게이트 적용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43240" y="2800052"/>
            <a:ext cx="400645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68723" y="2850803"/>
            <a:ext cx="1496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10375" y="1143000"/>
            <a:ext cx="1952625" cy="2101453"/>
          </a:xfrm>
          <a:prstGeom prst="roundRect">
            <a:avLst>
              <a:gd name="adj" fmla="val 52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07337" y="137160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79817" y="1517600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24021" y="2057251"/>
            <a:ext cx="15253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24021" y="2330202"/>
            <a:ext cx="15253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기반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통합/인수 테스트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76976" y="2800052"/>
            <a:ext cx="619274" cy="215801"/>
          </a:xfrm>
          <a:prstGeom prst="roundRect">
            <a:avLst>
              <a:gd name="adj" fmla="val 235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600273" y="2850803"/>
            <a:ext cx="3726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QA/현업</a:t>
            </a:r>
            <a:endParaRPr lang="en-US" sz="800" dirty="0"/>
          </a:p>
        </p:txBody>
      </p:sp>
      <p:pic>
        <p:nvPicPr>
          <p:cNvPr id="33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23587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관리 계획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23587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정보보안 및 개인정보보호 체계 구축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47800" y="1269802"/>
            <a:ext cx="1524000" cy="1524000"/>
          </a:xfrm>
          <a:prstGeom prst="roundRect">
            <a:avLst>
              <a:gd name="adj" fmla="val 50000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28800" y="1674614"/>
            <a:ext cx="77724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44424" y="3047702"/>
            <a:ext cx="37307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정책 준수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4424" y="3327053"/>
            <a:ext cx="373075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고객사 보안 정책 및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개인정보보호법 준수</a:t>
            </a:r>
            <a:endParaRPr lang="en-US" sz="900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 보안 점검 수행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2501" y="10159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83001" y="116830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83013" y="1273076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92601" y="12445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통제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92601" y="14350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기반 접근 제어(RBAC) / 2FA 인증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292501" y="19303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83001" y="208270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4B65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25876" y="2139851"/>
            <a:ext cx="1748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92601" y="21589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암호화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92601" y="23494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전송 중(TLS 1.3) / 저장 시(AES-256) 암호화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92501" y="28447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83001" y="299710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83013" y="3101876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🔎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92601" y="30733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감사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92601" y="32638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모니터링 / 취약점 스캔 / 침투 테스트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92501" y="3759101"/>
            <a:ext cx="4470499" cy="7620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483001" y="3911501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83013" y="4016276"/>
            <a:ext cx="26231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92601" y="3987701"/>
            <a:ext cx="35494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 보호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92601" y="4178201"/>
            <a:ext cx="35494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마스킹 처리 / 동의 관리 / 파기 정책</a:t>
            </a:r>
            <a:endParaRPr lang="en-US" sz="800" dirty="0"/>
          </a:p>
        </p:txBody>
      </p:sp>
      <p:pic>
        <p:nvPicPr>
          <p:cNvPr id="29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24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19648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24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관리 계획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81000" y="539651"/>
            <a:ext cx="19648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리스크 식별 및 대응 전략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91171" y="1593652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92672" y="1618952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991171" y="2021979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92672" y="204728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91171" y="2450306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92672" y="2475607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91171" y="2878634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E9B8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92672" y="2903934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91171" y="3306961"/>
            <a:ext cx="393502" cy="164902"/>
          </a:xfrm>
          <a:prstGeom prst="roundRect">
            <a:avLst>
              <a:gd name="adj" fmla="val 23105"/>
            </a:avLst>
          </a:prstGeom>
          <a:solidFill>
            <a:srgbClr val="B7D0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92672" y="3332262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낮음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1351" y="451485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높음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42702" y="451485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14054" y="4514850"/>
            <a:ext cx="194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5757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낮음</a:t>
            </a:r>
            <a:endParaRPr lang="en-US" sz="800" dirty="0"/>
          </a:p>
        </p:txBody>
      </p:sp>
      <p:pic>
        <p:nvPicPr>
          <p:cNvPr id="18" name="Image 0" descr="/home/jji/project/docs/templates/documents/dongkuk-systems/assets/default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58" y="4724400"/>
            <a:ext cx="1534269" cy="2286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584728" y="4772025"/>
            <a:ext cx="8130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작성_테크솔루션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635752" y="4772025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24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3050" y="126950"/>
            <a:ext cx="1524000" cy="1524000"/>
          </a:xfrm>
          <a:prstGeom prst="roundRect">
            <a:avLst>
              <a:gd name="adj" fmla="val 50000"/>
            </a:avLst>
          </a:prstGeom>
          <a:solidFill>
            <a:srgbClr val="4B658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6950" y="3492550"/>
            <a:ext cx="1269950" cy="1269950"/>
          </a:xfrm>
          <a:prstGeom prst="roundRect">
            <a:avLst>
              <a:gd name="adj" fmla="val 50002"/>
            </a:avLst>
          </a:prstGeom>
          <a:solidFill>
            <a:srgbClr val="B7D0D4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65032" y="1713086"/>
            <a:ext cx="341393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865032" y="2363912"/>
            <a:ext cx="34139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2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물류관리 시스템 구축 제안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4475" y="2789262"/>
            <a:ext cx="634901" cy="38100"/>
          </a:xfrm>
          <a:prstGeom prst="rect">
            <a:avLst/>
          </a:prstGeom>
          <a:solidFill>
            <a:srgbClr val="C51F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892019" y="3081263"/>
            <a:ext cx="6612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92019" y="3278014"/>
            <a:ext cx="6612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홍길동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55553" y="3081263"/>
            <a:ext cx="8868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55553" y="3278014"/>
            <a:ext cx="8868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02-1234-5678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39209" y="3081263"/>
            <a:ext cx="1218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B7D0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39209" y="3278014"/>
            <a:ext cx="12182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pm@company.com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39530" y="4556224"/>
            <a:ext cx="1698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DONGKUK SYSTEMS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35752" y="4819650"/>
            <a:ext cx="1297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6B6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2026-01-09T03:54:31Z</dcterms:created>
  <dcterms:modified xsi:type="dcterms:W3CDTF">2026-01-09T03:54:31Z</dcterms:modified>
</cp:coreProperties>
</file>