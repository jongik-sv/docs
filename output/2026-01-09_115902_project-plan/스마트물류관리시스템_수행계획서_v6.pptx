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슬라이드를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이동하려면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메모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서식을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편집하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려면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클릭하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십시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fld id="{C0E51FAE-3E24-4247-AE13-B2E932C292D2}" type="slidenum"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A41B30-D019-4E02-BA6A-6E6DC067D9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4D0F8F-D983-438E-8CA7-EAA46A320A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85BAC5-31F7-4E68-B1D7-AA27A38D81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7FD5D-CD6E-4D2A-8C5B-62B1674006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6C1A9E-0283-4DDC-B176-C3071402C85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6B3E94-313D-4814-9C11-E5FD3C658B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6170F4-0CBE-4100-A3A6-8DF4245D93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38E9B4-3651-41AC-9662-32FFC39975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28FFC0-077B-492D-8E64-822915C74C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360D69-C494-4ECE-827F-41E6DFD3EB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7BD03E-88E1-4A2A-B6FE-D952CFE939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8581AB-63D1-4BA3-9A92-00947A71D6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00E57F-99F8-4FED-A841-07E57A1BB7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2CE8B2-8797-411F-B0DA-24450AD584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B52417-BDAD-4ABE-8CE4-72E1B935EF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633A44-CBD4-4007-B485-0F81499288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326D0D-4DB8-425A-8F0C-5F225C503B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2F3D80-0436-4719-B5E8-1E57EE3353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A92E2E-6D9D-4834-A6CF-FD94F9C3D2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E3258C-72C2-491D-B304-F722779EFF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013B26-7653-4C39-9E8B-177E5F50B1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078667-7146-45FF-A6B8-A6B697AF37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목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텍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스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트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의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서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식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을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편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집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하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려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면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클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릭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하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십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시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0" y="0"/>
            <a:ext cx="9143640" cy="10116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6604200" y="0"/>
            <a:ext cx="2539440" cy="5143320"/>
          </a:xfrm>
          <a:prstGeom prst="rect">
            <a:avLst/>
          </a:prstGeom>
          <a:solidFill>
            <a:srgbClr val="b7d0d4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35040" y="1148760"/>
            <a:ext cx="1458360" cy="25344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38080" y="1199520"/>
            <a:ext cx="1157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Noto Sans KR"/>
                <a:ea typeface="Noto Sans KR"/>
              </a:rPr>
              <a:t>PROJECT PLAN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2" name="Text 4"/>
          <p:cNvSpPr/>
          <p:nvPr/>
        </p:nvSpPr>
        <p:spPr>
          <a:xfrm>
            <a:off x="635040" y="1605960"/>
            <a:ext cx="6076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68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ko-KR" sz="3600" spc="-1" strike="noStrike">
                <a:solidFill>
                  <a:srgbClr val="ffffff"/>
                </a:solidFill>
                <a:latin typeface="Noto Sans KR"/>
                <a:ea typeface="Noto Sans KR"/>
              </a:rPr>
              <a:t>스마트 물류관리 시스템 구축</a:t>
            </a:r>
            <a:endParaRPr b="0" lang="en-US" sz="3600" spc="-1" strike="noStrike">
              <a:solidFill>
                <a:srgbClr val="ffffff"/>
              </a:solidFill>
              <a:latin typeface="Noto Sans CJK KR"/>
            </a:endParaRPr>
          </a:p>
          <a:p>
            <a:pPr defTabSz="914400">
              <a:lnSpc>
                <a:spcPts val="468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ko-KR" sz="3600" spc="-1" strike="noStrike">
                <a:solidFill>
                  <a:srgbClr val="ffffff"/>
                </a:solidFill>
                <a:latin typeface="Noto Sans KR"/>
                <a:ea typeface="Noto Sans KR"/>
              </a:rPr>
              <a:t>수행계획서</a:t>
            </a:r>
            <a:endParaRPr b="0" lang="en-US" sz="3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35040" y="2946960"/>
            <a:ext cx="60768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999"/>
              </a:spcAft>
              <a:tabLst>
                <a:tab algn="l" pos="0"/>
              </a:tabLst>
            </a:pPr>
            <a:r>
              <a:rPr b="0" lang="ko-KR" sz="1400" spc="-1" strike="noStrike">
                <a:solidFill>
                  <a:srgbClr val="b7d0d4"/>
                </a:solidFill>
                <a:latin typeface="Noto Sans KR"/>
                <a:ea typeface="Noto Sans KR"/>
              </a:rPr>
              <a:t>차세대 </a:t>
            </a:r>
            <a:r>
              <a:rPr b="0" lang="en-US" sz="1400" spc="-1" strike="noStrike">
                <a:solidFill>
                  <a:srgbClr val="b7d0d4"/>
                </a:solidFill>
                <a:latin typeface="Noto Sans KR"/>
                <a:ea typeface="Noto Sans KR"/>
              </a:rPr>
              <a:t>AI </a:t>
            </a:r>
            <a:r>
              <a:rPr b="0" lang="ko-KR" sz="1400" spc="-1" strike="noStrike">
                <a:solidFill>
                  <a:srgbClr val="b7d0d4"/>
                </a:solidFill>
                <a:latin typeface="Noto Sans KR"/>
                <a:ea typeface="Noto Sans KR"/>
              </a:rPr>
              <a:t>기반 물류 최적화 프로젝트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35040" y="3537360"/>
            <a:ext cx="607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발주</a:t>
            </a:r>
            <a:r>
              <a:rPr b="0" lang="en-US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: (</a:t>
            </a:r>
            <a:r>
              <a:rPr b="0" lang="ko-KR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주</a:t>
            </a:r>
            <a:r>
              <a:rPr b="0" lang="en-US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)</a:t>
            </a:r>
            <a:r>
              <a:rPr b="0" lang="ko-KR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글로벌물류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35040" y="3690000"/>
            <a:ext cx="607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수행</a:t>
            </a:r>
            <a:r>
              <a:rPr b="0" lang="en-US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: (</a:t>
            </a:r>
            <a:r>
              <a:rPr b="0" lang="ko-KR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주</a:t>
            </a:r>
            <a:r>
              <a:rPr b="0" lang="en-US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)</a:t>
            </a:r>
            <a:r>
              <a:rPr b="0" lang="ko-KR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테크솔루션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35040" y="3842280"/>
            <a:ext cx="607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7d0d4"/>
                </a:solidFill>
                <a:latin typeface="Noto Sans KR"/>
                <a:ea typeface="Noto Sans KR"/>
              </a:rPr>
              <a:t>2025.01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272720" y="4591080"/>
            <a:ext cx="13597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Noto Sans KR"/>
                <a:ea typeface="Noto Sans KR"/>
              </a:rPr>
              <a:t>TECH SOLUTION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380880" y="253800"/>
            <a:ext cx="1535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2452"/>
                </a:solidFill>
                <a:latin typeface="Noto Sans KR"/>
                <a:ea typeface="Noto Sans KR"/>
              </a:rPr>
              <a:t>CONTENTS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" name="Text 1"/>
          <p:cNvSpPr/>
          <p:nvPr/>
        </p:nvSpPr>
        <p:spPr>
          <a:xfrm>
            <a:off x="380880" y="1015920"/>
            <a:ext cx="1472760" cy="20289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404640" y="1015560"/>
            <a:ext cx="360" cy="2029320"/>
          </a:xfrm>
          <a:prstGeom prst="line">
            <a:avLst/>
          </a:prstGeom>
          <a:ln w="47625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" name="Text 3"/>
          <p:cNvSpPr/>
          <p:nvPr/>
        </p:nvSpPr>
        <p:spPr>
          <a:xfrm>
            <a:off x="682560" y="1269720"/>
            <a:ext cx="10090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2800" spc="-1" strike="noStrike">
                <a:solidFill>
                  <a:srgbClr val="002452"/>
                </a:solidFill>
                <a:latin typeface="Noto Sans KR"/>
                <a:ea typeface="Noto Sans KR"/>
              </a:rPr>
              <a:t>01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" name="Text 4"/>
          <p:cNvSpPr/>
          <p:nvPr/>
        </p:nvSpPr>
        <p:spPr>
          <a:xfrm>
            <a:off x="682560" y="1780920"/>
            <a:ext cx="1009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프로젝트 개요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" name="Text 5"/>
          <p:cNvSpPr/>
          <p:nvPr/>
        </p:nvSpPr>
        <p:spPr>
          <a:xfrm>
            <a:off x="682560" y="2060280"/>
            <a:ext cx="1009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기본 정보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배경 및 목적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기대 효과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시스템 범위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" name="Text 6"/>
          <p:cNvSpPr/>
          <p:nvPr/>
        </p:nvSpPr>
        <p:spPr>
          <a:xfrm>
            <a:off x="2108160" y="1015920"/>
            <a:ext cx="1472760" cy="20289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2131920" y="1015560"/>
            <a:ext cx="360" cy="2029320"/>
          </a:xfrm>
          <a:prstGeom prst="line">
            <a:avLst/>
          </a:prstGeom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" name="Text 8"/>
          <p:cNvSpPr/>
          <p:nvPr/>
        </p:nvSpPr>
        <p:spPr>
          <a:xfrm>
            <a:off x="2409840" y="1269720"/>
            <a:ext cx="10090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2800" spc="-1" strike="noStrike">
                <a:solidFill>
                  <a:srgbClr val="4b6580"/>
                </a:solidFill>
                <a:latin typeface="Noto Sans KR"/>
                <a:ea typeface="Noto Sans KR"/>
              </a:rPr>
              <a:t>02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Text 9"/>
          <p:cNvSpPr/>
          <p:nvPr/>
        </p:nvSpPr>
        <p:spPr>
          <a:xfrm>
            <a:off x="2409840" y="1780920"/>
            <a:ext cx="1009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추진 전략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2409840" y="2060280"/>
            <a:ext cx="1009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핵심 전략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수행 방법론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기술 아키텍처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3835440" y="1015920"/>
            <a:ext cx="1472760" cy="20289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3858840" y="1015560"/>
            <a:ext cx="360" cy="2029320"/>
          </a:xfrm>
          <a:prstGeom prst="line">
            <a:avLst/>
          </a:prstGeom>
          <a:ln w="47625">
            <a:solidFill>
              <a:srgbClr val="b7d0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4136760" y="1269720"/>
            <a:ext cx="10090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2800" spc="-1" strike="noStrike">
                <a:solidFill>
                  <a:srgbClr val="b7d0d4"/>
                </a:solidFill>
                <a:latin typeface="Noto Sans KR"/>
                <a:ea typeface="Noto Sans KR"/>
              </a:rPr>
              <a:t>03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4136760" y="1780920"/>
            <a:ext cx="1009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프로젝트 조직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4136760" y="2060280"/>
            <a:ext cx="1009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조직 구성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역할 및 책임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투입 인력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5562360" y="1015920"/>
            <a:ext cx="1472760" cy="20289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5586120" y="1015560"/>
            <a:ext cx="360" cy="2029320"/>
          </a:xfrm>
          <a:prstGeom prst="line">
            <a:avLst/>
          </a:prstGeom>
          <a:ln w="47625">
            <a:solidFill>
              <a:srgbClr val="c51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5864040" y="1269720"/>
            <a:ext cx="10090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2800" spc="-1" strike="noStrike">
                <a:solidFill>
                  <a:srgbClr val="c51f2a"/>
                </a:solidFill>
                <a:latin typeface="Noto Sans KR"/>
                <a:ea typeface="Noto Sans KR"/>
              </a:rPr>
              <a:t>04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5864040" y="1780920"/>
            <a:ext cx="1009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프로젝트 일정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5864040" y="2060280"/>
            <a:ext cx="1009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마스터 일정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주요 마일스톤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7289640" y="1015920"/>
            <a:ext cx="1472760" cy="20289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Shape 22"/>
          <p:cNvSpPr/>
          <p:nvPr/>
        </p:nvSpPr>
        <p:spPr>
          <a:xfrm>
            <a:off x="7313400" y="1015560"/>
            <a:ext cx="360" cy="2029320"/>
          </a:xfrm>
          <a:prstGeom prst="line">
            <a:avLst/>
          </a:prstGeom>
          <a:ln w="47625">
            <a:solidFill>
              <a:srgbClr val="e9b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" name="Text 23"/>
          <p:cNvSpPr/>
          <p:nvPr/>
        </p:nvSpPr>
        <p:spPr>
          <a:xfrm>
            <a:off x="7590960" y="1269720"/>
            <a:ext cx="10090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2800" spc="-1" strike="noStrike">
                <a:solidFill>
                  <a:srgbClr val="e9b86e"/>
                </a:solidFill>
                <a:latin typeface="Noto Sans KR"/>
                <a:ea typeface="Noto Sans KR"/>
              </a:rPr>
              <a:t>05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" name="Text 24"/>
          <p:cNvSpPr/>
          <p:nvPr/>
        </p:nvSpPr>
        <p:spPr>
          <a:xfrm>
            <a:off x="7590960" y="1780920"/>
            <a:ext cx="1009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관리 계획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7590960" y="2060280"/>
            <a:ext cx="1009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품질 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보안 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위험 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4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86008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45" name="Text 26"/>
          <p:cNvSpPr/>
          <p:nvPr/>
        </p:nvSpPr>
        <p:spPr>
          <a:xfrm>
            <a:off x="764820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8699400" y="4772160"/>
            <a:ext cx="69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5334120" y="1333440"/>
            <a:ext cx="3809520" cy="3809520"/>
          </a:xfrm>
          <a:prstGeom prst="roundRect">
            <a:avLst>
              <a:gd name="adj" fmla="val 50000"/>
            </a:avLst>
          </a:prstGeom>
          <a:solidFill>
            <a:srgbClr val="b7d0d4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Text 1"/>
          <p:cNvSpPr/>
          <p:nvPr/>
        </p:nvSpPr>
        <p:spPr>
          <a:xfrm>
            <a:off x="1015920" y="1763640"/>
            <a:ext cx="263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>
                    <a:alpha val="20000"/>
                  </a:srgbClr>
                </a:solidFill>
                <a:latin typeface="Noto Sans KR"/>
                <a:ea typeface="Noto Sans KR"/>
              </a:rPr>
              <a:t>01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9" name="Text 2"/>
          <p:cNvSpPr/>
          <p:nvPr/>
        </p:nvSpPr>
        <p:spPr>
          <a:xfrm>
            <a:off x="1015920" y="2550960"/>
            <a:ext cx="263844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3200" spc="-1" strike="noStrike">
                <a:solidFill>
                  <a:srgbClr val="ffffff"/>
                </a:solidFill>
                <a:latin typeface="Noto Sans KR"/>
                <a:ea typeface="Noto Sans KR"/>
              </a:rPr>
              <a:t>프로젝트 개요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0" name="Text 3"/>
          <p:cNvSpPr/>
          <p:nvPr/>
        </p:nvSpPr>
        <p:spPr>
          <a:xfrm>
            <a:off x="1015920" y="3208320"/>
            <a:ext cx="2638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b7d0d4"/>
                </a:solidFill>
                <a:latin typeface="Noto Sans KR"/>
                <a:ea typeface="Noto Sans KR"/>
              </a:rPr>
              <a:t>Project Overview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1" name="Text 4"/>
          <p:cNvSpPr/>
          <p:nvPr/>
        </p:nvSpPr>
        <p:spPr>
          <a:xfrm>
            <a:off x="1015920" y="4077000"/>
            <a:ext cx="761760" cy="5040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015920" y="4365720"/>
            <a:ext cx="792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프로젝트 정보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3" name="Text 6"/>
          <p:cNvSpPr/>
          <p:nvPr/>
        </p:nvSpPr>
        <p:spPr>
          <a:xfrm>
            <a:off x="2499120" y="4365720"/>
            <a:ext cx="7059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배경 및 목적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4" name="Text 7"/>
          <p:cNvSpPr/>
          <p:nvPr/>
        </p:nvSpPr>
        <p:spPr>
          <a:xfrm>
            <a:off x="3903120" y="4365720"/>
            <a:ext cx="541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기대 효과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5" name="Text 8"/>
          <p:cNvSpPr/>
          <p:nvPr/>
        </p:nvSpPr>
        <p:spPr>
          <a:xfrm>
            <a:off x="5157360" y="4365720"/>
            <a:ext cx="66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시스템 범위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6" name="Text 9"/>
          <p:cNvSpPr/>
          <p:nvPr/>
        </p:nvSpPr>
        <p:spPr>
          <a:xfrm>
            <a:off x="8699400" y="4819680"/>
            <a:ext cx="69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3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80880" y="253800"/>
            <a:ext cx="92199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프로젝트 기본 정보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9" name="Text 2"/>
          <p:cNvSpPr/>
          <p:nvPr/>
        </p:nvSpPr>
        <p:spPr>
          <a:xfrm>
            <a:off x="380880" y="539640"/>
            <a:ext cx="92199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국내 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Top 5 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물류기업 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(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)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글로벌물류의 차세대 스마트 물류관리 시스템 구축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" name="Text 3"/>
          <p:cNvSpPr/>
          <p:nvPr/>
        </p:nvSpPr>
        <p:spPr>
          <a:xfrm>
            <a:off x="380880" y="1143000"/>
            <a:ext cx="2105280" cy="2277000"/>
          </a:xfrm>
          <a:prstGeom prst="roundRect">
            <a:avLst>
              <a:gd name="adj" fmla="val 8002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380880" y="1166760"/>
            <a:ext cx="2105640" cy="360"/>
          </a:xfrm>
          <a:prstGeom prst="line">
            <a:avLst/>
          </a:prstGeom>
          <a:ln w="47625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" name="Text 5"/>
          <p:cNvSpPr/>
          <p:nvPr/>
        </p:nvSpPr>
        <p:spPr>
          <a:xfrm>
            <a:off x="555120" y="1444680"/>
            <a:ext cx="17575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발주기관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" name="Text 6"/>
          <p:cNvSpPr/>
          <p:nvPr/>
        </p:nvSpPr>
        <p:spPr>
          <a:xfrm>
            <a:off x="555120" y="2003400"/>
            <a:ext cx="1757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002452"/>
                </a:solidFill>
                <a:latin typeface="Noto Sans KR"/>
                <a:ea typeface="Noto Sans KR"/>
              </a:rPr>
              <a:t>(</a:t>
            </a:r>
            <a:r>
              <a:rPr b="1" lang="ko-KR" sz="2000" spc="-1" strike="noStrike">
                <a:solidFill>
                  <a:srgbClr val="002452"/>
                </a:solidFill>
                <a:latin typeface="Noto Sans KR"/>
                <a:ea typeface="Noto Sans KR"/>
              </a:rPr>
              <a:t>주</a:t>
            </a:r>
            <a:r>
              <a:rPr b="1" lang="en-US" sz="2000" spc="-1" strike="noStrike">
                <a:solidFill>
                  <a:srgbClr val="002452"/>
                </a:solidFill>
                <a:latin typeface="Noto Sans KR"/>
                <a:ea typeface="Noto Sans KR"/>
              </a:rPr>
              <a:t>)</a:t>
            </a:r>
            <a:r>
              <a:rPr b="1" lang="ko-KR" sz="2000" spc="-1" strike="noStrike">
                <a:solidFill>
                  <a:srgbClr val="002452"/>
                </a:solidFill>
                <a:latin typeface="Noto Sans KR"/>
                <a:ea typeface="Noto Sans KR"/>
              </a:rPr>
              <a:t>글로벌물류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" name="Text 7"/>
          <p:cNvSpPr/>
          <p:nvPr/>
        </p:nvSpPr>
        <p:spPr>
          <a:xfrm>
            <a:off x="555120" y="2673360"/>
            <a:ext cx="17575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연간 </a:t>
            </a: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500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만건</a:t>
            </a: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+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물류 처리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" name="Text 8"/>
          <p:cNvSpPr/>
          <p:nvPr/>
        </p:nvSpPr>
        <p:spPr>
          <a:xfrm>
            <a:off x="2677320" y="1143000"/>
            <a:ext cx="2105280" cy="2277000"/>
          </a:xfrm>
          <a:prstGeom prst="roundRect">
            <a:avLst>
              <a:gd name="adj" fmla="val 8002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2676960" y="1166760"/>
            <a:ext cx="2106000" cy="360"/>
          </a:xfrm>
          <a:prstGeom prst="line">
            <a:avLst/>
          </a:prstGeom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2851200" y="1444680"/>
            <a:ext cx="17575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수행사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2851200" y="2003400"/>
            <a:ext cx="1757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4b6580"/>
                </a:solidFill>
                <a:latin typeface="Noto Sans KR"/>
                <a:ea typeface="Noto Sans KR"/>
              </a:rPr>
              <a:t>(</a:t>
            </a:r>
            <a:r>
              <a:rPr b="1" lang="ko-KR" sz="2000" spc="-1" strike="noStrike">
                <a:solidFill>
                  <a:srgbClr val="4b6580"/>
                </a:solidFill>
                <a:latin typeface="Noto Sans KR"/>
                <a:ea typeface="Noto Sans KR"/>
              </a:rPr>
              <a:t>주</a:t>
            </a:r>
            <a:r>
              <a:rPr b="1" lang="en-US" sz="2000" spc="-1" strike="noStrike">
                <a:solidFill>
                  <a:srgbClr val="4b6580"/>
                </a:solidFill>
                <a:latin typeface="Noto Sans KR"/>
                <a:ea typeface="Noto Sans KR"/>
              </a:rPr>
              <a:t>)</a:t>
            </a:r>
            <a:r>
              <a:rPr b="1" lang="ko-KR" sz="2000" spc="-1" strike="noStrike">
                <a:solidFill>
                  <a:srgbClr val="4b6580"/>
                </a:solidFill>
                <a:latin typeface="Noto Sans KR"/>
                <a:ea typeface="Noto Sans KR"/>
              </a:rPr>
              <a:t>테크솔루션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2851200" y="2673360"/>
            <a:ext cx="17575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SI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전문기업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4973400" y="1143000"/>
            <a:ext cx="1799280" cy="2277000"/>
          </a:xfrm>
          <a:prstGeom prst="roundRect">
            <a:avLst>
              <a:gd name="adj" fmla="val 8002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4973400" y="1166760"/>
            <a:ext cx="1799280" cy="360"/>
          </a:xfrm>
          <a:prstGeom prst="line">
            <a:avLst/>
          </a:prstGeom>
          <a:ln w="47625">
            <a:solidFill>
              <a:srgbClr val="c51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5162760" y="1444680"/>
            <a:ext cx="1420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계약금액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5162760" y="2003400"/>
            <a:ext cx="14205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c51f2a"/>
                </a:solidFill>
                <a:latin typeface="Noto Sans KR"/>
                <a:ea typeface="Noto Sans KR"/>
              </a:rPr>
              <a:t>15</a:t>
            </a:r>
            <a:r>
              <a:rPr b="1" lang="ko-KR" sz="2000" spc="-1" strike="noStrike">
                <a:solidFill>
                  <a:srgbClr val="c51f2a"/>
                </a:solidFill>
                <a:latin typeface="Noto Sans KR"/>
                <a:ea typeface="Noto Sans KR"/>
              </a:rPr>
              <a:t>억원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5162760" y="2673360"/>
            <a:ext cx="1420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VAT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별도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6963480" y="1143000"/>
            <a:ext cx="1799280" cy="2277000"/>
          </a:xfrm>
          <a:prstGeom prst="roundRect">
            <a:avLst>
              <a:gd name="adj" fmla="val 8002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6963480" y="1166760"/>
            <a:ext cx="1799280" cy="360"/>
          </a:xfrm>
          <a:prstGeom prst="line">
            <a:avLst/>
          </a:prstGeom>
          <a:ln w="47625">
            <a:solidFill>
              <a:srgbClr val="e9b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7152840" y="1444680"/>
            <a:ext cx="1420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계약기간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7152840" y="2003400"/>
            <a:ext cx="14205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2000" spc="-1" strike="noStrike">
                <a:solidFill>
                  <a:srgbClr val="e9b86e"/>
                </a:solidFill>
                <a:latin typeface="Noto Sans KR"/>
                <a:ea typeface="Noto Sans KR"/>
              </a:rPr>
              <a:t>12</a:t>
            </a:r>
            <a:r>
              <a:rPr b="1" lang="ko-KR" sz="2000" spc="-1" strike="noStrike">
                <a:solidFill>
                  <a:srgbClr val="e9b86e"/>
                </a:solidFill>
                <a:latin typeface="Noto Sans KR"/>
                <a:ea typeface="Noto Sans KR"/>
              </a:rPr>
              <a:t>개월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7152840" y="2673360"/>
            <a:ext cx="1420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2025.01.06 ~ 2025.12.31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80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86008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81" name="Text 23"/>
          <p:cNvSpPr/>
          <p:nvPr/>
        </p:nvSpPr>
        <p:spPr>
          <a:xfrm>
            <a:off x="764820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Text 24"/>
          <p:cNvSpPr/>
          <p:nvPr/>
        </p:nvSpPr>
        <p:spPr>
          <a:xfrm>
            <a:off x="8699400" y="4772160"/>
            <a:ext cx="69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Text 1"/>
          <p:cNvSpPr/>
          <p:nvPr/>
        </p:nvSpPr>
        <p:spPr>
          <a:xfrm>
            <a:off x="380880" y="253800"/>
            <a:ext cx="4348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프로젝트 배경 및 목적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5" name="Text 2"/>
          <p:cNvSpPr/>
          <p:nvPr/>
        </p:nvSpPr>
        <p:spPr>
          <a:xfrm>
            <a:off x="380880" y="539640"/>
            <a:ext cx="4348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레거시 시스템 노후화 해결 및 차세대 스마트 물류 시스템 구축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" name="Text 3"/>
          <p:cNvSpPr/>
          <p:nvPr/>
        </p:nvSpPr>
        <p:spPr>
          <a:xfrm>
            <a:off x="380880" y="114300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81400" y="1252440"/>
            <a:ext cx="61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Noto Sans KR"/>
                <a:ea typeface="Noto Sans KR"/>
              </a:rPr>
              <a:t>!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Text 5"/>
          <p:cNvSpPr/>
          <p:nvPr/>
        </p:nvSpPr>
        <p:spPr>
          <a:xfrm>
            <a:off x="965160" y="1285920"/>
            <a:ext cx="10357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현황 및 문제점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Text 6"/>
          <p:cNvSpPr/>
          <p:nvPr/>
        </p:nvSpPr>
        <p:spPr>
          <a:xfrm>
            <a:off x="380880" y="1790640"/>
            <a:ext cx="4000320" cy="1729800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404640" y="1790640"/>
            <a:ext cx="360" cy="1730160"/>
          </a:xfrm>
          <a:prstGeom prst="line">
            <a:avLst/>
          </a:prstGeom>
          <a:ln w="47625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Text 8"/>
          <p:cNvSpPr/>
          <p:nvPr/>
        </p:nvSpPr>
        <p:spPr>
          <a:xfrm>
            <a:off x="619200" y="1981080"/>
            <a:ext cx="357156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000" spc="-1" strike="noStrike">
                <a:solidFill>
                  <a:srgbClr val="c51f2a"/>
                </a:solidFill>
                <a:latin typeface="Noto Sans KR"/>
                <a:ea typeface="Noto Sans KR"/>
              </a:rPr>
              <a:t>10</a:t>
            </a:r>
            <a:r>
              <a:rPr b="1" lang="ko-KR" sz="1000" spc="-1" strike="noStrike">
                <a:solidFill>
                  <a:srgbClr val="c51f2a"/>
                </a:solidFill>
                <a:latin typeface="Noto Sans KR"/>
                <a:ea typeface="Noto Sans KR"/>
              </a:rPr>
              <a:t>년 이상</a:t>
            </a: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 운영된 레거시 시스템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6262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급증하는 물동량 대응 한계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6262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처리 속도 저하 및 병목 현상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6262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실시간 재고 파악 불가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6262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타 시스템 연동 한계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Text 9"/>
          <p:cNvSpPr/>
          <p:nvPr/>
        </p:nvSpPr>
        <p:spPr>
          <a:xfrm>
            <a:off x="4762440" y="114300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4905360" y="1247760"/>
            <a:ext cx="1882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Noto Sans KR"/>
                <a:ea typeface="Noto Sans KR"/>
              </a:rPr>
              <a:t>✓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5346720" y="1285920"/>
            <a:ext cx="6750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추진 목표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4762440" y="1790640"/>
            <a:ext cx="4000320" cy="1729800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4786200" y="1790640"/>
            <a:ext cx="360" cy="1730160"/>
          </a:xfrm>
          <a:prstGeom prst="line">
            <a:avLst/>
          </a:prstGeom>
          <a:ln w="47625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5000760" y="1981080"/>
            <a:ext cx="357156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000" spc="-1" strike="noStrike">
                <a:solidFill>
                  <a:srgbClr val="c51f2a"/>
                </a:solidFill>
                <a:latin typeface="Noto Sans KR"/>
                <a:ea typeface="Noto Sans KR"/>
              </a:rPr>
              <a:t>AI </a:t>
            </a:r>
            <a:r>
              <a:rPr b="1" lang="ko-KR" sz="1000" spc="-1" strike="noStrike">
                <a:solidFill>
                  <a:srgbClr val="c51f2a"/>
                </a:solidFill>
                <a:latin typeface="Noto Sans KR"/>
                <a:ea typeface="Noto Sans KR"/>
              </a:rPr>
              <a:t>기반</a:t>
            </a: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 물류 최적화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6262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실시간 재고</a:t>
            </a: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/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배송 추적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6262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클라우드 기반 확장성 확보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6262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MSA 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아키텍처로 유연성 강화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62626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데이터 기반 의사결정 지원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98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86008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99" name="Text 15"/>
          <p:cNvSpPr/>
          <p:nvPr/>
        </p:nvSpPr>
        <p:spPr>
          <a:xfrm>
            <a:off x="764820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8699400" y="4772160"/>
            <a:ext cx="69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380880" y="253800"/>
            <a:ext cx="4551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기대 효과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380880" y="539640"/>
            <a:ext cx="4551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스마트 물류 시스템 도입으로 운영 효율 극대화 및 비용 절감 달성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1015920" y="1270080"/>
            <a:ext cx="1777680" cy="1777680"/>
          </a:xfrm>
          <a:prstGeom prst="roundRect">
            <a:avLst>
              <a:gd name="adj" fmla="val 51431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656360" y="1820880"/>
            <a:ext cx="49680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Noto Sans KR"/>
                <a:ea typeface="Noto Sans KR"/>
              </a:rPr>
              <a:t>30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602360" y="2287440"/>
            <a:ext cx="605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% </a:t>
            </a:r>
            <a:r>
              <a:rPr b="0" lang="ko-KR" sz="14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향상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647640" y="3200400"/>
            <a:ext cx="2514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물류 처리 효율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647640" y="3403440"/>
            <a:ext cx="2514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AI 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경로 최적화 및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자동화 프로세스 도입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3683160" y="1270080"/>
            <a:ext cx="1777680" cy="1777680"/>
          </a:xfrm>
          <a:prstGeom prst="roundRect">
            <a:avLst>
              <a:gd name="adj" fmla="val 51431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4137120" y="1820880"/>
            <a:ext cx="86976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Noto Sans KR"/>
                <a:ea typeface="Noto Sans KR"/>
              </a:rPr>
              <a:t>99.5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4269240" y="2287440"/>
            <a:ext cx="605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% </a:t>
            </a:r>
            <a:r>
              <a:rPr b="0" lang="ko-KR" sz="14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달성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3314880" y="3200400"/>
            <a:ext cx="2514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재고 정확도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3314880" y="3403440"/>
            <a:ext cx="2514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실시간 재고 추적 및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자동 재고 조정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6350040" y="1270080"/>
            <a:ext cx="1777680" cy="1777680"/>
          </a:xfrm>
          <a:prstGeom prst="roundRect">
            <a:avLst>
              <a:gd name="adj" fmla="val 51431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6990480" y="1820880"/>
            <a:ext cx="49680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Noto Sans KR"/>
                <a:ea typeface="Noto Sans KR"/>
              </a:rPr>
              <a:t>20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6936120" y="2287440"/>
            <a:ext cx="605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% </a:t>
            </a:r>
            <a:r>
              <a:rPr b="0" lang="ko-KR" sz="14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절감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5981760" y="3200400"/>
            <a:ext cx="2514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운영 비용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5981760" y="3403440"/>
            <a:ext cx="2514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클라우드 인프라 및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업무 자동화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19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86008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120" name="Text 18"/>
          <p:cNvSpPr/>
          <p:nvPr/>
        </p:nvSpPr>
        <p:spPr>
          <a:xfrm>
            <a:off x="764820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8699400" y="4772160"/>
            <a:ext cx="69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380880" y="253800"/>
            <a:ext cx="34048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시스템 범위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380880" y="539640"/>
            <a:ext cx="34048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4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 핵심 시스템으로 물류 전 프로세스 통합 관리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380880" y="1143000"/>
            <a:ext cx="1952280" cy="2469600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1040040" y="1396800"/>
            <a:ext cx="634680" cy="634680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1225440" y="1566720"/>
            <a:ext cx="263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Noto Sans KR"/>
                <a:ea typeface="Noto Sans KR"/>
              </a:rPr>
              <a:t>W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562680" y="2184120"/>
            <a:ext cx="1589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262626"/>
                </a:solidFill>
                <a:latin typeface="Noto Sans KR"/>
                <a:ea typeface="Noto Sans KR"/>
              </a:rPr>
              <a:t>WMS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562680" y="2444400"/>
            <a:ext cx="1589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창고관리시스템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635040" y="2730240"/>
            <a:ext cx="1444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입출고 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재고 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피킹</a:t>
            </a: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/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패킹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2523960" y="1143000"/>
            <a:ext cx="1952280" cy="2469600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3183120" y="1396800"/>
            <a:ext cx="634680" cy="634680"/>
          </a:xfrm>
          <a:prstGeom prst="roundRect">
            <a:avLst>
              <a:gd name="adj" fmla="val 144022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3414960" y="1566720"/>
            <a:ext cx="1702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Noto Sans KR"/>
                <a:ea typeface="Noto Sans KR"/>
              </a:rPr>
              <a:t>T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2705760" y="2184120"/>
            <a:ext cx="1589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262626"/>
                </a:solidFill>
                <a:latin typeface="Noto Sans KR"/>
                <a:ea typeface="Noto Sans KR"/>
              </a:rPr>
              <a:t>TMS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2705760" y="2444400"/>
            <a:ext cx="1589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배송관리시스템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2778120" y="2730240"/>
            <a:ext cx="1444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배차 관리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경로 최적화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실시간 추적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4667400" y="1143000"/>
            <a:ext cx="1952280" cy="2469600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5326200" y="1396800"/>
            <a:ext cx="634680" cy="634680"/>
          </a:xfrm>
          <a:prstGeom prst="roundRect">
            <a:avLst>
              <a:gd name="adj" fmla="val 144022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5535000" y="1566720"/>
            <a:ext cx="2167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Noto Sans KR"/>
                <a:ea typeface="Noto Sans KR"/>
              </a:rPr>
              <a:t>O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4848840" y="2184120"/>
            <a:ext cx="1589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262626"/>
                </a:solidFill>
                <a:latin typeface="Noto Sans KR"/>
                <a:ea typeface="Noto Sans KR"/>
              </a:rPr>
              <a:t>OMS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1" name="Text 19"/>
          <p:cNvSpPr/>
          <p:nvPr/>
        </p:nvSpPr>
        <p:spPr>
          <a:xfrm>
            <a:off x="4848840" y="2444400"/>
            <a:ext cx="1589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주문관리시스템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4921200" y="2730240"/>
            <a:ext cx="1444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주문 접수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주문 할당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정산 처리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3" name="Text 21"/>
          <p:cNvSpPr/>
          <p:nvPr/>
        </p:nvSpPr>
        <p:spPr>
          <a:xfrm>
            <a:off x="6810480" y="1143000"/>
            <a:ext cx="1952280" cy="2469600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7469280" y="1396800"/>
            <a:ext cx="634680" cy="634680"/>
          </a:xfrm>
          <a:prstGeom prst="roundRect">
            <a:avLst>
              <a:gd name="adj" fmla="val 144022"/>
            </a:avLst>
          </a:prstGeom>
          <a:solidFill>
            <a:srgbClr val="e9b8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Text 23"/>
          <p:cNvSpPr/>
          <p:nvPr/>
        </p:nvSpPr>
        <p:spPr>
          <a:xfrm>
            <a:off x="7685640" y="1566720"/>
            <a:ext cx="2016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Noto Sans KR"/>
                <a:ea typeface="Noto Sans KR"/>
              </a:rPr>
              <a:t>D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6991920" y="2184120"/>
            <a:ext cx="15890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262626"/>
                </a:solidFill>
                <a:latin typeface="Noto Sans KR"/>
                <a:ea typeface="Noto Sans KR"/>
              </a:rPr>
              <a:t>Dashboard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7" name="Text 25"/>
          <p:cNvSpPr/>
          <p:nvPr/>
        </p:nvSpPr>
        <p:spPr>
          <a:xfrm>
            <a:off x="6991920" y="2444400"/>
            <a:ext cx="1589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통합모니터링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Text 26"/>
          <p:cNvSpPr/>
          <p:nvPr/>
        </p:nvSpPr>
        <p:spPr>
          <a:xfrm>
            <a:off x="7064280" y="2730240"/>
            <a:ext cx="1444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실시간 현황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KPI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모니터링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62626"/>
              </a:buClr>
              <a:buFont typeface="Symbol" charset="2"/>
              <a:buChar char=""/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리포트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9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86008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150" name="Text 27"/>
          <p:cNvSpPr/>
          <p:nvPr/>
        </p:nvSpPr>
        <p:spPr>
          <a:xfrm>
            <a:off x="764820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Text 28"/>
          <p:cNvSpPr/>
          <p:nvPr/>
        </p:nvSpPr>
        <p:spPr>
          <a:xfrm>
            <a:off x="8699400" y="4772160"/>
            <a:ext cx="69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334120" y="1333440"/>
            <a:ext cx="3809520" cy="3809520"/>
          </a:xfrm>
          <a:prstGeom prst="rect">
            <a:avLst/>
          </a:prstGeom>
          <a:solidFill>
            <a:srgbClr val="b7d0d4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1015920" y="1763640"/>
            <a:ext cx="3724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>
                    <a:alpha val="20000"/>
                  </a:srgbClr>
                </a:solidFill>
                <a:latin typeface="Noto Sans KR"/>
                <a:ea typeface="Noto Sans KR"/>
              </a:rPr>
              <a:t>02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1015920" y="2550960"/>
            <a:ext cx="372492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3200" spc="-1" strike="noStrike">
                <a:solidFill>
                  <a:srgbClr val="ffffff"/>
                </a:solidFill>
                <a:latin typeface="Noto Sans KR"/>
                <a:ea typeface="Noto Sans KR"/>
              </a:rPr>
              <a:t>추진 전략 및 방법론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1015920" y="3208320"/>
            <a:ext cx="37249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b7d0d4"/>
                </a:solidFill>
                <a:latin typeface="Noto Sans KR"/>
                <a:ea typeface="Noto Sans KR"/>
              </a:rPr>
              <a:t>Strategy &amp; Methodology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1015920" y="4077000"/>
            <a:ext cx="761760" cy="5040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1015920" y="4365720"/>
            <a:ext cx="541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핵심 전략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1889280" y="4365720"/>
            <a:ext cx="66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수행 방법론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2877120" y="4365720"/>
            <a:ext cx="792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기술 아키텍처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8699400" y="4819680"/>
            <a:ext cx="69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8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380880" y="253800"/>
            <a:ext cx="4382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핵심 추진 전략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380880" y="539640"/>
            <a:ext cx="43822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"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안정적 전환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"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과 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"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혁신적 기능 구현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"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의 균형을 핵심 가치로 추진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380880" y="1143000"/>
            <a:ext cx="2624400" cy="3177000"/>
          </a:xfrm>
          <a:prstGeom prst="roundRect">
            <a:avLst>
              <a:gd name="adj" fmla="val 5309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2137320" y="1270080"/>
            <a:ext cx="7455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>
                    <a:alpha val="20000"/>
                  </a:srgbClr>
                </a:solidFill>
                <a:latin typeface="Noto Sans KR"/>
                <a:ea typeface="Noto Sans KR"/>
              </a:rPr>
              <a:t>01</a:t>
            </a:r>
            <a:endParaRPr b="0" lang="en-US" sz="4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698400" y="1957680"/>
            <a:ext cx="2188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rgbClr val="ffffff"/>
                </a:solidFill>
                <a:latin typeface="Noto Sans KR"/>
                <a:ea typeface="Noto Sans KR"/>
              </a:rPr>
              <a:t>단계적 전환 전략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698400" y="2294280"/>
            <a:ext cx="21884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Big Bang </a:t>
            </a:r>
            <a:r>
              <a:rPr b="0" lang="ko-KR" sz="10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방식이 아닌 모듈별 순차 전환으로 리스크 최소화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698400" y="3240000"/>
            <a:ext cx="1066320" cy="536040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868680" y="3423960"/>
            <a:ext cx="726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1500"/>
              </a:spcBef>
              <a:tabLst>
                <a:tab algn="l" pos="0"/>
              </a:tabLst>
            </a:pPr>
            <a:r>
              <a:rPr b="0" lang="ko-KR" sz="2200" spc="-1" strike="noStrike">
                <a:solidFill>
                  <a:srgbClr val="ffffff"/>
                </a:solidFill>
                <a:latin typeface="Noto Sans KR"/>
                <a:ea typeface="Noto Sans KR"/>
              </a:rPr>
              <a:t>리스크 최소화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3259800" y="1143000"/>
            <a:ext cx="2624400" cy="3177000"/>
          </a:xfrm>
          <a:prstGeom prst="roundRect">
            <a:avLst>
              <a:gd name="adj" fmla="val 5309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5015880" y="1270080"/>
            <a:ext cx="7455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>
                    <a:alpha val="20000"/>
                  </a:srgbClr>
                </a:solidFill>
                <a:latin typeface="Noto Sans KR"/>
                <a:ea typeface="Noto Sans KR"/>
              </a:rPr>
              <a:t>02</a:t>
            </a:r>
            <a:endParaRPr b="0" lang="en-US" sz="4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3576960" y="1957680"/>
            <a:ext cx="2188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rgbClr val="ffffff"/>
                </a:solidFill>
                <a:latin typeface="Noto Sans KR"/>
                <a:ea typeface="Noto Sans KR"/>
              </a:rPr>
              <a:t>애자일 기반 개발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3576960" y="2294280"/>
            <a:ext cx="21884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2</a:t>
            </a:r>
            <a:r>
              <a:rPr b="0" lang="ko-KR" sz="10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주 단위 스프린트로 빠른 피드백과 유연한 대응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3576960" y="3240000"/>
            <a:ext cx="1015560" cy="536040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3779280" y="3423960"/>
            <a:ext cx="610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1500"/>
              </a:spcBef>
              <a:tabLst>
                <a:tab algn="l" pos="0"/>
              </a:tabLst>
            </a:pPr>
            <a:r>
              <a:rPr b="0" lang="ko-KR" sz="2200" spc="-1" strike="noStrike">
                <a:solidFill>
                  <a:srgbClr val="ffffff"/>
                </a:solidFill>
                <a:latin typeface="Noto Sans KR"/>
                <a:ea typeface="Noto Sans KR"/>
              </a:rPr>
              <a:t>빠른 피드백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6138360" y="1143000"/>
            <a:ext cx="2624400" cy="3177000"/>
          </a:xfrm>
          <a:prstGeom prst="roundRect">
            <a:avLst>
              <a:gd name="adj" fmla="val 5309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7894440" y="1270080"/>
            <a:ext cx="7455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>
                    <a:alpha val="20000"/>
                  </a:srgbClr>
                </a:solidFill>
                <a:latin typeface="Noto Sans KR"/>
                <a:ea typeface="Noto Sans KR"/>
              </a:rPr>
              <a:t>03</a:t>
            </a:r>
            <a:endParaRPr b="0" lang="en-US" sz="4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6455880" y="1957680"/>
            <a:ext cx="21884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400" spc="-1" strike="noStrike">
                <a:solidFill>
                  <a:srgbClr val="ffffff"/>
                </a:solidFill>
                <a:latin typeface="Noto Sans KR"/>
                <a:ea typeface="Noto Sans KR"/>
              </a:rPr>
              <a:t>현업 밀착 협업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6455880" y="2294280"/>
            <a:ext cx="21884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주 </a:t>
            </a:r>
            <a:r>
              <a:rPr b="0" lang="en-US" sz="10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2</a:t>
            </a:r>
            <a:r>
              <a:rPr b="0" lang="ko-KR" sz="1000" spc="-1" strike="noStrike">
                <a:solidFill>
                  <a:srgbClr val="ffffff">
                    <a:alpha val="90000"/>
                  </a:srgbClr>
                </a:solidFill>
                <a:latin typeface="Noto Sans KR"/>
                <a:ea typeface="Noto Sans KR"/>
              </a:rPr>
              <a:t>회 현업 리뷰를 통한 요구사항 정합성 확보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6455880" y="3240000"/>
            <a:ext cx="1015560" cy="536040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" name="Text 20"/>
          <p:cNvSpPr/>
          <p:nvPr/>
        </p:nvSpPr>
        <p:spPr>
          <a:xfrm>
            <a:off x="6658200" y="3423960"/>
            <a:ext cx="610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1500"/>
              </a:spcBef>
              <a:tabLst>
                <a:tab algn="l" pos="0"/>
              </a:tabLst>
            </a:pPr>
            <a:r>
              <a:rPr b="0" lang="ko-KR" sz="2200" spc="-1" strike="noStrike">
                <a:solidFill>
                  <a:srgbClr val="ffffff"/>
                </a:solidFill>
                <a:latin typeface="Noto Sans KR"/>
                <a:ea typeface="Noto Sans KR"/>
              </a:rPr>
              <a:t>정합성 확보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82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86008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183" name="Text 21"/>
          <p:cNvSpPr/>
          <p:nvPr/>
        </p:nvSpPr>
        <p:spPr>
          <a:xfrm>
            <a:off x="764820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8699400" y="4772160"/>
            <a:ext cx="69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380880" y="253800"/>
            <a:ext cx="4302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수행 방법론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380880" y="539640"/>
            <a:ext cx="4302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Agile-Waterfall 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하이브리드 방법론으로 안정성과 유연성 결합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380880" y="1079280"/>
            <a:ext cx="1852200" cy="354960"/>
          </a:xfrm>
          <a:prstGeom prst="roundRect">
            <a:avLst>
              <a:gd name="adj" fmla="val 14294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635040" y="1180800"/>
            <a:ext cx="1478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Noto Sans KR"/>
                <a:ea typeface="Noto Sans KR"/>
              </a:rPr>
              <a:t>Agile-Waterfall Hybrid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444240" y="1650960"/>
            <a:ext cx="1968480" cy="2288160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 cap="rnd" w="0">
            <a:solidFill>
              <a:srgbClr val="000000"/>
            </a:solidFill>
            <a:prstDash val="sys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444240" y="1674720"/>
            <a:ext cx="1968840" cy="360"/>
          </a:xfrm>
          <a:prstGeom prst="line">
            <a:avLst/>
          </a:prstGeom>
          <a:ln w="47625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485640" y="1888920"/>
            <a:ext cx="18860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분석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485640" y="2162160"/>
            <a:ext cx="1886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요구사항 정의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현행 분석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571320" y="3266640"/>
            <a:ext cx="1714320" cy="38052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625320" y="3342600"/>
            <a:ext cx="1606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요구사항정의서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AS-IS 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분석서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Text 11"/>
          <p:cNvSpPr/>
          <p:nvPr/>
        </p:nvSpPr>
        <p:spPr>
          <a:xfrm>
            <a:off x="2415600" y="2319480"/>
            <a:ext cx="223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b6b6b6"/>
                </a:solidFill>
                <a:latin typeface="Noto Sans KR"/>
                <a:ea typeface="Noto Sans KR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2539800" y="1650960"/>
            <a:ext cx="1968480" cy="2309040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 cap="rnd" w="0">
            <a:solidFill>
              <a:srgbClr val="000000"/>
            </a:solidFill>
            <a:prstDash val="sys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Shape 13"/>
          <p:cNvSpPr/>
          <p:nvPr/>
        </p:nvSpPr>
        <p:spPr>
          <a:xfrm>
            <a:off x="2539800" y="1674720"/>
            <a:ext cx="1968480" cy="360"/>
          </a:xfrm>
          <a:prstGeom prst="line">
            <a:avLst/>
          </a:prstGeom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 14"/>
          <p:cNvSpPr/>
          <p:nvPr/>
        </p:nvSpPr>
        <p:spPr>
          <a:xfrm>
            <a:off x="2581200" y="1888920"/>
            <a:ext cx="18860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설계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Text 15"/>
          <p:cNvSpPr/>
          <p:nvPr/>
        </p:nvSpPr>
        <p:spPr>
          <a:xfrm>
            <a:off x="2581200" y="2162160"/>
            <a:ext cx="1886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아키텍처 설계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44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UI/DB 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설계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Text 16"/>
          <p:cNvSpPr/>
          <p:nvPr/>
        </p:nvSpPr>
        <p:spPr>
          <a:xfrm>
            <a:off x="2666880" y="3266640"/>
            <a:ext cx="1714320" cy="333360"/>
          </a:xfrm>
          <a:prstGeom prst="roundRect">
            <a:avLst>
              <a:gd name="adj" fmla="val 19048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Text 17"/>
          <p:cNvSpPr/>
          <p:nvPr/>
        </p:nvSpPr>
        <p:spPr>
          <a:xfrm>
            <a:off x="2720880" y="3342600"/>
            <a:ext cx="16066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설계서 일체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Text 18"/>
          <p:cNvSpPr/>
          <p:nvPr/>
        </p:nvSpPr>
        <p:spPr>
          <a:xfrm>
            <a:off x="4511160" y="2262240"/>
            <a:ext cx="223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b6b6b6"/>
                </a:solidFill>
                <a:latin typeface="Noto Sans KR"/>
                <a:ea typeface="Noto Sans KR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4635360" y="1650960"/>
            <a:ext cx="1968480" cy="2288160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 cap="rnd" w="0">
            <a:solidFill>
              <a:srgbClr val="000000"/>
            </a:solidFill>
            <a:prstDash val="sys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5" name="Shape 20"/>
          <p:cNvSpPr/>
          <p:nvPr/>
        </p:nvSpPr>
        <p:spPr>
          <a:xfrm>
            <a:off x="4635360" y="1674720"/>
            <a:ext cx="1968480" cy="360"/>
          </a:xfrm>
          <a:prstGeom prst="line">
            <a:avLst/>
          </a:prstGeom>
          <a:ln w="47625">
            <a:solidFill>
              <a:srgbClr val="b7d0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6" name="Text 21"/>
          <p:cNvSpPr/>
          <p:nvPr/>
        </p:nvSpPr>
        <p:spPr>
          <a:xfrm>
            <a:off x="4676760" y="1888920"/>
            <a:ext cx="18860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개발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" name="Text 22"/>
          <p:cNvSpPr/>
          <p:nvPr/>
        </p:nvSpPr>
        <p:spPr>
          <a:xfrm>
            <a:off x="4676760" y="2162160"/>
            <a:ext cx="1886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기능 구현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단위 테스트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Text 23"/>
          <p:cNvSpPr/>
          <p:nvPr/>
        </p:nvSpPr>
        <p:spPr>
          <a:xfrm>
            <a:off x="4762440" y="3266640"/>
            <a:ext cx="1714320" cy="38052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4816080" y="3342600"/>
            <a:ext cx="1606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소스코드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단위테스트결과서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Text 25"/>
          <p:cNvSpPr/>
          <p:nvPr/>
        </p:nvSpPr>
        <p:spPr>
          <a:xfrm>
            <a:off x="6606720" y="2319480"/>
            <a:ext cx="223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b6b6b6"/>
                </a:solidFill>
                <a:latin typeface="Noto Sans KR"/>
                <a:ea typeface="Noto Sans KR"/>
              </a:rPr>
              <a:t>→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1" name="Text 26"/>
          <p:cNvSpPr/>
          <p:nvPr/>
        </p:nvSpPr>
        <p:spPr>
          <a:xfrm>
            <a:off x="6730920" y="1650960"/>
            <a:ext cx="1968480" cy="2288160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 cap="rnd" w="0">
            <a:solidFill>
              <a:srgbClr val="000000"/>
            </a:solidFill>
            <a:prstDash val="sys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" name="Shape 27"/>
          <p:cNvSpPr/>
          <p:nvPr/>
        </p:nvSpPr>
        <p:spPr>
          <a:xfrm>
            <a:off x="6730560" y="1674720"/>
            <a:ext cx="1968840" cy="360"/>
          </a:xfrm>
          <a:prstGeom prst="line">
            <a:avLst/>
          </a:prstGeom>
          <a:ln w="47625">
            <a:solidFill>
              <a:srgbClr val="c51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" name="Text 28"/>
          <p:cNvSpPr/>
          <p:nvPr/>
        </p:nvSpPr>
        <p:spPr>
          <a:xfrm>
            <a:off x="6771960" y="1888920"/>
            <a:ext cx="18860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테스트</a:t>
            </a:r>
            <a:r>
              <a:rPr b="1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/</a:t>
            </a: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이행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4" name="Text 29"/>
          <p:cNvSpPr/>
          <p:nvPr/>
        </p:nvSpPr>
        <p:spPr>
          <a:xfrm>
            <a:off x="6771960" y="2162160"/>
            <a:ext cx="1886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통합</a:t>
            </a: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/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인수 테스트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44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시스템 전환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Text 30"/>
          <p:cNvSpPr/>
          <p:nvPr/>
        </p:nvSpPr>
        <p:spPr>
          <a:xfrm>
            <a:off x="6858000" y="3266640"/>
            <a:ext cx="1714320" cy="38052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Text 31"/>
          <p:cNvSpPr/>
          <p:nvPr/>
        </p:nvSpPr>
        <p:spPr>
          <a:xfrm>
            <a:off x="6911640" y="3342600"/>
            <a:ext cx="1606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테스트결과서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이행계획서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17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79672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218" name="Text 32"/>
          <p:cNvSpPr/>
          <p:nvPr/>
        </p:nvSpPr>
        <p:spPr>
          <a:xfrm>
            <a:off x="758484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" name="Text 33"/>
          <p:cNvSpPr/>
          <p:nvPr/>
        </p:nvSpPr>
        <p:spPr>
          <a:xfrm>
            <a:off x="8635680" y="477216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10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380880" y="253800"/>
            <a:ext cx="38228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기술 아키텍처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380880" y="539640"/>
            <a:ext cx="38228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최신 기술 스택 기반 클라우드 네이티브 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MSA 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아키텍처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380880" y="1079280"/>
            <a:ext cx="1142640" cy="520200"/>
          </a:xfrm>
          <a:prstGeom prst="roundRect">
            <a:avLst>
              <a:gd name="adj" fmla="val 9758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698400" y="1268280"/>
            <a:ext cx="558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Frontend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1523880" y="1079280"/>
            <a:ext cx="7238520" cy="5202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1714680" y="1263600"/>
            <a:ext cx="881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Vue.js 3 v3.4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3024360" y="1263600"/>
            <a:ext cx="72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TypeScript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4191480" y="1231920"/>
            <a:ext cx="888480" cy="215280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4314960" y="1282680"/>
            <a:ext cx="6422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SPA 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구조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380880" y="1701720"/>
            <a:ext cx="1142640" cy="520200"/>
          </a:xfrm>
          <a:prstGeom prst="roundRect">
            <a:avLst>
              <a:gd name="adj" fmla="val 9758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705600" y="1890360"/>
            <a:ext cx="543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Backend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1523880" y="1701720"/>
            <a:ext cx="7238520" cy="5202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1714680" y="1885680"/>
            <a:ext cx="1135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Spring Boot v3.2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4" name="Text 14"/>
          <p:cNvSpPr/>
          <p:nvPr/>
        </p:nvSpPr>
        <p:spPr>
          <a:xfrm>
            <a:off x="3254400" y="1885680"/>
            <a:ext cx="537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Java 17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4251600" y="1854000"/>
            <a:ext cx="888480" cy="215280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4374720" y="1904760"/>
            <a:ext cx="6422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MSA 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구조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380880" y="2323800"/>
            <a:ext cx="1142640" cy="520200"/>
          </a:xfrm>
          <a:prstGeom prst="roundRect">
            <a:avLst>
              <a:gd name="adj" fmla="val 9758"/>
            </a:avLst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Text 18"/>
          <p:cNvSpPr/>
          <p:nvPr/>
        </p:nvSpPr>
        <p:spPr>
          <a:xfrm>
            <a:off x="680760" y="2512440"/>
            <a:ext cx="597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Database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1523880" y="2323800"/>
            <a:ext cx="7238520" cy="5202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1714680" y="2507760"/>
            <a:ext cx="10440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PostgreSQL 16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1" name="Text 21"/>
          <p:cNvSpPr/>
          <p:nvPr/>
        </p:nvSpPr>
        <p:spPr>
          <a:xfrm>
            <a:off x="3171600" y="2507760"/>
            <a:ext cx="520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Redis 7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4152960" y="2476080"/>
            <a:ext cx="1080000" cy="215280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Text 23"/>
          <p:cNvSpPr/>
          <p:nvPr/>
        </p:nvSpPr>
        <p:spPr>
          <a:xfrm>
            <a:off x="4266360" y="2526840"/>
            <a:ext cx="8528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RDBMS + Cache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4" name="Text 24"/>
          <p:cNvSpPr/>
          <p:nvPr/>
        </p:nvSpPr>
        <p:spPr>
          <a:xfrm>
            <a:off x="380880" y="2945880"/>
            <a:ext cx="1142640" cy="520200"/>
          </a:xfrm>
          <a:prstGeom prst="roundRect">
            <a:avLst>
              <a:gd name="adj" fmla="val 9758"/>
            </a:avLst>
          </a:prstGeom>
          <a:solidFill>
            <a:srgbClr val="b7d0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5" name="Text 25"/>
          <p:cNvSpPr/>
          <p:nvPr/>
        </p:nvSpPr>
        <p:spPr>
          <a:xfrm>
            <a:off x="825480" y="3134520"/>
            <a:ext cx="279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Infra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Text 26"/>
          <p:cNvSpPr/>
          <p:nvPr/>
        </p:nvSpPr>
        <p:spPr>
          <a:xfrm>
            <a:off x="1523880" y="2945880"/>
            <a:ext cx="7238520" cy="5202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7" name="Text 27"/>
          <p:cNvSpPr/>
          <p:nvPr/>
        </p:nvSpPr>
        <p:spPr>
          <a:xfrm>
            <a:off x="1714680" y="3129840"/>
            <a:ext cx="693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AWS EKS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8" name="Text 28"/>
          <p:cNvSpPr/>
          <p:nvPr/>
        </p:nvSpPr>
        <p:spPr>
          <a:xfrm>
            <a:off x="2853360" y="3129840"/>
            <a:ext cx="3240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RDS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9" name="Text 29"/>
          <p:cNvSpPr/>
          <p:nvPr/>
        </p:nvSpPr>
        <p:spPr>
          <a:xfrm>
            <a:off x="3655800" y="3129840"/>
            <a:ext cx="187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S3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0" name="Text 30"/>
          <p:cNvSpPr/>
          <p:nvPr/>
        </p:nvSpPr>
        <p:spPr>
          <a:xfrm>
            <a:off x="4334760" y="3098160"/>
            <a:ext cx="1094760" cy="215280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1" name="Text 31"/>
          <p:cNvSpPr/>
          <p:nvPr/>
        </p:nvSpPr>
        <p:spPr>
          <a:xfrm>
            <a:off x="4447440" y="3148920"/>
            <a:ext cx="8690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클라우드 네이티브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2" name="Text 32"/>
          <p:cNvSpPr/>
          <p:nvPr/>
        </p:nvSpPr>
        <p:spPr>
          <a:xfrm>
            <a:off x="380880" y="3567960"/>
            <a:ext cx="1142640" cy="520200"/>
          </a:xfrm>
          <a:prstGeom prst="roundRect">
            <a:avLst>
              <a:gd name="adj" fmla="val 9758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3" name="Text 33"/>
          <p:cNvSpPr/>
          <p:nvPr/>
        </p:nvSpPr>
        <p:spPr>
          <a:xfrm>
            <a:off x="786600" y="3756600"/>
            <a:ext cx="3643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AI/ML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Text 34"/>
          <p:cNvSpPr/>
          <p:nvPr/>
        </p:nvSpPr>
        <p:spPr>
          <a:xfrm>
            <a:off x="1523880" y="3567960"/>
            <a:ext cx="7238520" cy="52020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5" name="Text 35"/>
          <p:cNvSpPr/>
          <p:nvPr/>
        </p:nvSpPr>
        <p:spPr>
          <a:xfrm>
            <a:off x="1714680" y="3751920"/>
            <a:ext cx="807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Python 3.11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6" name="Text 36"/>
          <p:cNvSpPr/>
          <p:nvPr/>
        </p:nvSpPr>
        <p:spPr>
          <a:xfrm>
            <a:off x="2957040" y="3751920"/>
            <a:ext cx="1126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TensorFlow 2.15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Text 37"/>
          <p:cNvSpPr/>
          <p:nvPr/>
        </p:nvSpPr>
        <p:spPr>
          <a:xfrm>
            <a:off x="4489200" y="3720240"/>
            <a:ext cx="1218240" cy="215280"/>
          </a:xfrm>
          <a:prstGeom prst="roundRect">
            <a:avLst>
              <a:gd name="adj" fmla="val 17655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Text 38"/>
          <p:cNvSpPr/>
          <p:nvPr/>
        </p:nvSpPr>
        <p:spPr>
          <a:xfrm>
            <a:off x="4595760" y="3771000"/>
            <a:ext cx="100476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수요예측</a:t>
            </a: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, 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경로최적화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59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80500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260" name="Text 39"/>
          <p:cNvSpPr/>
          <p:nvPr/>
        </p:nvSpPr>
        <p:spPr>
          <a:xfrm>
            <a:off x="759312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1" name="Text 40"/>
          <p:cNvSpPr/>
          <p:nvPr/>
        </p:nvSpPr>
        <p:spPr>
          <a:xfrm>
            <a:off x="8644320" y="4772160"/>
            <a:ext cx="1303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5334120" y="1333440"/>
            <a:ext cx="3809520" cy="3809520"/>
          </a:xfrm>
          <a:prstGeom prst="rect">
            <a:avLst/>
          </a:prstGeom>
          <a:solidFill>
            <a:srgbClr val="b7d0d4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1015920" y="1763640"/>
            <a:ext cx="263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>
                    <a:alpha val="20000"/>
                  </a:srgbClr>
                </a:solidFill>
                <a:latin typeface="Noto Sans KR"/>
                <a:ea typeface="Noto Sans KR"/>
              </a:rPr>
              <a:t>03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1015920" y="2550960"/>
            <a:ext cx="263844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3200" spc="-1" strike="noStrike">
                <a:solidFill>
                  <a:srgbClr val="ffffff"/>
                </a:solidFill>
                <a:latin typeface="Noto Sans KR"/>
                <a:ea typeface="Noto Sans KR"/>
              </a:rPr>
              <a:t>프로젝트 조직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1015920" y="3208320"/>
            <a:ext cx="2638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b7d0d4"/>
                </a:solidFill>
                <a:latin typeface="Noto Sans KR"/>
                <a:ea typeface="Noto Sans KR"/>
              </a:rPr>
              <a:t>Project Organization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1015920" y="4077000"/>
            <a:ext cx="761760" cy="5040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7" name="Text 5"/>
          <p:cNvSpPr/>
          <p:nvPr/>
        </p:nvSpPr>
        <p:spPr>
          <a:xfrm>
            <a:off x="1015920" y="4365720"/>
            <a:ext cx="541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조직 구성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1889280" y="4365720"/>
            <a:ext cx="7059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역할 및 책임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2912400" y="4365720"/>
            <a:ext cx="541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투입 인력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70" name="Text 8"/>
          <p:cNvSpPr/>
          <p:nvPr/>
        </p:nvSpPr>
        <p:spPr>
          <a:xfrm>
            <a:off x="8635680" y="481968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12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Text 1"/>
          <p:cNvSpPr/>
          <p:nvPr/>
        </p:nvSpPr>
        <p:spPr>
          <a:xfrm>
            <a:off x="380880" y="253800"/>
            <a:ext cx="37461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프로젝트 조직도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380880" y="539640"/>
            <a:ext cx="37461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발주기관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-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수행사 협력 체계로 효율적인 프로젝트 수행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3809880" y="1079280"/>
            <a:ext cx="1523520" cy="806040"/>
          </a:xfrm>
          <a:prstGeom prst="roundRect">
            <a:avLst>
              <a:gd name="adj" fmla="val 9450"/>
            </a:avLst>
          </a:prstGeom>
          <a:solidFill>
            <a:srgbClr val="fff9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3833640" y="1079280"/>
            <a:ext cx="360" cy="806400"/>
          </a:xfrm>
          <a:prstGeom prst="line">
            <a:avLst/>
          </a:prstGeom>
          <a:ln w="47625">
            <a:solidFill>
              <a:srgbClr val="e9b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4007160" y="1231920"/>
            <a:ext cx="1176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발주기관 </a:t>
            </a: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PM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4007160" y="1415880"/>
            <a:ext cx="1176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정민호 부장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4007160" y="1619280"/>
            <a:ext cx="11768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총괄 관리</a:t>
            </a: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, 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의사결정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4559400" y="2076480"/>
            <a:ext cx="24840" cy="190080"/>
          </a:xfrm>
          <a:prstGeom prst="rect">
            <a:avLst/>
          </a:prstGeom>
          <a:solidFill>
            <a:srgbClr val="b6b6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2909160" y="2266920"/>
            <a:ext cx="1547280" cy="806040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1" name="Shape 10"/>
          <p:cNvSpPr/>
          <p:nvPr/>
        </p:nvSpPr>
        <p:spPr>
          <a:xfrm>
            <a:off x="2932920" y="2266560"/>
            <a:ext cx="360" cy="806400"/>
          </a:xfrm>
          <a:prstGeom prst="line">
            <a:avLst/>
          </a:prstGeom>
          <a:ln w="47625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3105360" y="2419200"/>
            <a:ext cx="12027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수행사 </a:t>
            </a: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PM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3105360" y="2603160"/>
            <a:ext cx="1202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김철수 차장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3105360" y="2806560"/>
            <a:ext cx="120276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수행 총괄</a:t>
            </a: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, 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품질</a:t>
            </a: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/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위험 관리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4710600" y="2266920"/>
            <a:ext cx="1523520" cy="806040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Shape 15"/>
          <p:cNvSpPr/>
          <p:nvPr/>
        </p:nvSpPr>
        <p:spPr>
          <a:xfrm>
            <a:off x="4734360" y="2266560"/>
            <a:ext cx="360" cy="806400"/>
          </a:xfrm>
          <a:prstGeom prst="line">
            <a:avLst/>
          </a:prstGeom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4907880" y="2419200"/>
            <a:ext cx="1176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PMO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4907880" y="2603160"/>
            <a:ext cx="1176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이영희 과장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4907880" y="2806560"/>
            <a:ext cx="11768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프로젝트 관리 지원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4559400" y="3263760"/>
            <a:ext cx="24840" cy="190080"/>
          </a:xfrm>
          <a:prstGeom prst="rect">
            <a:avLst/>
          </a:prstGeom>
          <a:solidFill>
            <a:srgbClr val="b6b6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Text 20"/>
          <p:cNvSpPr/>
          <p:nvPr/>
        </p:nvSpPr>
        <p:spPr>
          <a:xfrm>
            <a:off x="1143000" y="3454200"/>
            <a:ext cx="1523520" cy="806040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Shape 21"/>
          <p:cNvSpPr/>
          <p:nvPr/>
        </p:nvSpPr>
        <p:spPr>
          <a:xfrm>
            <a:off x="1166760" y="3453840"/>
            <a:ext cx="360" cy="806400"/>
          </a:xfrm>
          <a:prstGeom prst="line">
            <a:avLst/>
          </a:prstGeom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3" name="Text 22"/>
          <p:cNvSpPr/>
          <p:nvPr/>
        </p:nvSpPr>
        <p:spPr>
          <a:xfrm>
            <a:off x="1340280" y="3606480"/>
            <a:ext cx="1176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AA (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아키텍트</a:t>
            </a: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Text 23"/>
          <p:cNvSpPr/>
          <p:nvPr/>
        </p:nvSpPr>
        <p:spPr>
          <a:xfrm>
            <a:off x="1340280" y="3790800"/>
            <a:ext cx="1176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박준형 책임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5" name="Text 24"/>
          <p:cNvSpPr/>
          <p:nvPr/>
        </p:nvSpPr>
        <p:spPr>
          <a:xfrm>
            <a:off x="1340280" y="3993840"/>
            <a:ext cx="11768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시스템 설계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6" name="Text 25"/>
          <p:cNvSpPr/>
          <p:nvPr/>
        </p:nvSpPr>
        <p:spPr>
          <a:xfrm>
            <a:off x="2921040" y="3454200"/>
            <a:ext cx="1523520" cy="806040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7" name="Shape 26"/>
          <p:cNvSpPr/>
          <p:nvPr/>
        </p:nvSpPr>
        <p:spPr>
          <a:xfrm>
            <a:off x="2944800" y="3453840"/>
            <a:ext cx="360" cy="806400"/>
          </a:xfrm>
          <a:prstGeom prst="line">
            <a:avLst/>
          </a:prstGeom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8" name="Text 27"/>
          <p:cNvSpPr/>
          <p:nvPr/>
        </p:nvSpPr>
        <p:spPr>
          <a:xfrm>
            <a:off x="3118320" y="3606480"/>
            <a:ext cx="1176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개발 리더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Text 28"/>
          <p:cNvSpPr/>
          <p:nvPr/>
        </p:nvSpPr>
        <p:spPr>
          <a:xfrm>
            <a:off x="3118320" y="3790800"/>
            <a:ext cx="1176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최수진 선임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0" name="Text 29"/>
          <p:cNvSpPr/>
          <p:nvPr/>
        </p:nvSpPr>
        <p:spPr>
          <a:xfrm>
            <a:off x="3118320" y="3993840"/>
            <a:ext cx="11768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개발 총괄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1" name="Text 30"/>
          <p:cNvSpPr/>
          <p:nvPr/>
        </p:nvSpPr>
        <p:spPr>
          <a:xfrm>
            <a:off x="4699080" y="3454200"/>
            <a:ext cx="1523520" cy="806040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2" name="Shape 31"/>
          <p:cNvSpPr/>
          <p:nvPr/>
        </p:nvSpPr>
        <p:spPr>
          <a:xfrm>
            <a:off x="4722480" y="3453840"/>
            <a:ext cx="360" cy="806400"/>
          </a:xfrm>
          <a:prstGeom prst="line">
            <a:avLst/>
          </a:prstGeom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3" name="Text 32"/>
          <p:cNvSpPr/>
          <p:nvPr/>
        </p:nvSpPr>
        <p:spPr>
          <a:xfrm>
            <a:off x="4896360" y="3606480"/>
            <a:ext cx="1176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QA 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담당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4" name="Text 33"/>
          <p:cNvSpPr/>
          <p:nvPr/>
        </p:nvSpPr>
        <p:spPr>
          <a:xfrm>
            <a:off x="4896360" y="3790800"/>
            <a:ext cx="1176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한미영 대리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5" name="Text 34"/>
          <p:cNvSpPr/>
          <p:nvPr/>
        </p:nvSpPr>
        <p:spPr>
          <a:xfrm>
            <a:off x="4896360" y="3993840"/>
            <a:ext cx="11768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품질 관리</a:t>
            </a: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, 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테스트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6" name="Text 35"/>
          <p:cNvSpPr/>
          <p:nvPr/>
        </p:nvSpPr>
        <p:spPr>
          <a:xfrm>
            <a:off x="6476760" y="3454200"/>
            <a:ext cx="1523520" cy="806040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" name="Shape 36"/>
          <p:cNvSpPr/>
          <p:nvPr/>
        </p:nvSpPr>
        <p:spPr>
          <a:xfrm>
            <a:off x="6500520" y="3453840"/>
            <a:ext cx="360" cy="806400"/>
          </a:xfrm>
          <a:prstGeom prst="line">
            <a:avLst/>
          </a:prstGeom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Text 37"/>
          <p:cNvSpPr/>
          <p:nvPr/>
        </p:nvSpPr>
        <p:spPr>
          <a:xfrm>
            <a:off x="6674040" y="3606480"/>
            <a:ext cx="1176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DBA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9" name="Text 38"/>
          <p:cNvSpPr/>
          <p:nvPr/>
        </p:nvSpPr>
        <p:spPr>
          <a:xfrm>
            <a:off x="6674040" y="3790800"/>
            <a:ext cx="1176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오현우 대리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0" name="Text 39"/>
          <p:cNvSpPr/>
          <p:nvPr/>
        </p:nvSpPr>
        <p:spPr>
          <a:xfrm>
            <a:off x="6674040" y="3993840"/>
            <a:ext cx="11768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DB 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설계 및 튜닝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11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79672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312" name="Text 40"/>
          <p:cNvSpPr/>
          <p:nvPr/>
        </p:nvSpPr>
        <p:spPr>
          <a:xfrm>
            <a:off x="758484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3" name="Text 41"/>
          <p:cNvSpPr/>
          <p:nvPr/>
        </p:nvSpPr>
        <p:spPr>
          <a:xfrm>
            <a:off x="8635680" y="477216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380880" y="253800"/>
            <a:ext cx="380664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투입 인력 현황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380880" y="539640"/>
            <a:ext cx="38066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총 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8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명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, 78MM 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투입으로 전문 인력 기반 프로젝트 수행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380880" y="1015920"/>
            <a:ext cx="8381520" cy="35532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380880" y="1828800"/>
            <a:ext cx="8381520" cy="40608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380880" y="2641680"/>
            <a:ext cx="8381520" cy="40608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380880" y="3454200"/>
            <a:ext cx="8381520" cy="40608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380880" y="106668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구분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1270080" y="1066680"/>
            <a:ext cx="1815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분야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2921040" y="1066680"/>
            <a:ext cx="1396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등급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Text 10"/>
          <p:cNvSpPr/>
          <p:nvPr/>
        </p:nvSpPr>
        <p:spPr>
          <a:xfrm>
            <a:off x="4191120" y="1066680"/>
            <a:ext cx="2793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성명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5" name="Text 11"/>
          <p:cNvSpPr/>
          <p:nvPr/>
        </p:nvSpPr>
        <p:spPr>
          <a:xfrm>
            <a:off x="6730920" y="106668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투입기간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380880" y="142236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PM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Text 13"/>
          <p:cNvSpPr/>
          <p:nvPr/>
        </p:nvSpPr>
        <p:spPr>
          <a:xfrm>
            <a:off x="1270080" y="1422360"/>
            <a:ext cx="1815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관리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8" name="Text 14"/>
          <p:cNvSpPr/>
          <p:nvPr/>
        </p:nvSpPr>
        <p:spPr>
          <a:xfrm>
            <a:off x="2921040" y="1422360"/>
            <a:ext cx="615600" cy="234360"/>
          </a:xfrm>
          <a:prstGeom prst="roundRect">
            <a:avLst>
              <a:gd name="adj" fmla="val 16223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9" name="Text 15"/>
          <p:cNvSpPr/>
          <p:nvPr/>
        </p:nvSpPr>
        <p:spPr>
          <a:xfrm>
            <a:off x="3113640" y="1473120"/>
            <a:ext cx="230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특급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0" name="Text 16"/>
          <p:cNvSpPr/>
          <p:nvPr/>
        </p:nvSpPr>
        <p:spPr>
          <a:xfrm>
            <a:off x="4191120" y="1422360"/>
            <a:ext cx="2793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김철수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6730920" y="142236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12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2" name="Text 18"/>
          <p:cNvSpPr/>
          <p:nvPr/>
        </p:nvSpPr>
        <p:spPr>
          <a:xfrm>
            <a:off x="380880" y="182880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AA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3" name="Text 19"/>
          <p:cNvSpPr/>
          <p:nvPr/>
        </p:nvSpPr>
        <p:spPr>
          <a:xfrm>
            <a:off x="1270080" y="1828800"/>
            <a:ext cx="1815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설계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2921040" y="1828800"/>
            <a:ext cx="615600" cy="234360"/>
          </a:xfrm>
          <a:prstGeom prst="roundRect">
            <a:avLst>
              <a:gd name="adj" fmla="val 16223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5" name="Text 21"/>
          <p:cNvSpPr/>
          <p:nvPr/>
        </p:nvSpPr>
        <p:spPr>
          <a:xfrm>
            <a:off x="3113640" y="1879560"/>
            <a:ext cx="230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특급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6" name="Text 22"/>
          <p:cNvSpPr/>
          <p:nvPr/>
        </p:nvSpPr>
        <p:spPr>
          <a:xfrm>
            <a:off x="4191120" y="1828800"/>
            <a:ext cx="2793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박준형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7" name="Text 23"/>
          <p:cNvSpPr/>
          <p:nvPr/>
        </p:nvSpPr>
        <p:spPr>
          <a:xfrm>
            <a:off x="6730920" y="182880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10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8" name="Text 24"/>
          <p:cNvSpPr/>
          <p:nvPr/>
        </p:nvSpPr>
        <p:spPr>
          <a:xfrm>
            <a:off x="380880" y="223524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PL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9" name="Text 25"/>
          <p:cNvSpPr/>
          <p:nvPr/>
        </p:nvSpPr>
        <p:spPr>
          <a:xfrm>
            <a:off x="1270080" y="2235240"/>
            <a:ext cx="1815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0" name="Text 26"/>
          <p:cNvSpPr/>
          <p:nvPr/>
        </p:nvSpPr>
        <p:spPr>
          <a:xfrm>
            <a:off x="2921040" y="2235240"/>
            <a:ext cx="615600" cy="234360"/>
          </a:xfrm>
          <a:prstGeom prst="roundRect">
            <a:avLst>
              <a:gd name="adj" fmla="val 16223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Text 27"/>
          <p:cNvSpPr/>
          <p:nvPr/>
        </p:nvSpPr>
        <p:spPr>
          <a:xfrm>
            <a:off x="3113640" y="2286000"/>
            <a:ext cx="230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고급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2" name="Text 28"/>
          <p:cNvSpPr/>
          <p:nvPr/>
        </p:nvSpPr>
        <p:spPr>
          <a:xfrm>
            <a:off x="4191120" y="2235240"/>
            <a:ext cx="2793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최수진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3" name="Text 29"/>
          <p:cNvSpPr/>
          <p:nvPr/>
        </p:nvSpPr>
        <p:spPr>
          <a:xfrm>
            <a:off x="6730920" y="223524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12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4" name="Text 30"/>
          <p:cNvSpPr/>
          <p:nvPr/>
        </p:nvSpPr>
        <p:spPr>
          <a:xfrm>
            <a:off x="380880" y="264168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Dev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5" name="Text 31"/>
          <p:cNvSpPr/>
          <p:nvPr/>
        </p:nvSpPr>
        <p:spPr>
          <a:xfrm>
            <a:off x="1270080" y="2641680"/>
            <a:ext cx="1815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Backend/Frontend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6" name="Text 32"/>
          <p:cNvSpPr/>
          <p:nvPr/>
        </p:nvSpPr>
        <p:spPr>
          <a:xfrm>
            <a:off x="2921040" y="2641680"/>
            <a:ext cx="615600" cy="234360"/>
          </a:xfrm>
          <a:prstGeom prst="roundRect">
            <a:avLst>
              <a:gd name="adj" fmla="val 16223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7" name="Text 33"/>
          <p:cNvSpPr/>
          <p:nvPr/>
        </p:nvSpPr>
        <p:spPr>
          <a:xfrm>
            <a:off x="3113640" y="2692440"/>
            <a:ext cx="230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고급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8" name="Text 34"/>
          <p:cNvSpPr/>
          <p:nvPr/>
        </p:nvSpPr>
        <p:spPr>
          <a:xfrm>
            <a:off x="4191120" y="2641680"/>
            <a:ext cx="2793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임동현</a:t>
            </a: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, 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강서연</a:t>
            </a: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, 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윤재호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9" name="Text 35"/>
          <p:cNvSpPr/>
          <p:nvPr/>
        </p:nvSpPr>
        <p:spPr>
          <a:xfrm>
            <a:off x="6730920" y="264168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10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0" name="Text 36"/>
          <p:cNvSpPr/>
          <p:nvPr/>
        </p:nvSpPr>
        <p:spPr>
          <a:xfrm>
            <a:off x="380880" y="304812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DBA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1" name="Text 37"/>
          <p:cNvSpPr/>
          <p:nvPr/>
        </p:nvSpPr>
        <p:spPr>
          <a:xfrm>
            <a:off x="1270080" y="3048120"/>
            <a:ext cx="1815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DB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2" name="Text 38"/>
          <p:cNvSpPr/>
          <p:nvPr/>
        </p:nvSpPr>
        <p:spPr>
          <a:xfrm>
            <a:off x="2921040" y="3048120"/>
            <a:ext cx="615600" cy="234360"/>
          </a:xfrm>
          <a:prstGeom prst="roundRect">
            <a:avLst>
              <a:gd name="adj" fmla="val 16223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Text 39"/>
          <p:cNvSpPr/>
          <p:nvPr/>
        </p:nvSpPr>
        <p:spPr>
          <a:xfrm>
            <a:off x="3113640" y="3098880"/>
            <a:ext cx="230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고급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4" name="Text 40"/>
          <p:cNvSpPr/>
          <p:nvPr/>
        </p:nvSpPr>
        <p:spPr>
          <a:xfrm>
            <a:off x="4191120" y="3048120"/>
            <a:ext cx="2793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오현우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5" name="Text 41"/>
          <p:cNvSpPr/>
          <p:nvPr/>
        </p:nvSpPr>
        <p:spPr>
          <a:xfrm>
            <a:off x="6730920" y="304812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8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6" name="Text 42"/>
          <p:cNvSpPr/>
          <p:nvPr/>
        </p:nvSpPr>
        <p:spPr>
          <a:xfrm>
            <a:off x="380880" y="345420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QA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7" name="Text 43"/>
          <p:cNvSpPr/>
          <p:nvPr/>
        </p:nvSpPr>
        <p:spPr>
          <a:xfrm>
            <a:off x="1270080" y="3454200"/>
            <a:ext cx="18158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테스트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8" name="Text 44"/>
          <p:cNvSpPr/>
          <p:nvPr/>
        </p:nvSpPr>
        <p:spPr>
          <a:xfrm>
            <a:off x="2921040" y="3454200"/>
            <a:ext cx="615600" cy="234360"/>
          </a:xfrm>
          <a:prstGeom prst="roundRect">
            <a:avLst>
              <a:gd name="adj" fmla="val 16223"/>
            </a:avLst>
          </a:prstGeom>
          <a:solidFill>
            <a:srgbClr val="b7d0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" name="Text 45"/>
          <p:cNvSpPr/>
          <p:nvPr/>
        </p:nvSpPr>
        <p:spPr>
          <a:xfrm>
            <a:off x="3113640" y="3504960"/>
            <a:ext cx="2300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중급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0" name="Text 46"/>
          <p:cNvSpPr/>
          <p:nvPr/>
        </p:nvSpPr>
        <p:spPr>
          <a:xfrm>
            <a:off x="4191120" y="3454200"/>
            <a:ext cx="2793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한미영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1" name="Text 47"/>
          <p:cNvSpPr/>
          <p:nvPr/>
        </p:nvSpPr>
        <p:spPr>
          <a:xfrm>
            <a:off x="6730920" y="3454200"/>
            <a:ext cx="111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6</a:t>
            </a: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개월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2" name="Text 48"/>
          <p:cNvSpPr/>
          <p:nvPr/>
        </p:nvSpPr>
        <p:spPr>
          <a:xfrm>
            <a:off x="380880" y="3819600"/>
            <a:ext cx="1142640" cy="624960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404640" y="3819600"/>
            <a:ext cx="360" cy="625320"/>
          </a:xfrm>
          <a:prstGeom prst="line">
            <a:avLst/>
          </a:prstGeom>
          <a:ln w="47625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4" name="Text 50"/>
          <p:cNvSpPr/>
          <p:nvPr/>
        </p:nvSpPr>
        <p:spPr>
          <a:xfrm>
            <a:off x="682560" y="3946680"/>
            <a:ext cx="645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총 투입 인원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5" name="Text 51"/>
          <p:cNvSpPr/>
          <p:nvPr/>
        </p:nvSpPr>
        <p:spPr>
          <a:xfrm>
            <a:off x="682560" y="4079880"/>
            <a:ext cx="6458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2452"/>
                </a:solidFill>
                <a:latin typeface="Noto Sans KR"/>
                <a:ea typeface="Noto Sans KR"/>
              </a:rPr>
              <a:t>8</a:t>
            </a:r>
            <a:r>
              <a:rPr b="1" lang="ko-KR" sz="1600" spc="-1" strike="noStrike">
                <a:solidFill>
                  <a:srgbClr val="002452"/>
                </a:solidFill>
                <a:latin typeface="Noto Sans KR"/>
                <a:ea typeface="Noto Sans KR"/>
              </a:rPr>
              <a:t>명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6" name="Text 52"/>
          <p:cNvSpPr/>
          <p:nvPr/>
        </p:nvSpPr>
        <p:spPr>
          <a:xfrm>
            <a:off x="1904760" y="3819600"/>
            <a:ext cx="1176120" cy="624960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Shape 53"/>
          <p:cNvSpPr/>
          <p:nvPr/>
        </p:nvSpPr>
        <p:spPr>
          <a:xfrm>
            <a:off x="1928520" y="3819600"/>
            <a:ext cx="360" cy="625320"/>
          </a:xfrm>
          <a:prstGeom prst="line">
            <a:avLst/>
          </a:prstGeom>
          <a:ln w="47625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8" name="Text 54"/>
          <p:cNvSpPr/>
          <p:nvPr/>
        </p:nvSpPr>
        <p:spPr>
          <a:xfrm>
            <a:off x="2206440" y="3946680"/>
            <a:ext cx="682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총 투입 공수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9" name="Text 55"/>
          <p:cNvSpPr/>
          <p:nvPr/>
        </p:nvSpPr>
        <p:spPr>
          <a:xfrm>
            <a:off x="2206440" y="4079880"/>
            <a:ext cx="6825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2452"/>
                </a:solidFill>
                <a:latin typeface="Noto Sans KR"/>
                <a:ea typeface="Noto Sans KR"/>
              </a:rPr>
              <a:t>78 MM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70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79672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371" name="Text 56"/>
          <p:cNvSpPr/>
          <p:nvPr/>
        </p:nvSpPr>
        <p:spPr>
          <a:xfrm>
            <a:off x="758484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2" name="Text 57"/>
          <p:cNvSpPr/>
          <p:nvPr/>
        </p:nvSpPr>
        <p:spPr>
          <a:xfrm>
            <a:off x="8635680" y="477216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14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0"/>
          <p:cNvSpPr/>
          <p:nvPr/>
        </p:nvSpPr>
        <p:spPr>
          <a:xfrm>
            <a:off x="5334120" y="1333440"/>
            <a:ext cx="3809520" cy="3809520"/>
          </a:xfrm>
          <a:prstGeom prst="rect">
            <a:avLst/>
          </a:prstGeom>
          <a:solidFill>
            <a:srgbClr val="b7d0d4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4" name="Text 1"/>
          <p:cNvSpPr/>
          <p:nvPr/>
        </p:nvSpPr>
        <p:spPr>
          <a:xfrm>
            <a:off x="1015920" y="1763640"/>
            <a:ext cx="2638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>
                    <a:alpha val="20000"/>
                  </a:srgbClr>
                </a:solidFill>
                <a:latin typeface="Noto Sans KR"/>
                <a:ea typeface="Noto Sans KR"/>
              </a:rPr>
              <a:t>04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1015920" y="2550960"/>
            <a:ext cx="263844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3200" spc="-1" strike="noStrike">
                <a:solidFill>
                  <a:srgbClr val="ffffff"/>
                </a:solidFill>
                <a:latin typeface="Noto Sans KR"/>
                <a:ea typeface="Noto Sans KR"/>
              </a:rPr>
              <a:t>프로젝트 일정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1015920" y="3208320"/>
            <a:ext cx="26384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b7d0d4"/>
                </a:solidFill>
                <a:latin typeface="Noto Sans KR"/>
                <a:ea typeface="Noto Sans KR"/>
              </a:rPr>
              <a:t>Project Schedule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77" name="Text 4"/>
          <p:cNvSpPr/>
          <p:nvPr/>
        </p:nvSpPr>
        <p:spPr>
          <a:xfrm>
            <a:off x="1015920" y="4077000"/>
            <a:ext cx="761760" cy="5040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8" name="Text 5"/>
          <p:cNvSpPr/>
          <p:nvPr/>
        </p:nvSpPr>
        <p:spPr>
          <a:xfrm>
            <a:off x="1015920" y="4365720"/>
            <a:ext cx="66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마스터 일정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79" name="Text 6"/>
          <p:cNvSpPr/>
          <p:nvPr/>
        </p:nvSpPr>
        <p:spPr>
          <a:xfrm>
            <a:off x="2003760" y="4365720"/>
            <a:ext cx="792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주요 마일스톤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8635680" y="481968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15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49"/>
          <p:cNvSpPr/>
          <p:nvPr/>
        </p:nvSpPr>
        <p:spPr>
          <a:xfrm>
            <a:off x="6444000" y="1594080"/>
            <a:ext cx="2319120" cy="634680"/>
          </a:xfrm>
          <a:prstGeom prst="roundRect">
            <a:avLst>
              <a:gd name="adj" fmla="val 50008"/>
            </a:avLst>
          </a:prstGeom>
          <a:solidFill>
            <a:srgbClr val="ffde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2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380880" y="253800"/>
            <a:ext cx="28533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마스터 일정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380880" y="539640"/>
            <a:ext cx="2853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6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단계 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48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 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(12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개월</a:t>
            </a: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) 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프로젝트 수행 일정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380880" y="1079280"/>
            <a:ext cx="372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2452"/>
                </a:solidFill>
                <a:latin typeface="Noto Sans KR"/>
                <a:ea typeface="Noto Sans KR"/>
              </a:rPr>
              <a:t>2025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380880" y="1594080"/>
            <a:ext cx="2319120" cy="634680"/>
          </a:xfrm>
          <a:prstGeom prst="roundRect">
            <a:avLst>
              <a:gd name="adj" fmla="val 50008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965160" y="1839960"/>
            <a:ext cx="25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착수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380880" y="2463840"/>
            <a:ext cx="1396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1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380880" y="27921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4</a:t>
            </a: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380880" y="3128760"/>
            <a:ext cx="13968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킥오프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환경구축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표준정의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1" name="Text 9"/>
          <p:cNvSpPr/>
          <p:nvPr/>
        </p:nvSpPr>
        <p:spPr>
          <a:xfrm>
            <a:off x="1778040" y="1594080"/>
            <a:ext cx="1396800" cy="634680"/>
          </a:xfrm>
          <a:prstGeom prst="rect">
            <a:avLst/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2362320" y="1839960"/>
            <a:ext cx="25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분석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1778040" y="2463840"/>
            <a:ext cx="1396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2~3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4" name="Text 12"/>
          <p:cNvSpPr/>
          <p:nvPr/>
        </p:nvSpPr>
        <p:spPr>
          <a:xfrm>
            <a:off x="1778040" y="27921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8</a:t>
            </a: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1778040" y="3128760"/>
            <a:ext cx="13968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요구사항 확정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현행 분석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6" name="Text 14"/>
          <p:cNvSpPr/>
          <p:nvPr/>
        </p:nvSpPr>
        <p:spPr>
          <a:xfrm>
            <a:off x="3175200" y="1594080"/>
            <a:ext cx="1396800" cy="63468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7" name="Text 15"/>
          <p:cNvSpPr/>
          <p:nvPr/>
        </p:nvSpPr>
        <p:spPr>
          <a:xfrm>
            <a:off x="3759120" y="1839960"/>
            <a:ext cx="25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설계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8" name="Text 16"/>
          <p:cNvSpPr/>
          <p:nvPr/>
        </p:nvSpPr>
        <p:spPr>
          <a:xfrm>
            <a:off x="3174840" y="2463840"/>
            <a:ext cx="1396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4~5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9" name="Text 17"/>
          <p:cNvSpPr/>
          <p:nvPr/>
        </p:nvSpPr>
        <p:spPr>
          <a:xfrm>
            <a:off x="3174840" y="27921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8</a:t>
            </a: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0" name="Text 18"/>
          <p:cNvSpPr/>
          <p:nvPr/>
        </p:nvSpPr>
        <p:spPr>
          <a:xfrm>
            <a:off x="3174840" y="3128760"/>
            <a:ext cx="13968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아키텍처 설계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화면</a:t>
            </a:r>
            <a:r>
              <a:rPr b="0" lang="en-US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/DB </a:t>
            </a: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설계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1" name="Text 19"/>
          <p:cNvSpPr/>
          <p:nvPr/>
        </p:nvSpPr>
        <p:spPr>
          <a:xfrm>
            <a:off x="4572000" y="1594080"/>
            <a:ext cx="1396800" cy="634680"/>
          </a:xfrm>
          <a:prstGeom prst="rect">
            <a:avLst/>
          </a:prstGeom>
          <a:solidFill>
            <a:srgbClr val="b7d0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2" name="Text 20"/>
          <p:cNvSpPr/>
          <p:nvPr/>
        </p:nvSpPr>
        <p:spPr>
          <a:xfrm>
            <a:off x="5156280" y="1839960"/>
            <a:ext cx="25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3" name="Text 21"/>
          <p:cNvSpPr/>
          <p:nvPr/>
        </p:nvSpPr>
        <p:spPr>
          <a:xfrm>
            <a:off x="4572000" y="2463840"/>
            <a:ext cx="1396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6~9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4" name="Text 22"/>
          <p:cNvSpPr/>
          <p:nvPr/>
        </p:nvSpPr>
        <p:spPr>
          <a:xfrm>
            <a:off x="4572000" y="27921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16</a:t>
            </a: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5" name="Text 23"/>
          <p:cNvSpPr/>
          <p:nvPr/>
        </p:nvSpPr>
        <p:spPr>
          <a:xfrm>
            <a:off x="4572000" y="3128760"/>
            <a:ext cx="13968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코딩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단위테스트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6" name="Text 24"/>
          <p:cNvSpPr/>
          <p:nvPr/>
        </p:nvSpPr>
        <p:spPr>
          <a:xfrm>
            <a:off x="5969160" y="1594080"/>
            <a:ext cx="1396800" cy="63468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7" name="Text 25"/>
          <p:cNvSpPr/>
          <p:nvPr/>
        </p:nvSpPr>
        <p:spPr>
          <a:xfrm>
            <a:off x="6496200" y="1839960"/>
            <a:ext cx="376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테스트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8" name="Text 26"/>
          <p:cNvSpPr/>
          <p:nvPr/>
        </p:nvSpPr>
        <p:spPr>
          <a:xfrm>
            <a:off x="5969160" y="2463840"/>
            <a:ext cx="1396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10~11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9" name="Text 27"/>
          <p:cNvSpPr/>
          <p:nvPr/>
        </p:nvSpPr>
        <p:spPr>
          <a:xfrm>
            <a:off x="5969160" y="27921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6</a:t>
            </a: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0" name="Text 28"/>
          <p:cNvSpPr/>
          <p:nvPr/>
        </p:nvSpPr>
        <p:spPr>
          <a:xfrm>
            <a:off x="5969160" y="3128760"/>
            <a:ext cx="13968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통합 테스트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인수 테스트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1" name="Text 30"/>
          <p:cNvSpPr/>
          <p:nvPr/>
        </p:nvSpPr>
        <p:spPr>
          <a:xfrm>
            <a:off x="7950240" y="1839960"/>
            <a:ext cx="25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이행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2" name="Text 31"/>
          <p:cNvSpPr/>
          <p:nvPr/>
        </p:nvSpPr>
        <p:spPr>
          <a:xfrm>
            <a:off x="7365960" y="2463840"/>
            <a:ext cx="1396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11~12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3" name="Text 32"/>
          <p:cNvSpPr/>
          <p:nvPr/>
        </p:nvSpPr>
        <p:spPr>
          <a:xfrm>
            <a:off x="7365960" y="27921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6</a:t>
            </a: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4" name="Text 33"/>
          <p:cNvSpPr/>
          <p:nvPr/>
        </p:nvSpPr>
        <p:spPr>
          <a:xfrm>
            <a:off x="7365960" y="3128760"/>
            <a:ext cx="1396800" cy="2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오픈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안정화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15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79672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416" name="Text 34"/>
          <p:cNvSpPr/>
          <p:nvPr/>
        </p:nvSpPr>
        <p:spPr>
          <a:xfrm>
            <a:off x="758484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7" name="Text 35"/>
          <p:cNvSpPr/>
          <p:nvPr/>
        </p:nvSpPr>
        <p:spPr>
          <a:xfrm>
            <a:off x="8635680" y="477216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16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380880" y="253800"/>
            <a:ext cx="26830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주요 마일스톤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0" name="Text 2"/>
          <p:cNvSpPr/>
          <p:nvPr/>
        </p:nvSpPr>
        <p:spPr>
          <a:xfrm>
            <a:off x="380880" y="539640"/>
            <a:ext cx="26830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6</a:t>
            </a: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 마일스톤 기준 프로젝트 진척 관리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1" name="Text 3"/>
          <p:cNvSpPr/>
          <p:nvPr/>
        </p:nvSpPr>
        <p:spPr>
          <a:xfrm>
            <a:off x="380880" y="1316520"/>
            <a:ext cx="8381520" cy="50400"/>
          </a:xfrm>
          <a:prstGeom prst="roundRect">
            <a:avLst>
              <a:gd name="adj" fmla="val 50049"/>
            </a:avLst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2" name="Text 4"/>
          <p:cNvSpPr/>
          <p:nvPr/>
        </p:nvSpPr>
        <p:spPr>
          <a:xfrm>
            <a:off x="977760" y="1244520"/>
            <a:ext cx="202680" cy="20268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3" name="Text 5"/>
          <p:cNvSpPr/>
          <p:nvPr/>
        </p:nvSpPr>
        <p:spPr>
          <a:xfrm>
            <a:off x="311040" y="1714680"/>
            <a:ext cx="1536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002452"/>
                </a:solidFill>
                <a:latin typeface="Noto Sans KR"/>
                <a:ea typeface="Noto Sans KR"/>
              </a:rPr>
              <a:t>M1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4" name="Text 6"/>
          <p:cNvSpPr/>
          <p:nvPr/>
        </p:nvSpPr>
        <p:spPr>
          <a:xfrm>
            <a:off x="311040" y="1936800"/>
            <a:ext cx="15364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착수보고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5" name="Text 7"/>
          <p:cNvSpPr/>
          <p:nvPr/>
        </p:nvSpPr>
        <p:spPr>
          <a:xfrm>
            <a:off x="311040" y="2130480"/>
            <a:ext cx="15364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2025.01.10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6" name="Text 8"/>
          <p:cNvSpPr/>
          <p:nvPr/>
        </p:nvSpPr>
        <p:spPr>
          <a:xfrm>
            <a:off x="635040" y="2340000"/>
            <a:ext cx="88848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7" name="Text 9"/>
          <p:cNvSpPr/>
          <p:nvPr/>
        </p:nvSpPr>
        <p:spPr>
          <a:xfrm>
            <a:off x="758160" y="2390760"/>
            <a:ext cx="6422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수행계획서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8" name="Text 10"/>
          <p:cNvSpPr/>
          <p:nvPr/>
        </p:nvSpPr>
        <p:spPr>
          <a:xfrm>
            <a:off x="2374920" y="1244520"/>
            <a:ext cx="202680" cy="20268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4b6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9" name="Text 11"/>
          <p:cNvSpPr/>
          <p:nvPr/>
        </p:nvSpPr>
        <p:spPr>
          <a:xfrm>
            <a:off x="1708200" y="1714680"/>
            <a:ext cx="1536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4b6580"/>
                </a:solidFill>
                <a:latin typeface="Noto Sans KR"/>
                <a:ea typeface="Noto Sans KR"/>
              </a:rPr>
              <a:t>M2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0" name="Text 12"/>
          <p:cNvSpPr/>
          <p:nvPr/>
        </p:nvSpPr>
        <p:spPr>
          <a:xfrm>
            <a:off x="1708200" y="1936800"/>
            <a:ext cx="15364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요구사항 확정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1" name="Text 13"/>
          <p:cNvSpPr/>
          <p:nvPr/>
        </p:nvSpPr>
        <p:spPr>
          <a:xfrm>
            <a:off x="1708200" y="2130480"/>
            <a:ext cx="15364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2025.03.31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2" name="Text 14"/>
          <p:cNvSpPr/>
          <p:nvPr/>
        </p:nvSpPr>
        <p:spPr>
          <a:xfrm>
            <a:off x="1990800" y="2340000"/>
            <a:ext cx="97128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3" name="Text 15"/>
          <p:cNvSpPr/>
          <p:nvPr/>
        </p:nvSpPr>
        <p:spPr>
          <a:xfrm>
            <a:off x="2109960" y="2390760"/>
            <a:ext cx="73296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요구사항정의서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4" name="Text 16"/>
          <p:cNvSpPr/>
          <p:nvPr/>
        </p:nvSpPr>
        <p:spPr>
          <a:xfrm>
            <a:off x="3772080" y="1244520"/>
            <a:ext cx="202680" cy="20268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5" name="Text 17"/>
          <p:cNvSpPr/>
          <p:nvPr/>
        </p:nvSpPr>
        <p:spPr>
          <a:xfrm>
            <a:off x="3105360" y="1714680"/>
            <a:ext cx="1536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757575"/>
                </a:solidFill>
                <a:latin typeface="Noto Sans KR"/>
                <a:ea typeface="Noto Sans KR"/>
              </a:rPr>
              <a:t>M3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6" name="Text 18"/>
          <p:cNvSpPr/>
          <p:nvPr/>
        </p:nvSpPr>
        <p:spPr>
          <a:xfrm>
            <a:off x="3105360" y="1936800"/>
            <a:ext cx="15364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설계 완료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7" name="Text 19"/>
          <p:cNvSpPr/>
          <p:nvPr/>
        </p:nvSpPr>
        <p:spPr>
          <a:xfrm>
            <a:off x="3105360" y="2130480"/>
            <a:ext cx="15364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2025.05.31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8" name="Text 20"/>
          <p:cNvSpPr/>
          <p:nvPr/>
        </p:nvSpPr>
        <p:spPr>
          <a:xfrm>
            <a:off x="3429000" y="2340000"/>
            <a:ext cx="88848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9" name="Text 21"/>
          <p:cNvSpPr/>
          <p:nvPr/>
        </p:nvSpPr>
        <p:spPr>
          <a:xfrm>
            <a:off x="3552480" y="2390760"/>
            <a:ext cx="6422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설계서 일체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0" name="Text 22"/>
          <p:cNvSpPr/>
          <p:nvPr/>
        </p:nvSpPr>
        <p:spPr>
          <a:xfrm>
            <a:off x="5168880" y="1244520"/>
            <a:ext cx="202680" cy="20268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b7d0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1" name="Text 23"/>
          <p:cNvSpPr/>
          <p:nvPr/>
        </p:nvSpPr>
        <p:spPr>
          <a:xfrm>
            <a:off x="4502160" y="1714680"/>
            <a:ext cx="1536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757575"/>
                </a:solidFill>
                <a:latin typeface="Noto Sans KR"/>
                <a:ea typeface="Noto Sans KR"/>
              </a:rPr>
              <a:t>M4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2" name="Text 24"/>
          <p:cNvSpPr/>
          <p:nvPr/>
        </p:nvSpPr>
        <p:spPr>
          <a:xfrm>
            <a:off x="4502160" y="1936800"/>
            <a:ext cx="15364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개발 완료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3" name="Text 25"/>
          <p:cNvSpPr/>
          <p:nvPr/>
        </p:nvSpPr>
        <p:spPr>
          <a:xfrm>
            <a:off x="4502160" y="2130480"/>
            <a:ext cx="15364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2025.09.30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4" name="Text 26"/>
          <p:cNvSpPr/>
          <p:nvPr/>
        </p:nvSpPr>
        <p:spPr>
          <a:xfrm>
            <a:off x="4826160" y="2340000"/>
            <a:ext cx="88848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5" name="Text 27"/>
          <p:cNvSpPr/>
          <p:nvPr/>
        </p:nvSpPr>
        <p:spPr>
          <a:xfrm>
            <a:off x="4949280" y="2390760"/>
            <a:ext cx="6422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소스코드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6" name="Text 28"/>
          <p:cNvSpPr/>
          <p:nvPr/>
        </p:nvSpPr>
        <p:spPr>
          <a:xfrm>
            <a:off x="6566040" y="1244520"/>
            <a:ext cx="202680" cy="20268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c51f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7" name="Text 29"/>
          <p:cNvSpPr/>
          <p:nvPr/>
        </p:nvSpPr>
        <p:spPr>
          <a:xfrm>
            <a:off x="5899320" y="1714680"/>
            <a:ext cx="1536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c51f2a"/>
                </a:solidFill>
                <a:latin typeface="Noto Sans KR"/>
                <a:ea typeface="Noto Sans KR"/>
              </a:rPr>
              <a:t>M5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8" name="Text 30"/>
          <p:cNvSpPr/>
          <p:nvPr/>
        </p:nvSpPr>
        <p:spPr>
          <a:xfrm>
            <a:off x="5899320" y="1936800"/>
            <a:ext cx="15364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테스트 완료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9" name="Text 31"/>
          <p:cNvSpPr/>
          <p:nvPr/>
        </p:nvSpPr>
        <p:spPr>
          <a:xfrm>
            <a:off x="5899320" y="2130480"/>
            <a:ext cx="15364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2025.11.15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0" name="Text 32"/>
          <p:cNvSpPr/>
          <p:nvPr/>
        </p:nvSpPr>
        <p:spPr>
          <a:xfrm>
            <a:off x="6223320" y="2340000"/>
            <a:ext cx="88848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1" name="Text 33"/>
          <p:cNvSpPr/>
          <p:nvPr/>
        </p:nvSpPr>
        <p:spPr>
          <a:xfrm>
            <a:off x="6346440" y="2390760"/>
            <a:ext cx="6422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테스트결과서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2" name="Text 34"/>
          <p:cNvSpPr/>
          <p:nvPr/>
        </p:nvSpPr>
        <p:spPr>
          <a:xfrm>
            <a:off x="7963200" y="1244520"/>
            <a:ext cx="202680" cy="20268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e9b8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3" name="Text 35"/>
          <p:cNvSpPr/>
          <p:nvPr/>
        </p:nvSpPr>
        <p:spPr>
          <a:xfrm>
            <a:off x="7296480" y="1714680"/>
            <a:ext cx="1536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e9b86e"/>
                </a:solidFill>
                <a:latin typeface="Noto Sans KR"/>
                <a:ea typeface="Noto Sans KR"/>
              </a:rPr>
              <a:t>M6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4" name="Text 36"/>
          <p:cNvSpPr/>
          <p:nvPr/>
        </p:nvSpPr>
        <p:spPr>
          <a:xfrm>
            <a:off x="7296480" y="1936800"/>
            <a:ext cx="15364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Noto Sans KR"/>
                <a:ea typeface="Noto Sans KR"/>
              </a:rPr>
              <a:t>시스템 오픈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5" name="Text 37"/>
          <p:cNvSpPr/>
          <p:nvPr/>
        </p:nvSpPr>
        <p:spPr>
          <a:xfrm>
            <a:off x="7296480" y="2130480"/>
            <a:ext cx="15364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2025.12.01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6" name="Text 38"/>
          <p:cNvSpPr/>
          <p:nvPr/>
        </p:nvSpPr>
        <p:spPr>
          <a:xfrm>
            <a:off x="7620120" y="2340000"/>
            <a:ext cx="88848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7" name="Text 39"/>
          <p:cNvSpPr/>
          <p:nvPr/>
        </p:nvSpPr>
        <p:spPr>
          <a:xfrm>
            <a:off x="7743600" y="2390760"/>
            <a:ext cx="64224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오픈보고서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58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79672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459" name="Text 40"/>
          <p:cNvSpPr/>
          <p:nvPr/>
        </p:nvSpPr>
        <p:spPr>
          <a:xfrm>
            <a:off x="758484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0" name="Text 41"/>
          <p:cNvSpPr/>
          <p:nvPr/>
        </p:nvSpPr>
        <p:spPr>
          <a:xfrm>
            <a:off x="8635680" y="477216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17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0"/>
          <p:cNvSpPr/>
          <p:nvPr/>
        </p:nvSpPr>
        <p:spPr>
          <a:xfrm>
            <a:off x="5334120" y="1333440"/>
            <a:ext cx="3809520" cy="3809520"/>
          </a:xfrm>
          <a:prstGeom prst="rect">
            <a:avLst/>
          </a:prstGeom>
          <a:solidFill>
            <a:srgbClr val="b7d0d4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2" name="Text 1"/>
          <p:cNvSpPr/>
          <p:nvPr/>
        </p:nvSpPr>
        <p:spPr>
          <a:xfrm>
            <a:off x="1015920" y="1763640"/>
            <a:ext cx="1800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>
                    <a:alpha val="20000"/>
                  </a:srgbClr>
                </a:solidFill>
                <a:latin typeface="Noto Sans KR"/>
                <a:ea typeface="Noto Sans KR"/>
              </a:rPr>
              <a:t>05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63" name="Text 2"/>
          <p:cNvSpPr/>
          <p:nvPr/>
        </p:nvSpPr>
        <p:spPr>
          <a:xfrm>
            <a:off x="1015920" y="2550960"/>
            <a:ext cx="180036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3200" spc="-1" strike="noStrike">
                <a:solidFill>
                  <a:srgbClr val="ffffff"/>
                </a:solidFill>
                <a:latin typeface="Noto Sans KR"/>
                <a:ea typeface="Noto Sans KR"/>
              </a:rPr>
              <a:t>관리 계획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64" name="Text 3"/>
          <p:cNvSpPr/>
          <p:nvPr/>
        </p:nvSpPr>
        <p:spPr>
          <a:xfrm>
            <a:off x="1015920" y="3208320"/>
            <a:ext cx="1800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b7d0d4"/>
                </a:solidFill>
                <a:latin typeface="Noto Sans KR"/>
                <a:ea typeface="Noto Sans KR"/>
              </a:rPr>
              <a:t>Management Plan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65" name="Text 4"/>
          <p:cNvSpPr/>
          <p:nvPr/>
        </p:nvSpPr>
        <p:spPr>
          <a:xfrm>
            <a:off x="1015920" y="4077000"/>
            <a:ext cx="761760" cy="5040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6" name="Text 5"/>
          <p:cNvSpPr/>
          <p:nvPr/>
        </p:nvSpPr>
        <p:spPr>
          <a:xfrm>
            <a:off x="1015920" y="4365720"/>
            <a:ext cx="541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품질 관리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67" name="Text 6"/>
          <p:cNvSpPr/>
          <p:nvPr/>
        </p:nvSpPr>
        <p:spPr>
          <a:xfrm>
            <a:off x="1889280" y="4365720"/>
            <a:ext cx="541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보안 관리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68" name="Text 7"/>
          <p:cNvSpPr/>
          <p:nvPr/>
        </p:nvSpPr>
        <p:spPr>
          <a:xfrm>
            <a:off x="2763000" y="4365720"/>
            <a:ext cx="541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b7d0d4"/>
                </a:solidFill>
                <a:latin typeface="Noto Sans KR"/>
                <a:ea typeface="Noto Sans KR"/>
              </a:rPr>
              <a:t>위험 관리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69" name="Text 8"/>
          <p:cNvSpPr/>
          <p:nvPr/>
        </p:nvSpPr>
        <p:spPr>
          <a:xfrm>
            <a:off x="8635680" y="481968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18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1" name="Text 1"/>
          <p:cNvSpPr/>
          <p:nvPr/>
        </p:nvSpPr>
        <p:spPr>
          <a:xfrm>
            <a:off x="380880" y="253800"/>
            <a:ext cx="3422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품질 관리 계획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2" name="Text 2"/>
          <p:cNvSpPr/>
          <p:nvPr/>
        </p:nvSpPr>
        <p:spPr>
          <a:xfrm>
            <a:off x="380880" y="539640"/>
            <a:ext cx="3422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체계적인 품질 보증 활동으로 고품질 시스템 구축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3" name="Text 3"/>
          <p:cNvSpPr/>
          <p:nvPr/>
        </p:nvSpPr>
        <p:spPr>
          <a:xfrm>
            <a:off x="380880" y="1143000"/>
            <a:ext cx="1952280" cy="2177280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4" name="Text 4"/>
          <p:cNvSpPr/>
          <p:nvPr/>
        </p:nvSpPr>
        <p:spPr>
          <a:xfrm>
            <a:off x="1040040" y="1371600"/>
            <a:ext cx="634680" cy="634680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5" name="Text 5"/>
          <p:cNvSpPr/>
          <p:nvPr/>
        </p:nvSpPr>
        <p:spPr>
          <a:xfrm>
            <a:off x="1252440" y="1555560"/>
            <a:ext cx="209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Noto Sans KR"/>
                <a:ea typeface="Noto Sans KR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6" name="Text 6"/>
          <p:cNvSpPr/>
          <p:nvPr/>
        </p:nvSpPr>
        <p:spPr>
          <a:xfrm>
            <a:off x="534960" y="2133360"/>
            <a:ext cx="1644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산출물 검토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7" name="Text 7"/>
          <p:cNvSpPr/>
          <p:nvPr/>
        </p:nvSpPr>
        <p:spPr>
          <a:xfrm>
            <a:off x="534960" y="2406240"/>
            <a:ext cx="1644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단계별 말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발주 담당자 검토 및 승인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8" name="Text 8"/>
          <p:cNvSpPr/>
          <p:nvPr/>
        </p:nvSpPr>
        <p:spPr>
          <a:xfrm>
            <a:off x="1027080" y="2876400"/>
            <a:ext cx="65952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9" name="Text 9"/>
          <p:cNvSpPr/>
          <p:nvPr/>
        </p:nvSpPr>
        <p:spPr>
          <a:xfrm>
            <a:off x="1189800" y="2927160"/>
            <a:ext cx="3348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PM/PL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0" name="Text 10"/>
          <p:cNvSpPr/>
          <p:nvPr/>
        </p:nvSpPr>
        <p:spPr>
          <a:xfrm>
            <a:off x="2523960" y="1143000"/>
            <a:ext cx="1952280" cy="2177280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1" name="Text 11"/>
          <p:cNvSpPr/>
          <p:nvPr/>
        </p:nvSpPr>
        <p:spPr>
          <a:xfrm>
            <a:off x="3183120" y="1371600"/>
            <a:ext cx="634680" cy="634680"/>
          </a:xfrm>
          <a:prstGeom prst="roundRect">
            <a:avLst>
              <a:gd name="adj" fmla="val 144022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2" name="Text 12"/>
          <p:cNvSpPr/>
          <p:nvPr/>
        </p:nvSpPr>
        <p:spPr>
          <a:xfrm>
            <a:off x="3318480" y="1555560"/>
            <a:ext cx="3632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Noto Sans KR"/>
                <a:ea typeface="Noto Sans KR"/>
              </a:rPr>
              <a:t>&lt;/&gt;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3" name="Text 13"/>
          <p:cNvSpPr/>
          <p:nvPr/>
        </p:nvSpPr>
        <p:spPr>
          <a:xfrm>
            <a:off x="2678040" y="2133360"/>
            <a:ext cx="1644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코드 리뷰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4" name="Text 14"/>
          <p:cNvSpPr/>
          <p:nvPr/>
        </p:nvSpPr>
        <p:spPr>
          <a:xfrm>
            <a:off x="2678040" y="2406240"/>
            <a:ext cx="1644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GitHub PR 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필수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2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인 이상 승인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5" name="Text 15"/>
          <p:cNvSpPr/>
          <p:nvPr/>
        </p:nvSpPr>
        <p:spPr>
          <a:xfrm>
            <a:off x="3132360" y="2876400"/>
            <a:ext cx="73620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6" name="Text 16"/>
          <p:cNvSpPr/>
          <p:nvPr/>
        </p:nvSpPr>
        <p:spPr>
          <a:xfrm>
            <a:off x="3290760" y="2927160"/>
            <a:ext cx="4186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개발리더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7" name="Text 17"/>
          <p:cNvSpPr/>
          <p:nvPr/>
        </p:nvSpPr>
        <p:spPr>
          <a:xfrm>
            <a:off x="4667400" y="1143000"/>
            <a:ext cx="1952280" cy="2177280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8" name="Text 18"/>
          <p:cNvSpPr/>
          <p:nvPr/>
        </p:nvSpPr>
        <p:spPr>
          <a:xfrm>
            <a:off x="5326200" y="1371600"/>
            <a:ext cx="634680" cy="634680"/>
          </a:xfrm>
          <a:prstGeom prst="roundRect">
            <a:avLst>
              <a:gd name="adj" fmla="val 144022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9" name="Text 19"/>
          <p:cNvSpPr/>
          <p:nvPr/>
        </p:nvSpPr>
        <p:spPr>
          <a:xfrm>
            <a:off x="5528160" y="1555560"/>
            <a:ext cx="230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Noto Sans KR"/>
                <a:ea typeface="Noto Sans KR"/>
              </a:rPr>
              <a:t>⚙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0" name="Text 20"/>
          <p:cNvSpPr/>
          <p:nvPr/>
        </p:nvSpPr>
        <p:spPr>
          <a:xfrm>
            <a:off x="4821120" y="2133360"/>
            <a:ext cx="1644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정적 분석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1" name="Text 21"/>
          <p:cNvSpPr/>
          <p:nvPr/>
        </p:nvSpPr>
        <p:spPr>
          <a:xfrm>
            <a:off x="4821120" y="2406240"/>
            <a:ext cx="1644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SonarQube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품질 게이트 적용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2" name="Text 22"/>
          <p:cNvSpPr/>
          <p:nvPr/>
        </p:nvSpPr>
        <p:spPr>
          <a:xfrm>
            <a:off x="5326200" y="2876400"/>
            <a:ext cx="63468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3" name="Text 23"/>
          <p:cNvSpPr/>
          <p:nvPr/>
        </p:nvSpPr>
        <p:spPr>
          <a:xfrm>
            <a:off x="5490000" y="2927160"/>
            <a:ext cx="3070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QA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4" name="Text 24"/>
          <p:cNvSpPr/>
          <p:nvPr/>
        </p:nvSpPr>
        <p:spPr>
          <a:xfrm>
            <a:off x="6810480" y="1143000"/>
            <a:ext cx="1952280" cy="2177280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5" name="Text 25"/>
          <p:cNvSpPr/>
          <p:nvPr/>
        </p:nvSpPr>
        <p:spPr>
          <a:xfrm>
            <a:off x="7469280" y="1371600"/>
            <a:ext cx="634680" cy="634680"/>
          </a:xfrm>
          <a:prstGeom prst="roundRect">
            <a:avLst>
              <a:gd name="adj" fmla="val 144022"/>
            </a:avLst>
          </a:prstGeom>
          <a:solidFill>
            <a:srgbClr val="e9b8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6" name="Text 26"/>
          <p:cNvSpPr/>
          <p:nvPr/>
        </p:nvSpPr>
        <p:spPr>
          <a:xfrm>
            <a:off x="7671600" y="1555560"/>
            <a:ext cx="230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Noto Sans KR"/>
                <a:ea typeface="Noto Sans KR"/>
              </a:rPr>
              <a:t>★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7" name="Text 27"/>
          <p:cNvSpPr/>
          <p:nvPr/>
        </p:nvSpPr>
        <p:spPr>
          <a:xfrm>
            <a:off x="6964200" y="2133360"/>
            <a:ext cx="164448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테스트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8" name="Text 28"/>
          <p:cNvSpPr/>
          <p:nvPr/>
        </p:nvSpPr>
        <p:spPr>
          <a:xfrm>
            <a:off x="6964200" y="2406240"/>
            <a:ext cx="1644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시나리오 기반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통합</a:t>
            </a:r>
            <a:r>
              <a:rPr b="0" lang="en-US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/</a:t>
            </a: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인수 테스트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9" name="Text 29"/>
          <p:cNvSpPr/>
          <p:nvPr/>
        </p:nvSpPr>
        <p:spPr>
          <a:xfrm>
            <a:off x="7426080" y="2876400"/>
            <a:ext cx="720360" cy="215280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0" name="Text 30"/>
          <p:cNvSpPr/>
          <p:nvPr/>
        </p:nvSpPr>
        <p:spPr>
          <a:xfrm>
            <a:off x="7585560" y="2927160"/>
            <a:ext cx="4014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QA/</a:t>
            </a:r>
            <a:r>
              <a:rPr b="0" lang="ko-KR" sz="800" spc="-1" strike="noStrike">
                <a:solidFill>
                  <a:srgbClr val="002452"/>
                </a:solidFill>
                <a:latin typeface="Noto Sans KR"/>
                <a:ea typeface="Noto Sans KR"/>
              </a:rPr>
              <a:t>현업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501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79672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502" name="Text 31"/>
          <p:cNvSpPr/>
          <p:nvPr/>
        </p:nvSpPr>
        <p:spPr>
          <a:xfrm>
            <a:off x="758484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3" name="Text 32"/>
          <p:cNvSpPr/>
          <p:nvPr/>
        </p:nvSpPr>
        <p:spPr>
          <a:xfrm>
            <a:off x="8635680" y="477216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19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380880" y="253800"/>
            <a:ext cx="2543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보안 관리 계획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6" name="Text 2"/>
          <p:cNvSpPr/>
          <p:nvPr/>
        </p:nvSpPr>
        <p:spPr>
          <a:xfrm>
            <a:off x="380880" y="539640"/>
            <a:ext cx="2543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정보보안 및 개인정보보호 체계 구축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7" name="Text 3"/>
          <p:cNvSpPr/>
          <p:nvPr/>
        </p:nvSpPr>
        <p:spPr>
          <a:xfrm>
            <a:off x="1447920" y="1269720"/>
            <a:ext cx="1523520" cy="1523520"/>
          </a:xfrm>
          <a:prstGeom prst="roundRect">
            <a:avLst>
              <a:gd name="adj" fmla="val 50000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8" name="Text 4"/>
          <p:cNvSpPr/>
          <p:nvPr/>
        </p:nvSpPr>
        <p:spPr>
          <a:xfrm>
            <a:off x="1828800" y="1674720"/>
            <a:ext cx="8377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Noto Sans KR"/>
                <a:ea typeface="Noto Sans KR"/>
              </a:rPr>
              <a:t>🔒</a:t>
            </a:r>
            <a:endParaRPr b="0" lang="en-US" sz="4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9" name="Text 5"/>
          <p:cNvSpPr/>
          <p:nvPr/>
        </p:nvSpPr>
        <p:spPr>
          <a:xfrm>
            <a:off x="198000" y="3047760"/>
            <a:ext cx="40230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002452"/>
                </a:solidFill>
                <a:latin typeface="Noto Sans KR"/>
                <a:ea typeface="Noto Sans KR"/>
              </a:rPr>
              <a:t>보안 정책 준수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198000" y="3327120"/>
            <a:ext cx="40230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고객사 보안 정책 및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개인정보보호법 준수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757575"/>
                </a:solidFill>
                <a:latin typeface="Noto Sans KR"/>
                <a:ea typeface="Noto Sans KR"/>
              </a:rPr>
              <a:t>정기 보안 점검 수행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1" name="Text 7"/>
          <p:cNvSpPr/>
          <p:nvPr/>
        </p:nvSpPr>
        <p:spPr>
          <a:xfrm>
            <a:off x="4292640" y="1015920"/>
            <a:ext cx="4470120" cy="812520"/>
          </a:xfrm>
          <a:prstGeom prst="roundRect">
            <a:avLst>
              <a:gd name="adj" fmla="val 9376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2" name="Text 8"/>
          <p:cNvSpPr/>
          <p:nvPr/>
        </p:nvSpPr>
        <p:spPr>
          <a:xfrm>
            <a:off x="4483080" y="1168200"/>
            <a:ext cx="507600" cy="507600"/>
          </a:xfrm>
          <a:prstGeom prst="roundRect">
            <a:avLst>
              <a:gd name="adj" fmla="val 15001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3" name="Text 9"/>
          <p:cNvSpPr/>
          <p:nvPr/>
        </p:nvSpPr>
        <p:spPr>
          <a:xfrm>
            <a:off x="4608360" y="1298520"/>
            <a:ext cx="282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Noto Sans KR"/>
                <a:ea typeface="Noto Sans KR"/>
              </a:rPr>
              <a:t>🔐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5143320" y="1269720"/>
            <a:ext cx="3771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접근 통제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5" name="Text 11"/>
          <p:cNvSpPr/>
          <p:nvPr/>
        </p:nvSpPr>
        <p:spPr>
          <a:xfrm>
            <a:off x="5143320" y="1460160"/>
            <a:ext cx="377172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역할 기반 접근 제어</a:t>
            </a:r>
            <a:r>
              <a:rPr b="0" lang="en-US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(RBAC) / 2FA </a:t>
            </a: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인증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6" name="Text 12"/>
          <p:cNvSpPr/>
          <p:nvPr/>
        </p:nvSpPr>
        <p:spPr>
          <a:xfrm>
            <a:off x="4292640" y="1981080"/>
            <a:ext cx="4470120" cy="812520"/>
          </a:xfrm>
          <a:prstGeom prst="roundRect">
            <a:avLst>
              <a:gd name="adj" fmla="val 9376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7" name="Text 13"/>
          <p:cNvSpPr/>
          <p:nvPr/>
        </p:nvSpPr>
        <p:spPr>
          <a:xfrm>
            <a:off x="4483080" y="2133360"/>
            <a:ext cx="507600" cy="507600"/>
          </a:xfrm>
          <a:prstGeom prst="roundRect">
            <a:avLst>
              <a:gd name="adj" fmla="val 15001"/>
            </a:avLst>
          </a:prstGeom>
          <a:solidFill>
            <a:srgbClr val="4b65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8" name="Text 14"/>
          <p:cNvSpPr/>
          <p:nvPr/>
        </p:nvSpPr>
        <p:spPr>
          <a:xfrm>
            <a:off x="4615200" y="2251800"/>
            <a:ext cx="388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Noto Sans KR"/>
                <a:ea typeface="Noto Sans KR"/>
              </a:rPr>
              <a:t>🛡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5143320" y="2234880"/>
            <a:ext cx="3771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데이터 암호화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5143320" y="2425320"/>
            <a:ext cx="377172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전송 중</a:t>
            </a:r>
            <a:r>
              <a:rPr b="0" lang="en-US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(TLS 1.3) / </a:t>
            </a: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저장 시</a:t>
            </a:r>
            <a:r>
              <a:rPr b="0" lang="en-US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(AES-256) </a:t>
            </a: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암호화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4292640" y="2946240"/>
            <a:ext cx="4470120" cy="812520"/>
          </a:xfrm>
          <a:prstGeom prst="roundRect">
            <a:avLst>
              <a:gd name="adj" fmla="val 9376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2" name="Text 18"/>
          <p:cNvSpPr/>
          <p:nvPr/>
        </p:nvSpPr>
        <p:spPr>
          <a:xfrm>
            <a:off x="4483080" y="3098520"/>
            <a:ext cx="507600" cy="507600"/>
          </a:xfrm>
          <a:prstGeom prst="roundRect">
            <a:avLst>
              <a:gd name="adj" fmla="val 15001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3" name="Text 19"/>
          <p:cNvSpPr/>
          <p:nvPr/>
        </p:nvSpPr>
        <p:spPr>
          <a:xfrm>
            <a:off x="4608360" y="3228840"/>
            <a:ext cx="282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Noto Sans KR"/>
                <a:ea typeface="Noto Sans KR"/>
              </a:rPr>
              <a:t>🔎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4" name="Text 20"/>
          <p:cNvSpPr/>
          <p:nvPr/>
        </p:nvSpPr>
        <p:spPr>
          <a:xfrm>
            <a:off x="5143320" y="3200040"/>
            <a:ext cx="3771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보안 감사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5" name="Text 21"/>
          <p:cNvSpPr/>
          <p:nvPr/>
        </p:nvSpPr>
        <p:spPr>
          <a:xfrm>
            <a:off x="5143320" y="3390480"/>
            <a:ext cx="377172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로그 모니터링 </a:t>
            </a:r>
            <a:r>
              <a:rPr b="0" lang="en-US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/ </a:t>
            </a: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취약점 스캔 </a:t>
            </a:r>
            <a:r>
              <a:rPr b="0" lang="en-US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/ </a:t>
            </a: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침투 테스트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6" name="Text 22"/>
          <p:cNvSpPr/>
          <p:nvPr/>
        </p:nvSpPr>
        <p:spPr>
          <a:xfrm>
            <a:off x="4292640" y="3911400"/>
            <a:ext cx="4470120" cy="812520"/>
          </a:xfrm>
          <a:prstGeom prst="roundRect">
            <a:avLst>
              <a:gd name="adj" fmla="val 9376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7" name="Text 23"/>
          <p:cNvSpPr/>
          <p:nvPr/>
        </p:nvSpPr>
        <p:spPr>
          <a:xfrm>
            <a:off x="4483080" y="4063680"/>
            <a:ext cx="507600" cy="507600"/>
          </a:xfrm>
          <a:prstGeom prst="roundRect">
            <a:avLst>
              <a:gd name="adj" fmla="val 15001"/>
            </a:avLst>
          </a:prstGeom>
          <a:solidFill>
            <a:srgbClr val="e9b8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8" name="Text 24"/>
          <p:cNvSpPr/>
          <p:nvPr/>
        </p:nvSpPr>
        <p:spPr>
          <a:xfrm>
            <a:off x="4608360" y="4194000"/>
            <a:ext cx="282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Noto Sans KR"/>
                <a:ea typeface="Noto Sans KR"/>
              </a:rPr>
              <a:t>📄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9" name="Text 25"/>
          <p:cNvSpPr/>
          <p:nvPr/>
        </p:nvSpPr>
        <p:spPr>
          <a:xfrm>
            <a:off x="5143320" y="4165200"/>
            <a:ext cx="3771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개인정보 보호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0" name="Text 26"/>
          <p:cNvSpPr/>
          <p:nvPr/>
        </p:nvSpPr>
        <p:spPr>
          <a:xfrm>
            <a:off x="5143320" y="4355640"/>
            <a:ext cx="377172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마스킹 처리 </a:t>
            </a:r>
            <a:r>
              <a:rPr b="0" lang="en-US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/ </a:t>
            </a: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동의 관리 </a:t>
            </a:r>
            <a:r>
              <a:rPr b="0" lang="en-US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/ </a:t>
            </a: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파기 정책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531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79672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532" name="Text 27"/>
          <p:cNvSpPr/>
          <p:nvPr/>
        </p:nvSpPr>
        <p:spPr>
          <a:xfrm>
            <a:off x="758484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3" name="Text 28"/>
          <p:cNvSpPr/>
          <p:nvPr/>
        </p:nvSpPr>
        <p:spPr>
          <a:xfrm>
            <a:off x="8635680" y="477216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20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Text 0"/>
          <p:cNvSpPr/>
          <p:nvPr/>
        </p:nvSpPr>
        <p:spPr>
          <a:xfrm>
            <a:off x="0" y="0"/>
            <a:ext cx="9143640" cy="37800"/>
          </a:xfrm>
          <a:prstGeom prst="rect">
            <a:avLst/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5" name="Text 1"/>
          <p:cNvSpPr/>
          <p:nvPr/>
        </p:nvSpPr>
        <p:spPr>
          <a:xfrm>
            <a:off x="380880" y="253800"/>
            <a:ext cx="2118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002452"/>
                </a:solidFill>
                <a:latin typeface="Noto Sans KR"/>
                <a:ea typeface="Noto Sans KR"/>
              </a:rPr>
              <a:t>위험 관리 계획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6" name="Text 2"/>
          <p:cNvSpPr/>
          <p:nvPr/>
        </p:nvSpPr>
        <p:spPr>
          <a:xfrm>
            <a:off x="380880" y="539640"/>
            <a:ext cx="2118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주요 리스크 식별 및 대응 전략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7" name="Text 3"/>
          <p:cNvSpPr/>
          <p:nvPr/>
        </p:nvSpPr>
        <p:spPr>
          <a:xfrm>
            <a:off x="380880" y="1015920"/>
            <a:ext cx="8381520" cy="355320"/>
          </a:xfrm>
          <a:prstGeom prst="roundRect">
            <a:avLst>
              <a:gd name="adj" fmla="val 21432"/>
            </a:avLst>
          </a:prstGeom>
          <a:solidFill>
            <a:srgbClr val="0024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8" name="Text 4"/>
          <p:cNvSpPr/>
          <p:nvPr/>
        </p:nvSpPr>
        <p:spPr>
          <a:xfrm>
            <a:off x="380880" y="1879560"/>
            <a:ext cx="8381520" cy="45684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9" name="Text 5"/>
          <p:cNvSpPr/>
          <p:nvPr/>
        </p:nvSpPr>
        <p:spPr>
          <a:xfrm>
            <a:off x="380880" y="2793960"/>
            <a:ext cx="8381520" cy="45684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0" name="Text 6"/>
          <p:cNvSpPr/>
          <p:nvPr/>
        </p:nvSpPr>
        <p:spPr>
          <a:xfrm>
            <a:off x="444240" y="1066680"/>
            <a:ext cx="13964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위험 요소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1" name="Text 7"/>
          <p:cNvSpPr/>
          <p:nvPr/>
        </p:nvSpPr>
        <p:spPr>
          <a:xfrm>
            <a:off x="1778040" y="1066680"/>
            <a:ext cx="977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등급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2" name="Text 8"/>
          <p:cNvSpPr/>
          <p:nvPr/>
        </p:nvSpPr>
        <p:spPr>
          <a:xfrm>
            <a:off x="2730240" y="1066680"/>
            <a:ext cx="3072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대응 전략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3" name="Text 9"/>
          <p:cNvSpPr/>
          <p:nvPr/>
        </p:nvSpPr>
        <p:spPr>
          <a:xfrm>
            <a:off x="5587920" y="1066680"/>
            <a:ext cx="1257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담당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4" name="Text 10"/>
          <p:cNvSpPr/>
          <p:nvPr/>
        </p:nvSpPr>
        <p:spPr>
          <a:xfrm>
            <a:off x="6794280" y="1066680"/>
            <a:ext cx="2095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모니터링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5" name="Text 11"/>
          <p:cNvSpPr/>
          <p:nvPr/>
        </p:nvSpPr>
        <p:spPr>
          <a:xfrm>
            <a:off x="444240" y="1422360"/>
            <a:ext cx="13964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일정 지연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6" name="Text 12"/>
          <p:cNvSpPr/>
          <p:nvPr/>
        </p:nvSpPr>
        <p:spPr>
          <a:xfrm>
            <a:off x="1778040" y="1422360"/>
            <a:ext cx="507600" cy="190080"/>
          </a:xfrm>
          <a:prstGeom prst="roundRect">
            <a:avLst>
              <a:gd name="adj" fmla="val 20000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7" name="Text 13"/>
          <p:cNvSpPr/>
          <p:nvPr/>
        </p:nvSpPr>
        <p:spPr>
          <a:xfrm>
            <a:off x="1920240" y="1460520"/>
            <a:ext cx="2232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Noto Sans KR"/>
                <a:ea typeface="Noto Sans KR"/>
              </a:rPr>
              <a:t>높음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8" name="Text 14"/>
          <p:cNvSpPr/>
          <p:nvPr/>
        </p:nvSpPr>
        <p:spPr>
          <a:xfrm>
            <a:off x="2730240" y="1422360"/>
            <a:ext cx="3072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버퍼 일정 확보 </a:t>
            </a: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/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주간 진척 점검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9" name="Text 15"/>
          <p:cNvSpPr/>
          <p:nvPr/>
        </p:nvSpPr>
        <p:spPr>
          <a:xfrm>
            <a:off x="5587920" y="1422360"/>
            <a:ext cx="1257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PM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0" name="Text 16"/>
          <p:cNvSpPr/>
          <p:nvPr/>
        </p:nvSpPr>
        <p:spPr>
          <a:xfrm>
            <a:off x="6794280" y="1422360"/>
            <a:ext cx="2095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주간 보고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1" name="Text 17"/>
          <p:cNvSpPr/>
          <p:nvPr/>
        </p:nvSpPr>
        <p:spPr>
          <a:xfrm>
            <a:off x="444240" y="1879560"/>
            <a:ext cx="13964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기술적 이슈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2" name="Text 18"/>
          <p:cNvSpPr/>
          <p:nvPr/>
        </p:nvSpPr>
        <p:spPr>
          <a:xfrm>
            <a:off x="1778040" y="1879560"/>
            <a:ext cx="507600" cy="190080"/>
          </a:xfrm>
          <a:prstGeom prst="roundRect">
            <a:avLst>
              <a:gd name="adj" fmla="val 20000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3" name="Text 19"/>
          <p:cNvSpPr/>
          <p:nvPr/>
        </p:nvSpPr>
        <p:spPr>
          <a:xfrm>
            <a:off x="1920240" y="1917720"/>
            <a:ext cx="2232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Noto Sans KR"/>
                <a:ea typeface="Noto Sans KR"/>
              </a:rPr>
              <a:t>높음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4" name="Text 20"/>
          <p:cNvSpPr/>
          <p:nvPr/>
        </p:nvSpPr>
        <p:spPr>
          <a:xfrm>
            <a:off x="2730240" y="1879560"/>
            <a:ext cx="3072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PoC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조기 수행 </a:t>
            </a: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/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전문가 지원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5" name="Text 21"/>
          <p:cNvSpPr/>
          <p:nvPr/>
        </p:nvSpPr>
        <p:spPr>
          <a:xfrm>
            <a:off x="5587920" y="1879560"/>
            <a:ext cx="1257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기술리더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6" name="Text 22"/>
          <p:cNvSpPr/>
          <p:nvPr/>
        </p:nvSpPr>
        <p:spPr>
          <a:xfrm>
            <a:off x="6794280" y="1879560"/>
            <a:ext cx="2095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일일 스탠드업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7" name="Text 23"/>
          <p:cNvSpPr/>
          <p:nvPr/>
        </p:nvSpPr>
        <p:spPr>
          <a:xfrm>
            <a:off x="444240" y="2336760"/>
            <a:ext cx="13964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요구사항 변경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8" name="Text 24"/>
          <p:cNvSpPr/>
          <p:nvPr/>
        </p:nvSpPr>
        <p:spPr>
          <a:xfrm>
            <a:off x="1778040" y="2336760"/>
            <a:ext cx="507600" cy="190080"/>
          </a:xfrm>
          <a:prstGeom prst="roundRect">
            <a:avLst>
              <a:gd name="adj" fmla="val 20000"/>
            </a:avLst>
          </a:prstGeom>
          <a:solidFill>
            <a:srgbClr val="e9b8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9" name="Text 25"/>
          <p:cNvSpPr/>
          <p:nvPr/>
        </p:nvSpPr>
        <p:spPr>
          <a:xfrm>
            <a:off x="1920240" y="2374920"/>
            <a:ext cx="2232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262626"/>
                </a:solidFill>
                <a:latin typeface="Noto Sans KR"/>
                <a:ea typeface="Noto Sans KR"/>
              </a:rPr>
              <a:t>중간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0" name="Text 26"/>
          <p:cNvSpPr/>
          <p:nvPr/>
        </p:nvSpPr>
        <p:spPr>
          <a:xfrm>
            <a:off x="2730240" y="2336760"/>
            <a:ext cx="3072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변경관리 프로세스 </a:t>
            </a: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/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영향도 분석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1" name="Text 27"/>
          <p:cNvSpPr/>
          <p:nvPr/>
        </p:nvSpPr>
        <p:spPr>
          <a:xfrm>
            <a:off x="5587920" y="2336760"/>
            <a:ext cx="1257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PM/PL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2" name="Text 28"/>
          <p:cNvSpPr/>
          <p:nvPr/>
        </p:nvSpPr>
        <p:spPr>
          <a:xfrm>
            <a:off x="6794280" y="2336760"/>
            <a:ext cx="2095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변경요청 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3" name="Text 29"/>
          <p:cNvSpPr/>
          <p:nvPr/>
        </p:nvSpPr>
        <p:spPr>
          <a:xfrm>
            <a:off x="444240" y="2793960"/>
            <a:ext cx="13964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인력 이탈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4" name="Text 30"/>
          <p:cNvSpPr/>
          <p:nvPr/>
        </p:nvSpPr>
        <p:spPr>
          <a:xfrm>
            <a:off x="1778040" y="2793960"/>
            <a:ext cx="507600" cy="190080"/>
          </a:xfrm>
          <a:prstGeom prst="roundRect">
            <a:avLst>
              <a:gd name="adj" fmla="val 20000"/>
            </a:avLst>
          </a:prstGeom>
          <a:solidFill>
            <a:srgbClr val="e9b8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5" name="Text 31"/>
          <p:cNvSpPr/>
          <p:nvPr/>
        </p:nvSpPr>
        <p:spPr>
          <a:xfrm>
            <a:off x="1920240" y="2832120"/>
            <a:ext cx="2232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262626"/>
                </a:solidFill>
                <a:latin typeface="Noto Sans KR"/>
                <a:ea typeface="Noto Sans KR"/>
              </a:rPr>
              <a:t>중간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6" name="Text 32"/>
          <p:cNvSpPr/>
          <p:nvPr/>
        </p:nvSpPr>
        <p:spPr>
          <a:xfrm>
            <a:off x="2730240" y="2793960"/>
            <a:ext cx="3072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지식 공유 </a:t>
            </a: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/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백업 인력 지정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7" name="Text 33"/>
          <p:cNvSpPr/>
          <p:nvPr/>
        </p:nvSpPr>
        <p:spPr>
          <a:xfrm>
            <a:off x="5587920" y="2793960"/>
            <a:ext cx="1257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PM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8" name="Text 34"/>
          <p:cNvSpPr/>
          <p:nvPr/>
        </p:nvSpPr>
        <p:spPr>
          <a:xfrm>
            <a:off x="6794280" y="2793960"/>
            <a:ext cx="2095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월간 점검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9" name="Text 35"/>
          <p:cNvSpPr/>
          <p:nvPr/>
        </p:nvSpPr>
        <p:spPr>
          <a:xfrm>
            <a:off x="444240" y="3251160"/>
            <a:ext cx="13964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외부 시스템 연동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0" name="Text 36"/>
          <p:cNvSpPr/>
          <p:nvPr/>
        </p:nvSpPr>
        <p:spPr>
          <a:xfrm>
            <a:off x="1778040" y="3251160"/>
            <a:ext cx="507600" cy="190080"/>
          </a:xfrm>
          <a:prstGeom prst="roundRect">
            <a:avLst>
              <a:gd name="adj" fmla="val 20000"/>
            </a:avLst>
          </a:prstGeom>
          <a:solidFill>
            <a:srgbClr val="b7d0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1" name="Text 37"/>
          <p:cNvSpPr/>
          <p:nvPr/>
        </p:nvSpPr>
        <p:spPr>
          <a:xfrm>
            <a:off x="1920240" y="3289320"/>
            <a:ext cx="22320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262626"/>
                </a:solidFill>
                <a:latin typeface="Noto Sans KR"/>
                <a:ea typeface="Noto Sans KR"/>
              </a:rPr>
              <a:t>낮음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2" name="Text 38"/>
          <p:cNvSpPr/>
          <p:nvPr/>
        </p:nvSpPr>
        <p:spPr>
          <a:xfrm>
            <a:off x="2730240" y="3251160"/>
            <a:ext cx="3072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인터페이스 사전 협의 </a:t>
            </a:r>
            <a:r>
              <a:rPr b="0" lang="en-US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/ Mock </a:t>
            </a: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서버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3" name="Text 39"/>
          <p:cNvSpPr/>
          <p:nvPr/>
        </p:nvSpPr>
        <p:spPr>
          <a:xfrm>
            <a:off x="5587920" y="3251160"/>
            <a:ext cx="1257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개발리더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4" name="Text 40"/>
          <p:cNvSpPr/>
          <p:nvPr/>
        </p:nvSpPr>
        <p:spPr>
          <a:xfrm>
            <a:off x="6794280" y="3251160"/>
            <a:ext cx="2095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262626"/>
                </a:solidFill>
                <a:latin typeface="Noto Sans KR"/>
                <a:ea typeface="Noto Sans KR"/>
              </a:rPr>
              <a:t>단계별 검증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5" name="Text 41"/>
          <p:cNvSpPr/>
          <p:nvPr/>
        </p:nvSpPr>
        <p:spPr>
          <a:xfrm>
            <a:off x="380880" y="4508640"/>
            <a:ext cx="126720" cy="126720"/>
          </a:xfrm>
          <a:prstGeom prst="roundRect">
            <a:avLst>
              <a:gd name="adj" fmla="val 20008"/>
            </a:avLst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6" name="Text 42"/>
          <p:cNvSpPr/>
          <p:nvPr/>
        </p:nvSpPr>
        <p:spPr>
          <a:xfrm>
            <a:off x="571320" y="4514760"/>
            <a:ext cx="20916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높음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7" name="Text 43"/>
          <p:cNvSpPr/>
          <p:nvPr/>
        </p:nvSpPr>
        <p:spPr>
          <a:xfrm>
            <a:off x="1015920" y="4508640"/>
            <a:ext cx="126720" cy="126720"/>
          </a:xfrm>
          <a:prstGeom prst="roundRect">
            <a:avLst>
              <a:gd name="adj" fmla="val 20008"/>
            </a:avLst>
          </a:prstGeom>
          <a:solidFill>
            <a:srgbClr val="e9b8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8" name="Text 44"/>
          <p:cNvSpPr/>
          <p:nvPr/>
        </p:nvSpPr>
        <p:spPr>
          <a:xfrm>
            <a:off x="1206000" y="4514760"/>
            <a:ext cx="20916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중간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9" name="Text 45"/>
          <p:cNvSpPr/>
          <p:nvPr/>
        </p:nvSpPr>
        <p:spPr>
          <a:xfrm>
            <a:off x="1650600" y="4508640"/>
            <a:ext cx="126720" cy="126720"/>
          </a:xfrm>
          <a:prstGeom prst="roundRect">
            <a:avLst>
              <a:gd name="adj" fmla="val 20008"/>
            </a:avLst>
          </a:prstGeom>
          <a:solidFill>
            <a:srgbClr val="b7d0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0" name="Text 46"/>
          <p:cNvSpPr/>
          <p:nvPr/>
        </p:nvSpPr>
        <p:spPr>
          <a:xfrm>
            <a:off x="1840680" y="4514760"/>
            <a:ext cx="20916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757575"/>
                </a:solidFill>
                <a:latin typeface="Noto Sans KR"/>
                <a:ea typeface="Noto Sans KR"/>
              </a:rPr>
              <a:t>낮음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581" name="Image 0" descr="/home/jji/project/docs/templates/documents/dongkuk-systems/assets/default/image2.png"/>
          <p:cNvPicPr/>
          <p:nvPr/>
        </p:nvPicPr>
        <p:blipFill>
          <a:blip r:embed="rId1"/>
          <a:stretch/>
        </p:blipFill>
        <p:spPr>
          <a:xfrm>
            <a:off x="5796720" y="4724280"/>
            <a:ext cx="1533960" cy="228240"/>
          </a:xfrm>
          <a:prstGeom prst="rect">
            <a:avLst/>
          </a:prstGeom>
          <a:ln w="0">
            <a:noFill/>
          </a:ln>
        </p:spPr>
      </p:pic>
      <p:sp>
        <p:nvSpPr>
          <p:cNvPr id="582" name="Text 47"/>
          <p:cNvSpPr/>
          <p:nvPr/>
        </p:nvSpPr>
        <p:spPr>
          <a:xfrm>
            <a:off x="7584840" y="4772160"/>
            <a:ext cx="87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작성</a:t>
            </a: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_</a:t>
            </a:r>
            <a:r>
              <a:rPr b="0" lang="ko-KR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3" name="Text 48"/>
          <p:cNvSpPr/>
          <p:nvPr/>
        </p:nvSpPr>
        <p:spPr>
          <a:xfrm>
            <a:off x="8635680" y="477216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21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Text 0"/>
          <p:cNvSpPr/>
          <p:nvPr/>
        </p:nvSpPr>
        <p:spPr>
          <a:xfrm>
            <a:off x="7493040" y="127080"/>
            <a:ext cx="1523520" cy="1523520"/>
          </a:xfrm>
          <a:prstGeom prst="roundRect">
            <a:avLst>
              <a:gd name="adj" fmla="val 50000"/>
            </a:avLst>
          </a:prstGeom>
          <a:solidFill>
            <a:srgbClr val="4b658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5" name="Text 1"/>
          <p:cNvSpPr/>
          <p:nvPr/>
        </p:nvSpPr>
        <p:spPr>
          <a:xfrm>
            <a:off x="127080" y="3492720"/>
            <a:ext cx="1269720" cy="1269720"/>
          </a:xfrm>
          <a:prstGeom prst="roundRect">
            <a:avLst>
              <a:gd name="adj" fmla="val 50002"/>
            </a:avLst>
          </a:prstGeom>
          <a:solidFill>
            <a:srgbClr val="b7d0d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6" name="Text 2"/>
          <p:cNvSpPr/>
          <p:nvPr/>
        </p:nvSpPr>
        <p:spPr>
          <a:xfrm>
            <a:off x="2731320" y="1713240"/>
            <a:ext cx="36813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3600" spc="-1" strike="noStrike">
                <a:solidFill>
                  <a:srgbClr val="ffffff"/>
                </a:solidFill>
                <a:latin typeface="Noto Sans KR"/>
                <a:ea typeface="Noto Sans KR"/>
              </a:rPr>
              <a:t>감사합니다</a:t>
            </a:r>
            <a:endParaRPr b="0" lang="en-US" sz="3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87" name="Text 3"/>
          <p:cNvSpPr/>
          <p:nvPr/>
        </p:nvSpPr>
        <p:spPr>
          <a:xfrm>
            <a:off x="2731320" y="2363760"/>
            <a:ext cx="368136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2001"/>
              </a:spcAft>
              <a:tabLst>
                <a:tab algn="l" pos="0"/>
              </a:tabLst>
            </a:pPr>
            <a:r>
              <a:rPr b="0" lang="ko-KR" sz="1200" spc="-1" strike="noStrike">
                <a:solidFill>
                  <a:srgbClr val="b7d0d4"/>
                </a:solidFill>
                <a:latin typeface="Noto Sans KR"/>
                <a:ea typeface="Noto Sans KR"/>
              </a:rPr>
              <a:t>스마트 물류관리 시스템 구축 제안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88" name="Text 4"/>
          <p:cNvSpPr/>
          <p:nvPr/>
        </p:nvSpPr>
        <p:spPr>
          <a:xfrm>
            <a:off x="4254480" y="2789280"/>
            <a:ext cx="634680" cy="37800"/>
          </a:xfrm>
          <a:prstGeom prst="rect">
            <a:avLst/>
          </a:prstGeom>
          <a:solidFill>
            <a:srgbClr val="c51f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9" name="Text 5"/>
          <p:cNvSpPr/>
          <p:nvPr/>
        </p:nvSpPr>
        <p:spPr>
          <a:xfrm>
            <a:off x="2865960" y="3081240"/>
            <a:ext cx="712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b7d0d4"/>
                </a:solidFill>
                <a:latin typeface="Noto Sans KR"/>
                <a:ea typeface="Noto Sans KR"/>
              </a:rPr>
              <a:t>담당자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0" name="Text 6"/>
          <p:cNvSpPr/>
          <p:nvPr/>
        </p:nvSpPr>
        <p:spPr>
          <a:xfrm>
            <a:off x="2865960" y="3278160"/>
            <a:ext cx="712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Noto Sans KR"/>
                <a:ea typeface="Noto Sans KR"/>
              </a:rPr>
              <a:t>PM </a:t>
            </a:r>
            <a:r>
              <a:rPr b="0" lang="ko-KR" sz="1100" spc="-1" strike="noStrike">
                <a:solidFill>
                  <a:srgbClr val="ffffff"/>
                </a:solidFill>
                <a:latin typeface="Noto Sans KR"/>
                <a:ea typeface="Noto Sans KR"/>
              </a:rPr>
              <a:t>홍길동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1" name="Text 7"/>
          <p:cNvSpPr/>
          <p:nvPr/>
        </p:nvSpPr>
        <p:spPr>
          <a:xfrm>
            <a:off x="3820680" y="3081240"/>
            <a:ext cx="956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b7d0d4"/>
                </a:solidFill>
                <a:latin typeface="Noto Sans KR"/>
                <a:ea typeface="Noto Sans KR"/>
              </a:rPr>
              <a:t>연락처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2" name="Text 8"/>
          <p:cNvSpPr/>
          <p:nvPr/>
        </p:nvSpPr>
        <p:spPr>
          <a:xfrm>
            <a:off x="3820680" y="3278160"/>
            <a:ext cx="956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Noto Sans KR"/>
                <a:ea typeface="Noto Sans KR"/>
              </a:rPr>
              <a:t>02-1234-5678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3" name="Text 9"/>
          <p:cNvSpPr/>
          <p:nvPr/>
        </p:nvSpPr>
        <p:spPr>
          <a:xfrm>
            <a:off x="4991400" y="3081240"/>
            <a:ext cx="13132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ko-KR" sz="900" spc="-1" strike="noStrike">
                <a:solidFill>
                  <a:srgbClr val="b7d0d4"/>
                </a:solidFill>
                <a:latin typeface="Noto Sans KR"/>
                <a:ea typeface="Noto Sans KR"/>
              </a:rPr>
              <a:t>이메일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4" name="Text 10"/>
          <p:cNvSpPr/>
          <p:nvPr/>
        </p:nvSpPr>
        <p:spPr>
          <a:xfrm>
            <a:off x="4991400" y="3278160"/>
            <a:ext cx="13132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Noto Sans KR"/>
                <a:ea typeface="Noto Sans KR"/>
              </a:rPr>
              <a:t>pm@company.com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5" name="Text 11"/>
          <p:cNvSpPr/>
          <p:nvPr/>
        </p:nvSpPr>
        <p:spPr>
          <a:xfrm>
            <a:off x="3739680" y="4556160"/>
            <a:ext cx="18309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>
                    <a:alpha val="60000"/>
                  </a:srgbClr>
                </a:solidFill>
                <a:latin typeface="Noto Sans KR"/>
                <a:ea typeface="Noto Sans KR"/>
              </a:rPr>
              <a:t>DONGKUK SYSTEMS</a:t>
            </a:r>
            <a:endParaRPr b="0" lang="en-US" sz="10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596" name="Text 12"/>
          <p:cNvSpPr/>
          <p:nvPr/>
        </p:nvSpPr>
        <p:spPr>
          <a:xfrm>
            <a:off x="8635680" y="4819680"/>
            <a:ext cx="139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6b6b6"/>
                </a:solidFill>
                <a:latin typeface="Noto Sans KR"/>
                <a:ea typeface="Noto Sans KR"/>
              </a:rPr>
              <a:t>22</a:t>
            </a:r>
            <a:endParaRPr b="0" lang="en-US" sz="9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2026-01-09T04:35:35Z</dcterms:created>
  <dc:creator>Claude Code</dc:creator>
  <dc:description/>
  <dc:language>ko-KR</dc:language>
  <cp:lastModifiedBy/>
  <dcterms:modified xsi:type="dcterms:W3CDTF">2026-01-09T14:56:26Z</dcterms:modified>
  <cp:revision>2</cp:revision>
  <dc:subject>프로젝트 수행계획서</dc:subject>
  <dc:title>스마트 물류관리 시스템 구축 수행계획서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