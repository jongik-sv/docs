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4099" y="0"/>
            <a:ext cx="2539901" cy="5143500"/>
          </a:xfrm>
          <a:prstGeom prst="rect">
            <a:avLst/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148879"/>
            <a:ext cx="1357313" cy="253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199629"/>
            <a:ext cx="10735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605930"/>
            <a:ext cx="5635142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</a:t>
            </a:r>
            <a:endParaRPr lang="en-US" sz="3600" dirty="0"/>
          </a:p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34901" y="2946871"/>
            <a:ext cx="56351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AI 기반 물류 최적화 프로젝트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5374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발주: (주)글로벌물류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36898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수행: (주)테크솔루션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38422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72784" y="4591050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SOLUTION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14243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015901"/>
            <a:ext cx="0" cy="202927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52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252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2526" y="2060228"/>
            <a:ext cx="936180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815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31963" y="1015901"/>
            <a:ext cx="0" cy="202927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967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967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09676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3530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59113" y="1015901"/>
            <a:ext cx="0" cy="2029271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68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368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368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6245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86264" y="1015901"/>
            <a:ext cx="0" cy="2029271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397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6397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63977" y="2060228"/>
            <a:ext cx="93618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89602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3414" y="1015901"/>
            <a:ext cx="0" cy="202927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11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5911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911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900" dirty="0"/>
          </a:p>
        </p:txBody>
      </p:sp>
      <p:pic>
        <p:nvPicPr>
          <p:cNvPr id="2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정보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989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030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57490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기본 정보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Top 5 물류기업 (주)글로벌물류의 차세대 스마트 물류관리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166813"/>
            <a:ext cx="1952625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0453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453" y="1679377"/>
            <a:ext cx="1473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(주)글로벌물류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0453" y="2320677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500만건+ 물류 처리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24125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24125" y="1166813"/>
            <a:ext cx="1952625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3578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63578" y="1679377"/>
            <a:ext cx="1473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(주)테크솔루션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320677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 전문기업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1166813"/>
            <a:ext cx="1952625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6703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계약금액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6703" y="1679377"/>
            <a:ext cx="1473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06703" y="20254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VAT 별도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0375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10375" y="1166813"/>
            <a:ext cx="1952625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9828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계약기간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9828" y="1679377"/>
            <a:ext cx="1473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9828" y="20254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2025.01.06 ~ 2025.12.31</a:t>
            </a:r>
            <a:endParaRPr lang="en-US" sz="900" dirty="0"/>
          </a:p>
        </p:txBody>
      </p:sp>
      <p:pic>
        <p:nvPicPr>
          <p:cNvPr id="25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320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배경 및 목적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32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 노후화 해결 및 차세대 스마트 물류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323" y="1252538"/>
            <a:ext cx="576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150" y="1285875"/>
            <a:ext cx="9607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문제점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790700"/>
            <a:ext cx="0" cy="1730127"/>
          </a:xfrm>
          <a:prstGeom prst="line">
            <a:avLst/>
          </a:prstGeom>
          <a:noFill/>
          <a:ln w="47625">
            <a:solidFill>
              <a:srgbClr val="757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10년 이상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운영된 레거시 시스템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급증하는 물동량 대응 한계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저하 및 병목 현상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파악 불가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시스템 연동 한계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625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5375" y="1247775"/>
            <a:ext cx="1748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6650" y="1285875"/>
            <a:ext cx="6261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목표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86313" y="1790700"/>
            <a:ext cx="0" cy="1730127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06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물류 최적화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재고/배송 추적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기반 확장성 확보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아키텍처로 유연성 강화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의사결정 지원</a:t>
            </a:r>
            <a:endParaRPr lang="en-US" sz="1000" dirty="0"/>
          </a:p>
        </p:txBody>
      </p:sp>
      <p:pic>
        <p:nvPicPr>
          <p:cNvPr id="17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2209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2209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 시스템 도입으로 운영 효율 극대화 및 비용 절감 달성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4410" y="169381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24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9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물류 처리 효율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9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경로 최적화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프로세스 도입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8655" y="1693813"/>
            <a:ext cx="8066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1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달성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정확도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6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추적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재고 조정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7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8410" y="169381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58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절감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73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3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자동화</a:t>
            </a:r>
            <a:endParaRPr lang="en-US" sz="900" dirty="0"/>
          </a:p>
        </p:txBody>
      </p:sp>
      <p:pic>
        <p:nvPicPr>
          <p:cNvPr id="20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57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57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핵심 시스템으로 물류 전 프로세스 통합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986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4959" y="1566714"/>
            <a:ext cx="244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045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045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창고관리시스템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피킹/패킹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412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8298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1197" y="1566714"/>
            <a:ext cx="1583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357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배송관리시스템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7802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배차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최적화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추적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2611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2766" y="1566714"/>
            <a:ext cx="2014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0670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0670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주문관리시스템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115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접수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할당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처리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037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923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93025" y="1566714"/>
            <a:ext cx="1871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982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982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통합모니터링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6427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현황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모니터링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9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34544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34544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 및 방법론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3454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77145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63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추진 전략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63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"안정적 전환"과 "혁신적 기능 구현"의 균형을 핵심 가치로 추진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37172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98450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450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 Bang 방식이 아닌 모듈별 순차 전환으로 리스크 최소화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2202954"/>
            <a:ext cx="965299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0850" y="2494955"/>
            <a:ext cx="6737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최소화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59634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15805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77084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7084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단위 스프린트로 빠른 피드백과 유연한 대응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77084" y="2202954"/>
            <a:ext cx="860524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29484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피드백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8267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94439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55718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718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2회 현업 리뷰를 통한 요구사항 정합성 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55718" y="2202954"/>
            <a:ext cx="860524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08118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 확보</a:t>
            </a:r>
            <a:endParaRPr lang="en-US" sz="900" dirty="0"/>
          </a:p>
        </p:txBody>
      </p:sp>
      <p:pic>
        <p:nvPicPr>
          <p:cNvPr id="2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989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9898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하이브리드 방법론으로 안정성과 유연성 결합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751112" cy="355402"/>
          </a:xfrm>
          <a:prstGeom prst="roundRect">
            <a:avLst>
              <a:gd name="adj" fmla="val 14294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1180951"/>
            <a:ext cx="1371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Hybrid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401" y="1674763"/>
            <a:ext cx="1968698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4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정의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19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분석서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3718" y="231933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39901" y="1650950"/>
            <a:ext cx="1968698" cy="1460748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39901" y="1674763"/>
            <a:ext cx="1968698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9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49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UI/DB 설계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66851" y="2654498"/>
            <a:ext cx="1714798" cy="266700"/>
          </a:xfrm>
          <a:prstGeom prst="roundRect">
            <a:avLst>
              <a:gd name="adj" fmla="val 1904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27427" y="2730698"/>
            <a:ext cx="15936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19218" y="226218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5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35401" y="1674763"/>
            <a:ext cx="1968698" cy="0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5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2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229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단위테스트결과서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14718" y="231933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09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730901" y="1674763"/>
            <a:ext cx="1968698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0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테스트/이행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40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전환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78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184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이행계획서</a:t>
            </a:r>
            <a:endParaRPr lang="en-US" sz="800" dirty="0"/>
          </a:p>
        </p:txBody>
      </p:sp>
      <p:pic>
        <p:nvPicPr>
          <p:cNvPr id="34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45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45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 스택 기반 클라우드 네이티브 MSA 아키텍처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752" y="1255663"/>
            <a:ext cx="518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6901" y="1079450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87401" y="1250900"/>
            <a:ext cx="817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Vue.js 3 v3.4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3688" y="1250900"/>
            <a:ext cx="672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7695" y="1231850"/>
            <a:ext cx="561082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13895" y="1269950"/>
            <a:ext cx="416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 구조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1000" y="1676251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1896" y="1852464"/>
            <a:ext cx="503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96901" y="1676251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87401" y="1847701"/>
            <a:ext cx="105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v3.2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4073" y="1847701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97523" y="1828651"/>
            <a:ext cx="585490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73723" y="1866751"/>
            <a:ext cx="44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구조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1000" y="2273052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7190" y="2449264"/>
            <a:ext cx="554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96901" y="2273052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7401" y="2444502"/>
            <a:ext cx="9683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81176" y="2444502"/>
            <a:ext cx="4828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98999" y="2425452"/>
            <a:ext cx="928092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75199" y="2463552"/>
            <a:ext cx="7912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RDBMS + Cache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000" y="2869853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1851" y="3046065"/>
            <a:ext cx="2591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96901" y="2869853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87401" y="3041303"/>
            <a:ext cx="643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EKS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62833" y="3041303"/>
            <a:ext cx="300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2062" y="3041303"/>
            <a:ext cx="1742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17318" y="3022253"/>
            <a:ext cx="942677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093518" y="3060353"/>
            <a:ext cx="8060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네이티브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1000" y="3466654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23156" y="3642866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AI/ML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96901" y="3466654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587401" y="3638104"/>
            <a:ext cx="749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66566" y="3638104"/>
            <a:ext cx="1044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TensorFlow 2.15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35202" y="3619054"/>
            <a:ext cx="1066056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11402" y="3657154"/>
            <a:ext cx="9319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수요예측, 경로최적화</a:t>
            </a:r>
            <a:endParaRPr lang="en-US" sz="800" dirty="0"/>
          </a:p>
        </p:txBody>
      </p:sp>
      <p:pic>
        <p:nvPicPr>
          <p:cNvPr id="41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041" y="4724400"/>
            <a:ext cx="1534269" cy="228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593211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644235" y="4772025"/>
            <a:ext cx="1211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Organization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124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4738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473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발주기관-수행사 협력 체계로 효율적인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0" y="1079450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33813" y="1079450"/>
            <a:ext cx="0" cy="80635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075" y="1231850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 PM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50075" y="1415951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정민호 부장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50075" y="1619101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총괄 관리, 의사결정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59350" y="2076301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9292" y="2266801"/>
            <a:ext cx="1547515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933105" y="2266801"/>
            <a:ext cx="0" cy="80635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9132" y="2419201"/>
            <a:ext cx="111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 PM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9132" y="2603302"/>
            <a:ext cx="11154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 차장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9132" y="2806452"/>
            <a:ext cx="11154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총괄, 품질/위험 관리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10708" y="2266801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34520" y="2266801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0782" y="2419201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0782" y="260330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이영희 과장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0782" y="2806452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 지원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59350" y="3263652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3149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166961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3223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 (아키텍트)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83223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박준형 책임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3223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10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944862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1124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리더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61124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최수진 선임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61124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총괄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89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22763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9025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담당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9025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한미영 대리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9025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관리, 테스트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76851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00664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6926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16926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오현우 대리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16926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설계 및 튜닝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302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 현황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302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8명, 78MM 투입으로 전문 인력 기반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15901"/>
            <a:ext cx="8382000" cy="35555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828800"/>
            <a:ext cx="8382000" cy="4063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2641550"/>
            <a:ext cx="8382000" cy="4063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3454301"/>
            <a:ext cx="8382000" cy="40630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106680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9950" y="10668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0901" y="1066800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91000" y="10668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30901" y="106680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투입기간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142235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9950" y="142235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0901" y="1425625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22402" y="145092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91000" y="14223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30901" y="142235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000" y="182880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69950" y="18288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0901" y="1832074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22402" y="185737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91000" y="18288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박준형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30901" y="182880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10개월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1000" y="2235101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69950" y="223510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0901" y="2238375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022402" y="2263676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91000" y="22351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최수진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30901" y="2235101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1000" y="264155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69950" y="264155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Backend/Frontend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0901" y="2644825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022402" y="267012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91000" y="26415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임동현, 강서연, 윤재호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30901" y="264155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10개월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1000" y="304800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69950" y="304800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0901" y="3051274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022402" y="307657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91000" y="30480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오현우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30901" y="3048000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1000" y="3454301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269950" y="345430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0901" y="3457575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022402" y="3482876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91000" y="34543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한미영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30901" y="3454301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1000" y="3819674"/>
            <a:ext cx="1142851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04813" y="3819674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2526" y="3946624"/>
            <a:ext cx="599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인원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2526" y="4079974"/>
            <a:ext cx="5991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8명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904851" y="3819674"/>
            <a:ext cx="1176338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1928664" y="3819674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06377" y="3946624"/>
            <a:ext cx="6333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공수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206377" y="4079974"/>
            <a:ext cx="6333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 MM</a:t>
            </a:r>
            <a:endParaRPr lang="en-US" sz="1600" dirty="0"/>
          </a:p>
        </p:txBody>
      </p:sp>
      <p:pic>
        <p:nvPicPr>
          <p:cNvPr id="5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Schedule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03673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6462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646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48주 (12개월) 프로젝트 수행 일정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345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269950"/>
            <a:ext cx="1397050" cy="634901"/>
          </a:xfrm>
          <a:prstGeom prst="roundRect">
            <a:avLst>
              <a:gd name="adj" fmla="val 5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6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6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1698" y="2444651"/>
            <a:ext cx="1295653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킥오프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환경구축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표준정의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78050" y="1269950"/>
            <a:ext cx="1397050" cy="634901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6220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74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74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74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5099" y="1269950"/>
            <a:ext cx="1397050" cy="634901"/>
          </a:xfrm>
          <a:prstGeom prst="rect">
            <a:avLst/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92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57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4~5월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57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2579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화면/DB 설계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149" y="1269950"/>
            <a:ext cx="1397050" cy="634901"/>
          </a:xfrm>
          <a:prstGeom prst="rect">
            <a:avLst/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56299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284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6~9월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284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284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69198" y="1269950"/>
            <a:ext cx="1397050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96199" y="1515963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989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10~11월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1989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1989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 테스트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66248" y="1269950"/>
            <a:ext cx="1397050" cy="634901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50398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16946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11~12월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16946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16946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안정화</a:t>
            </a:r>
            <a:endParaRPr lang="en-US" sz="800" dirty="0"/>
          </a:p>
        </p:txBody>
      </p:sp>
      <p:pic>
        <p:nvPicPr>
          <p:cNvPr id="36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488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4883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마일스톤 기준 프로젝트 진척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460450"/>
            <a:ext cx="8382000" cy="50750"/>
          </a:xfrm>
          <a:prstGeom prst="roundRect">
            <a:avLst>
              <a:gd name="adj" fmla="val 50049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787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030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7030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7030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9825" y="2339876"/>
            <a:ext cx="6792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6563" y="2390626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492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4B65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6407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6407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6407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2025.03.31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1624" y="2339876"/>
            <a:ext cx="8697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36458" y="2390626"/>
            <a:ext cx="6800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719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75757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6112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6112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6112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2025.05.31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19785" y="2339876"/>
            <a:ext cx="707529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16241" y="2390626"/>
            <a:ext cx="514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902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B7D0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581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581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581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2025.09.30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78598" y="2339876"/>
            <a:ext cx="58400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76289" y="2390626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660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C51F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5522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5522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완료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5522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2025.11.15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80398" y="2339876"/>
            <a:ext cx="77450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76184" y="2390626"/>
            <a:ext cx="582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963123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E9B8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522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522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522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2025.12.01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25073" y="2339876"/>
            <a:ext cx="6792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21811" y="2390626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오픈보고서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1669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16697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1669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Management Plan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62845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737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737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품질 보증 활동으로 고품질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77962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0157" y="151760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646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검토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646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말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 담당자 검토 및 승인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7962" y="2800052"/>
            <a:ext cx="5585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866" y="2850803"/>
            <a:ext cx="3107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PM/PL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24125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1087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1784" y="1517600"/>
            <a:ext cx="337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37771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7771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PR 필수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2인 이상 승인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82987" y="2800052"/>
            <a:ext cx="634901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06127" y="2850803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개발리더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7250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64212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36692" y="15176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80896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분석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80896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SonarQube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 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3240" y="2800052"/>
            <a:ext cx="400645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68723" y="2850803"/>
            <a:ext cx="1496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10375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07337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79817" y="15176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24021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4021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기반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76976" y="2800052"/>
            <a:ext cx="619274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600273" y="2850803"/>
            <a:ext cx="3726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QA/현업</a:t>
            </a:r>
            <a:endParaRPr lang="en-US" sz="800" dirty="0"/>
          </a:p>
        </p:txBody>
      </p:sp>
      <p:pic>
        <p:nvPicPr>
          <p:cNvPr id="3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358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358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정보보안 및 개인정보보호 체계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47800" y="1269802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8800" y="1674614"/>
            <a:ext cx="77724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4424" y="3047702"/>
            <a:ext cx="373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정책 준수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4424" y="3327053"/>
            <a:ext cx="373075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고객사 보안 정책 및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개인정보보호법 준수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보안 점검 수행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2501" y="10159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83001" y="11683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83013" y="12730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92601" y="12445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92601" y="14350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 접근 제어(RBAC) / 2FA 인증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2501" y="19303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83001" y="20827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25876" y="2139851"/>
            <a:ext cx="1748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2601" y="21589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암호화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92601" y="23494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 중(TLS 1.3) / 저장 시(AES-256) 암호화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2501" y="28447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83001" y="29971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83013" y="31018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92601" y="30733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감사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92601" y="32638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모니터링 / 취약점 스캔 / 침투 테스트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2501" y="37591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83001" y="39115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83013" y="40162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92601" y="39877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보호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92601" y="41782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 처리 / 동의 관리 / 파기 정책</a:t>
            </a:r>
            <a:endParaRPr lang="en-US" sz="8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19648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1964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리스크 식별 및 대응 전략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91171" y="1593652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2672" y="161895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91171" y="2021979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92672" y="204728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91171" y="2450306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92672" y="2475607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91171" y="2878634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92672" y="2903934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91171" y="3306961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92672" y="333226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351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2702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14054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pic>
        <p:nvPicPr>
          <p:cNvPr id="1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050" y="12695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4B658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6950" y="3492550"/>
            <a:ext cx="1269950" cy="1269950"/>
          </a:xfrm>
          <a:prstGeom prst="roundRect">
            <a:avLst>
              <a:gd name="adj" fmla="val 50002"/>
            </a:avLst>
          </a:prstGeom>
          <a:solidFill>
            <a:srgbClr val="B7D0D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65032" y="1713086"/>
            <a:ext cx="341393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65032" y="2363912"/>
            <a:ext cx="3413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 제안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4475" y="2789262"/>
            <a:ext cx="634901" cy="381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92019" y="3081263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92019" y="3278014"/>
            <a:ext cx="661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홍길동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55553" y="3081263"/>
            <a:ext cx="886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55553" y="3278014"/>
            <a:ext cx="886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02-1234-5678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39209" y="3081263"/>
            <a:ext cx="1218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39209" y="3278014"/>
            <a:ext cx="1218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pm@company.com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9530" y="4556224"/>
            <a:ext cx="1698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DONGKUK SYSTEMS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수행계획서</dc:title>
  <dc:subject>PptxGenJS Presentation</dc:subject>
  <dc:creator>Claude Code</dc:creator>
  <cp:lastModifiedBy>Claude Code</cp:lastModifiedBy>
  <cp:revision>1</cp:revision>
  <dcterms:created xsi:type="dcterms:W3CDTF">2026-01-09T04:22:19Z</dcterms:created>
  <dcterms:modified xsi:type="dcterms:W3CDTF">2026-01-09T04:22:19Z</dcterms:modified>
</cp:coreProperties>
</file>