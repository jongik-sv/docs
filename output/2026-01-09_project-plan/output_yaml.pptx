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971550"/>
            <a:ext cx="5181600" cy="190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51336" y="790575"/>
            <a:ext cx="3241328" cy="428625"/>
          </a:xfrm>
          <a:prstGeom prst="roundRect">
            <a:avLst>
              <a:gd name="adj" fmla="val 8889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79936" y="885825"/>
            <a:ext cx="30625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(주)글로벌물류 차세대 시스템 구축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57400" y="1428750"/>
            <a:ext cx="5029200" cy="158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32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3200" dirty="0"/>
          </a:p>
          <a:p>
            <a:pPr algn="ctr" indent="0" marL="0">
              <a:lnSpc>
                <a:spcPts val="4160"/>
              </a:lnSpc>
              <a:buNone/>
            </a:pPr>
            <a:r>
              <a:rPr lang="en-US" sz="32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수행계획서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117973" y="2047875"/>
            <a:ext cx="490805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물류 최적화 · 실시간 재고/배송 추적 · 클라우드 네이티브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647950"/>
            <a:ext cx="5181600" cy="19050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95800" y="2762250"/>
            <a:ext cx="152400" cy="0"/>
          </a:xfrm>
          <a:prstGeom prst="line">
            <a:avLst/>
          </a:prstGeom>
          <a:noFill/>
          <a:ln w="95250">
            <a:solidFill>
              <a:srgbClr val="1533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0100" y="2714625"/>
            <a:ext cx="0" cy="9525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3900" y="2714625"/>
            <a:ext cx="0" cy="9525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9275" y="2971800"/>
            <a:ext cx="2165449" cy="342900"/>
          </a:xfrm>
          <a:prstGeom prst="roundRect">
            <a:avLst>
              <a:gd name="adj" fmla="val 11111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79775" y="3048000"/>
            <a:ext cx="19628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(주)테크솔루션 | 2025-01-06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52321" y="4886325"/>
            <a:ext cx="12112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DOC-PRJ-2025-001-001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4712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20745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952625"/>
            <a:ext cx="1885950" cy="0"/>
          </a:xfrm>
          <a:prstGeom prst="line">
            <a:avLst/>
          </a:prstGeom>
          <a:noFill/>
          <a:ln w="19050">
            <a:solidFill>
              <a:srgbClr val="A1BF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28775"/>
            <a:ext cx="20745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76450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프로젝트 정보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43001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배경 및 목적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09552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프로젝트 범위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71750" y="1143000"/>
            <a:ext cx="20745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71750" y="1952625"/>
            <a:ext cx="1885950" cy="0"/>
          </a:xfrm>
          <a:prstGeom prst="line">
            <a:avLst/>
          </a:prstGeom>
          <a:noFill/>
          <a:ln w="19050">
            <a:solidFill>
              <a:srgbClr val="A1BF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1750" y="1628775"/>
            <a:ext cx="20745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전략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1750" y="2076450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추진 전략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1750" y="2343001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수행 방법론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1750" y="2609552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기술 아키텍처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86300" y="1143000"/>
            <a:ext cx="20745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686300" y="1952625"/>
            <a:ext cx="1885950" cy="0"/>
          </a:xfrm>
          <a:prstGeom prst="line">
            <a:avLst/>
          </a:prstGeom>
          <a:noFill/>
          <a:ln w="19050">
            <a:solidFill>
              <a:srgbClr val="A1BF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6300" y="1628775"/>
            <a:ext cx="20745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및 일정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86300" y="2076450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프로젝트 조직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86300" y="2343001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마스터 일정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86300" y="2609552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주요 마일스톤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00850" y="1143000"/>
            <a:ext cx="20745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800850" y="1952625"/>
            <a:ext cx="1885950" cy="0"/>
          </a:xfrm>
          <a:prstGeom prst="line">
            <a:avLst/>
          </a:prstGeom>
          <a:noFill/>
          <a:ln w="19050">
            <a:solidFill>
              <a:srgbClr val="A1BF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0850" y="1628775"/>
            <a:ext cx="20745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계획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00850" y="2076450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품질/보안 관리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00850" y="2343001"/>
            <a:ext cx="2074545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위험 관리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4710" y="1095375"/>
            <a:ext cx="179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SECTION.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019300" y="1571625"/>
            <a:ext cx="2714625" cy="1905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23506" y="1790700"/>
            <a:ext cx="230668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24332" y="2238375"/>
            <a:ext cx="269533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기본 정보, 추진 배경 및 목적,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업무/시스템 범위를 안내합니다.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54919"/>
            <a:ext cx="22932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정보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563588"/>
            <a:ext cx="90625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물류관리 시스템 구축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01713"/>
            <a:ext cx="9062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계약금액: 15억원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기간: 12개월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발주처: (주)글로벌물류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수행사: (주)테크솔루션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060353"/>
            <a:ext cx="22932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정보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58604"/>
            <a:ext cx="90625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물류관리 시스템 구축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96729"/>
            <a:ext cx="9062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계약금액: 15억원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기간: 12개월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발주처: (주)글로벌물류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수행사: (주)테크솔루션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271" y="1172617"/>
            <a:ext cx="13980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048173" y="1167557"/>
            <a:ext cx="73827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시스템 노후화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48173" y="1405682"/>
            <a:ext cx="73827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 효율 향상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99.5% 재고 정확도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 비용 절감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48173" y="1605707"/>
            <a:ext cx="73827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 효율 향상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99.5% 재고 정확도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 비용 절감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271" y="2427684"/>
            <a:ext cx="13980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48173" y="2427684"/>
            <a:ext cx="73827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시스템 노후화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48173" y="2665809"/>
            <a:ext cx="73827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 효율 향상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99.5% 재고 정확도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 비용 절감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48173" y="2865834"/>
            <a:ext cx="73827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 효율 향상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99.5% 재고 정확도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 비용 절감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271" y="3708350"/>
            <a:ext cx="13980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48173" y="3708350"/>
            <a:ext cx="73827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시스템 노후화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48173" y="3946475"/>
            <a:ext cx="73827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 효율 향상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99.5% 재고 정확도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 비용 절감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48173" y="4146500"/>
            <a:ext cx="73827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 효율 향상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99.5% 재고 정확도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 비용 절감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894" y="1321743"/>
            <a:ext cx="2484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범위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36455" y="1321743"/>
            <a:ext cx="2484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범위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8894" y="1748730"/>
            <a:ext cx="42445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894" y="1986855"/>
            <a:ext cx="42445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894" y="2186880"/>
            <a:ext cx="42445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894" y="2386905"/>
            <a:ext cx="42445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36455" y="1748730"/>
            <a:ext cx="42445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36455" y="1986855"/>
            <a:ext cx="42445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36455" y="2186880"/>
            <a:ext cx="42445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36455" y="2386905"/>
            <a:ext cx="42445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4710" y="1095375"/>
            <a:ext cx="179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SECTION.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019300" y="1571625"/>
            <a:ext cx="2714625" cy="1905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77319" y="1790700"/>
            <a:ext cx="328829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전략 및 방법론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579584" y="2238375"/>
            <a:ext cx="1984831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추진 전략, 수행 방법론,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아키텍처를 안내합니다.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187252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추진 전략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29703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"안정적 전환"과 "혁신적 기능 구현"의 균형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4375"/>
            <a:ext cx="266700" cy="3810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733425"/>
            <a:ext cx="1905000" cy="9525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47875" y="1666875"/>
            <a:ext cx="523875" cy="1905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0" y="1666875"/>
            <a:ext cx="523875" cy="1905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8500" y="1000125"/>
            <a:ext cx="1333500" cy="1333500"/>
          </a:xfrm>
          <a:prstGeom prst="roundRect">
            <a:avLst>
              <a:gd name="adj" fmla="val 68571"/>
            </a:avLst>
          </a:prstGeom>
          <a:solidFill>
            <a:srgbClr val="67B7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51806" y="1814513"/>
            <a:ext cx="2267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6388" y="2524125"/>
            <a:ext cx="2877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 전환 전략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0208" y="2857500"/>
            <a:ext cx="2710235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 Bang 방식이 아닌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모듈별 순차 전환으로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최소화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05250" y="1000125"/>
            <a:ext cx="1333500" cy="1333500"/>
          </a:xfrm>
          <a:prstGeom prst="roundRect">
            <a:avLst>
              <a:gd name="adj" fmla="val 68571"/>
            </a:avLst>
          </a:prstGeom>
          <a:solidFill>
            <a:srgbClr val="D0D5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58556" y="1814513"/>
            <a:ext cx="2267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33137" y="2524125"/>
            <a:ext cx="2877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애자일 기반 개발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16957" y="2857500"/>
            <a:ext cx="2710235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 단위 스프린트로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피드백과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유연한 대응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12000" y="1000125"/>
            <a:ext cx="1333500" cy="1333500"/>
          </a:xfrm>
          <a:prstGeom prst="roundRect">
            <a:avLst>
              <a:gd name="adj" fmla="val 68571"/>
            </a:avLst>
          </a:prstGeom>
          <a:solidFill>
            <a:srgbClr val="99C7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65305" y="1814513"/>
            <a:ext cx="2267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39887" y="2524125"/>
            <a:ext cx="2877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밀착 협업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23707" y="2857500"/>
            <a:ext cx="2710235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2회 현업 리뷰를 통한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정합성 확보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86325"/>
            <a:ext cx="615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  <p:pic>
        <p:nvPicPr>
          <p:cNvPr id="22" name="Image 0" descr="C:\Users\Public\Documents\ESTsoft\CreatorTemp\svg_450653d5_17679697977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650" y="1281113"/>
            <a:ext cx="457200" cy="457200"/>
          </a:xfrm>
          <a:prstGeom prst="rect">
            <a:avLst/>
          </a:prstGeom>
        </p:spPr>
      </p:pic>
      <p:pic>
        <p:nvPicPr>
          <p:cNvPr id="23" name="Image 1" descr="C:\Users\Public\Documents\ESTsoft\CreatorTemp\svg_91c4b39b_176796979776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81113"/>
            <a:ext cx="457200" cy="457200"/>
          </a:xfrm>
          <a:prstGeom prst="rect">
            <a:avLst/>
          </a:prstGeom>
        </p:spPr>
      </p:pic>
      <p:pic>
        <p:nvPicPr>
          <p:cNvPr id="24" name="Image 2" descr="C:\Users\Public\Documents\ESTsoft\CreatorTemp\svg_e22aacc3_176796979776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150" y="1281113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392" y="1867049"/>
            <a:ext cx="8548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066479" y="1887587"/>
            <a:ext cx="21020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66479" y="2125712"/>
            <a:ext cx="2102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66479" y="2325737"/>
            <a:ext cx="2102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580" y="3708350"/>
            <a:ext cx="8548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90357" y="3739307"/>
            <a:ext cx="21020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90357" y="3977432"/>
            <a:ext cx="2102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90357" y="4177457"/>
            <a:ext cx="2102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580" y="1867049"/>
            <a:ext cx="8548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90357" y="1887587"/>
            <a:ext cx="21020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90357" y="2125712"/>
            <a:ext cx="2102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90357" y="2325737"/>
            <a:ext cx="2102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2392" y="2761952"/>
            <a:ext cx="8548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66479" y="2792909"/>
            <a:ext cx="21020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66479" y="3031034"/>
            <a:ext cx="2102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66479" y="3231059"/>
            <a:ext cx="2102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580" y="2761952"/>
            <a:ext cx="8548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0357" y="2792909"/>
            <a:ext cx="21020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90357" y="3031034"/>
            <a:ext cx="2102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0357" y="3231059"/>
            <a:ext cx="2102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42392" y="3708350"/>
            <a:ext cx="8548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066479" y="3739307"/>
            <a:ext cx="21020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66479" y="3977432"/>
            <a:ext cx="2102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66479" y="4177457"/>
            <a:ext cx="21020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353" y="1373237"/>
            <a:ext cx="1991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605980" y="1373237"/>
            <a:ext cx="1991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90765" y="1373237"/>
            <a:ext cx="1991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66471" y="1373237"/>
            <a:ext cx="1991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9353" y="1769269"/>
            <a:ext cx="1991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9353" y="200739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353" y="2207419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353" y="240744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353" y="2607469"/>
            <a:ext cx="1991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353" y="284559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353" y="3045619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353" y="324564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353" y="3445669"/>
            <a:ext cx="1991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353" y="368379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353" y="3883819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353" y="408384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5980" y="1769269"/>
            <a:ext cx="1991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05980" y="200739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5980" y="2207419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5980" y="240744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05980" y="2607469"/>
            <a:ext cx="1991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05980" y="284559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05980" y="3045619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05980" y="324564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05980" y="3445669"/>
            <a:ext cx="1991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05980" y="368379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05980" y="3883819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05980" y="408384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90765" y="1769269"/>
            <a:ext cx="1991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90765" y="200739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90765" y="2207419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90765" y="240744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90765" y="2607469"/>
            <a:ext cx="1991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90765" y="284559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90765" y="3045619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90765" y="324564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90765" y="3445669"/>
            <a:ext cx="1991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90765" y="368379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90765" y="3883819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90765" y="408384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66471" y="1769269"/>
            <a:ext cx="1991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766471" y="200739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66471" y="2207419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66471" y="240744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66471" y="2607469"/>
            <a:ext cx="1991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766471" y="284559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66471" y="3045619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66471" y="324564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66471" y="3445669"/>
            <a:ext cx="1991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766471" y="368379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66471" y="3883819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766471" y="4083844"/>
            <a:ext cx="199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4710" y="1095375"/>
            <a:ext cx="179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SECTION.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019300" y="1571625"/>
            <a:ext cx="2714625" cy="1905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30588" y="1790700"/>
            <a:ext cx="207110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및 일정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31999" y="2238375"/>
            <a:ext cx="2280002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조직, 마스터 일정,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마일스톤을 안내합니다.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5875"/>
            <a:ext cx="2560290" cy="3086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5921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91780" y="1285875"/>
            <a:ext cx="2560290" cy="3086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5921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26361" y="1285875"/>
            <a:ext cx="2560290" cy="3086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35921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177429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마일스톤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19125"/>
            <a:ext cx="266700" cy="3810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200" y="1381125"/>
            <a:ext cx="7467600" cy="3810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7225" y="9525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4884" y="1062038"/>
            <a:ext cx="3018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4338" y="1562100"/>
            <a:ext cx="942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착수보고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4338" y="1771650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2025-01-10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00250"/>
            <a:ext cx="857250" cy="257175"/>
          </a:xfrm>
          <a:prstGeom prst="roundRect">
            <a:avLst>
              <a:gd name="adj" fmla="val 14815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8158" y="2057400"/>
            <a:ext cx="7753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수행계획서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31665" y="9525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09324" y="1062038"/>
            <a:ext cx="3018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88778" y="1562100"/>
            <a:ext cx="942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확정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88778" y="1771650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2025-03-31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31640" y="2000250"/>
            <a:ext cx="857250" cy="400050"/>
          </a:xfrm>
          <a:prstGeom prst="roundRect">
            <a:avLst>
              <a:gd name="adj" fmla="val 9524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72598" y="2057400"/>
            <a:ext cx="7753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요구사항정의서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06105" y="9525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83764" y="1062038"/>
            <a:ext cx="3018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3218" y="1562100"/>
            <a:ext cx="942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완료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3218" y="1771650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2025-05-31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06080" y="2000250"/>
            <a:ext cx="857250" cy="257175"/>
          </a:xfrm>
          <a:prstGeom prst="roundRect">
            <a:avLst>
              <a:gd name="adj" fmla="val 14815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47038" y="2057400"/>
            <a:ext cx="7753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설계서 일체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80546" y="9525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58204" y="1062038"/>
            <a:ext cx="3018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37658" y="1562100"/>
            <a:ext cx="942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완료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37658" y="1771650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2025-09-30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80521" y="2000250"/>
            <a:ext cx="857250" cy="257175"/>
          </a:xfrm>
          <a:prstGeom prst="roundRect">
            <a:avLst>
              <a:gd name="adj" fmla="val 14815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21478" y="2057400"/>
            <a:ext cx="7753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54986" y="9525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32644" y="1062038"/>
            <a:ext cx="3018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12098" y="1562100"/>
            <a:ext cx="942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완료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12098" y="1771650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2025-11-15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4961" y="2000250"/>
            <a:ext cx="857250" cy="257175"/>
          </a:xfrm>
          <a:prstGeom prst="roundRect">
            <a:avLst>
              <a:gd name="adj" fmla="val 14815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95918" y="2057400"/>
            <a:ext cx="7753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테스트결과서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29426" y="9525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107085" y="1062038"/>
            <a:ext cx="3018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86539" y="1562100"/>
            <a:ext cx="942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오픈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86539" y="1771650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2025-12-01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29401" y="2000250"/>
            <a:ext cx="857250" cy="257175"/>
          </a:xfrm>
          <a:prstGeom prst="roundRect">
            <a:avLst>
              <a:gd name="adj" fmla="val 14815"/>
            </a:avLst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870359" y="2057400"/>
            <a:ext cx="7753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오픈보고서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57600" y="448627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848100" y="4467225"/>
            <a:ext cx="2514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05300" y="448627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7B7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495800" y="4467225"/>
            <a:ext cx="3771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67300" y="448627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257800" y="4467225"/>
            <a:ext cx="2514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886325"/>
            <a:ext cx="1231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4710" y="1095375"/>
            <a:ext cx="179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SECTION.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019300" y="1571625"/>
            <a:ext cx="2714625" cy="19050"/>
          </a:xfrm>
          <a:prstGeom prst="rect">
            <a:avLst/>
          </a:prstGeom>
          <a:solidFill>
            <a:srgbClr val="A1BF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42370" y="1790700"/>
            <a:ext cx="292518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및 위험 관리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68124" y="2238375"/>
            <a:ext cx="2607752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보증 활동, 보안 관리,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요소 및 대응 방안을 안내합니다.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894" y="1321743"/>
            <a:ext cx="2484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품질/보안 관리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36455" y="1321743"/>
            <a:ext cx="2484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품질/보안 관리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8894" y="1748730"/>
            <a:ext cx="42445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894" y="1986855"/>
            <a:ext cx="42445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894" y="2186880"/>
            <a:ext cx="42445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894" y="2386905"/>
            <a:ext cx="42445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36455" y="1748730"/>
            <a:ext cx="42445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{{소제목}}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36455" y="1986855"/>
            <a:ext cx="42445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36455" y="2186880"/>
            <a:ext cx="42445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36455" y="2386905"/>
            <a:ext cx="42445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{{본문}}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121555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19125"/>
            <a:ext cx="266700" cy="3810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809625"/>
            <a:ext cx="8229600" cy="400050"/>
          </a:xfrm>
          <a:prstGeom prst="roundRect">
            <a:avLst>
              <a:gd name="adj" fmla="val 19048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923925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요소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49046" y="923925"/>
            <a:ext cx="9185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36521" y="923925"/>
            <a:ext cx="9185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발생확률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17010" y="923925"/>
            <a:ext cx="3272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방안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47057" y="923925"/>
            <a:ext cx="10091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209675"/>
            <a:ext cx="8229600" cy="1895475"/>
          </a:xfrm>
          <a:prstGeom prst="rect">
            <a:avLst/>
          </a:prstGeom>
          <a:solidFill>
            <a:srgbClr val="F8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585913"/>
            <a:ext cx="8229600" cy="0"/>
          </a:xfrm>
          <a:prstGeom prst="line">
            <a:avLst/>
          </a:prstGeom>
          <a:noFill/>
          <a:ln w="9525">
            <a:solidFill>
              <a:srgbClr val="E8EF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" y="1319213"/>
            <a:ext cx="7985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변경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65749" y="1319213"/>
            <a:ext cx="28176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변경관리위원회(CCB) 통해 통제, 영향도 분석 필수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66484" y="1319213"/>
            <a:ext cx="187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66912"/>
            <a:ext cx="8229600" cy="0"/>
          </a:xfrm>
          <a:prstGeom prst="line">
            <a:avLst/>
          </a:prstGeom>
          <a:noFill/>
          <a:ln w="9525">
            <a:solidFill>
              <a:srgbClr val="E8EF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" y="1700213"/>
            <a:ext cx="547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지연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65749" y="1700213"/>
            <a:ext cx="2391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진척관리, Critical Path 집중 모니터링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66484" y="1700213"/>
            <a:ext cx="187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47912"/>
            <a:ext cx="8229600" cy="0"/>
          </a:xfrm>
          <a:prstGeom prst="line">
            <a:avLst/>
          </a:prstGeom>
          <a:noFill/>
          <a:ln w="9525">
            <a:solidFill>
              <a:srgbClr val="E8EF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2081212"/>
            <a:ext cx="6728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난제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65749" y="2081212"/>
            <a:ext cx="15578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선행, 외부 전문가 자문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76307" y="2081212"/>
            <a:ext cx="1655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28912"/>
            <a:ext cx="8229600" cy="0"/>
          </a:xfrm>
          <a:prstGeom prst="line">
            <a:avLst/>
          </a:prstGeom>
          <a:noFill/>
          <a:ln w="9525">
            <a:solidFill>
              <a:srgbClr val="E8EF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2462213"/>
            <a:ext cx="547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이탈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65749" y="2462213"/>
            <a:ext cx="20529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 인력 풀 확보, 기술 문서화 강화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6484" y="2462213"/>
            <a:ext cx="187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3400" y="2843213"/>
            <a:ext cx="11757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마이그레이션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65749" y="2843213"/>
            <a:ext cx="1461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검증, 롤백 계획 수립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39546" y="2843213"/>
            <a:ext cx="2463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86325"/>
            <a:ext cx="1231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27888" y="4886325"/>
            <a:ext cx="1458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59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물류관리 시스템 구축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Claude Code PPT Generator</dc:creator>
  <cp:lastModifiedBy>Claude Code PPT Generator</cp:lastModifiedBy>
  <cp:revision>1</cp:revision>
  <dcterms:created xsi:type="dcterms:W3CDTF">2026-01-09T14:43:20Z</dcterms:created>
  <dcterms:modified xsi:type="dcterms:W3CDTF">2026-01-09T14:43:20Z</dcterms:modified>
</cp:coreProperties>
</file>