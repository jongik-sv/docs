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971550"/>
            <a:ext cx="5181600" cy="19050"/>
          </a:xfrm>
          <a:prstGeom prst="rect">
            <a:avLst/>
          </a:prstGeom>
          <a:solidFill>
            <a:srgbClr val="2252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951336" y="790575"/>
            <a:ext cx="3241328" cy="428625"/>
          </a:xfrm>
          <a:prstGeom prst="roundRect">
            <a:avLst>
              <a:gd name="adj" fmla="val 8889"/>
            </a:avLst>
          </a:prstGeom>
          <a:solidFill>
            <a:srgbClr val="2252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179936" y="885825"/>
            <a:ext cx="306254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(주)글로벌물류 차세대 시스템 구축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057400" y="1428750"/>
            <a:ext cx="5029200" cy="1585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160"/>
              </a:lnSpc>
              <a:buNone/>
            </a:pPr>
            <a:r>
              <a:rPr lang="en-US" sz="3200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스마트 물류관리 시스템 구축</a:t>
            </a:r>
            <a:endParaRPr lang="en-US" sz="3200" dirty="0"/>
          </a:p>
          <a:p>
            <a:pPr algn="ctr" indent="0" marL="0">
              <a:lnSpc>
                <a:spcPts val="4160"/>
              </a:lnSpc>
              <a:buNone/>
            </a:pPr>
            <a:r>
              <a:rPr lang="en-US" sz="3200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수행계획서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117973" y="2047875"/>
            <a:ext cx="4908054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859C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기반 물류 최적화 · 실시간 재고/배송 추적 · 클라우드 네이티브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38200" y="2647950"/>
            <a:ext cx="5181600" cy="19050"/>
          </a:xfrm>
          <a:prstGeom prst="rect">
            <a:avLst/>
          </a:prstGeom>
          <a:solidFill>
            <a:srgbClr val="2252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495800" y="2762250"/>
            <a:ext cx="152400" cy="0"/>
          </a:xfrm>
          <a:prstGeom prst="line">
            <a:avLst/>
          </a:prstGeom>
          <a:noFill/>
          <a:ln w="95250">
            <a:solidFill>
              <a:srgbClr val="15332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10100" y="2714625"/>
            <a:ext cx="0" cy="95250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3900" y="2714625"/>
            <a:ext cx="0" cy="95250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89275" y="2971800"/>
            <a:ext cx="2165449" cy="342900"/>
          </a:xfrm>
          <a:prstGeom prst="roundRect">
            <a:avLst>
              <a:gd name="adj" fmla="val 11111"/>
            </a:avLst>
          </a:prstGeom>
          <a:solidFill>
            <a:srgbClr val="2252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679775" y="3048000"/>
            <a:ext cx="196289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(주)테크솔루션 | 2025-01-06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852321" y="4886325"/>
            <a:ext cx="121129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59C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DOC-PRJ-2025-001-001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47127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CONTENTS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2074545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5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952625"/>
            <a:ext cx="1885950" cy="0"/>
          </a:xfrm>
          <a:prstGeom prst="line">
            <a:avLst/>
          </a:prstGeom>
          <a:noFill/>
          <a:ln w="19050">
            <a:solidFill>
              <a:srgbClr val="A1BF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28775"/>
            <a:ext cx="207454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개요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076450"/>
            <a:ext cx="2074545" cy="228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859C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프로젝트 정보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343001"/>
            <a:ext cx="2074545" cy="228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859C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배경 및 목적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609552"/>
            <a:ext cx="2074545" cy="228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859C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프로젝트 범위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571750" y="1143000"/>
            <a:ext cx="2074545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5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2571750" y="1952625"/>
            <a:ext cx="1885950" cy="0"/>
          </a:xfrm>
          <a:prstGeom prst="line">
            <a:avLst/>
          </a:prstGeom>
          <a:noFill/>
          <a:ln w="19050">
            <a:solidFill>
              <a:srgbClr val="A1BFB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71750" y="1628775"/>
            <a:ext cx="207454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추진 전략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571750" y="2076450"/>
            <a:ext cx="2074545" cy="228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859C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핵심 추진 전략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71750" y="2343001"/>
            <a:ext cx="2074545" cy="228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859C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수행 방법론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71750" y="2609552"/>
            <a:ext cx="2074545" cy="228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859C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기술 아키텍처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86300" y="1143000"/>
            <a:ext cx="2074545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5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4686300" y="1952625"/>
            <a:ext cx="1885950" cy="0"/>
          </a:xfrm>
          <a:prstGeom prst="line">
            <a:avLst/>
          </a:prstGeom>
          <a:noFill/>
          <a:ln w="19050">
            <a:solidFill>
              <a:srgbClr val="A1BFB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86300" y="1628775"/>
            <a:ext cx="207454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조직 및 일정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686300" y="2076450"/>
            <a:ext cx="2074545" cy="228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859C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프로젝트 조직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86300" y="2343001"/>
            <a:ext cx="2074545" cy="228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859C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마스터 일정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86300" y="2609552"/>
            <a:ext cx="2074545" cy="228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859C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주요 마일스톤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00850" y="1143000"/>
            <a:ext cx="2074545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5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6800850" y="1952625"/>
            <a:ext cx="1885950" cy="0"/>
          </a:xfrm>
          <a:prstGeom prst="line">
            <a:avLst/>
          </a:prstGeom>
          <a:noFill/>
          <a:ln w="19050">
            <a:solidFill>
              <a:srgbClr val="A1BFB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00850" y="1628775"/>
            <a:ext cx="207454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 계획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00850" y="2076450"/>
            <a:ext cx="2074545" cy="228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859C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품질/보안 관리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00850" y="2343001"/>
            <a:ext cx="2074545" cy="228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859C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위험 관리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627888" y="4886325"/>
            <a:ext cx="14581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59C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스마트 물류관리 시스템 구축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54710" y="1095375"/>
            <a:ext cx="179803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25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SECTION. 01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019300" y="1571625"/>
            <a:ext cx="2714625" cy="19050"/>
          </a:xfrm>
          <a:prstGeom prst="rect">
            <a:avLst/>
          </a:prstGeom>
          <a:solidFill>
            <a:srgbClr val="A1BFB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523506" y="1790700"/>
            <a:ext cx="2306687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개요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24332" y="2238375"/>
            <a:ext cx="2695337" cy="447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859C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기본 정보, 추진 배경 및 목적,</a:t>
            </a:r>
            <a:endParaRPr lang="en-US" sz="1100" dirty="0"/>
          </a:p>
          <a:p>
            <a:pPr algn="ctr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859C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업무/시스템 범위를 안내합니다.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27888" y="4886325"/>
            <a:ext cx="14581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59C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스마트 물류관리 시스템 구축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04800"/>
            <a:ext cx="1774299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정보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619125"/>
            <a:ext cx="266700" cy="38100"/>
          </a:xfrm>
          <a:prstGeom prst="rect">
            <a:avLst/>
          </a:prstGeom>
          <a:solidFill>
            <a:srgbClr val="1533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62000" y="638175"/>
            <a:ext cx="1905000" cy="9525"/>
          </a:xfrm>
          <a:prstGeom prst="rect">
            <a:avLst/>
          </a:prstGeom>
          <a:solidFill>
            <a:srgbClr val="A1BFB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904875"/>
            <a:ext cx="4000500" cy="733425"/>
          </a:xfrm>
          <a:prstGeom prst="rect">
            <a:avLst/>
          </a:prstGeom>
          <a:solidFill>
            <a:srgbClr val="F8FA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76250" y="904875"/>
            <a:ext cx="0" cy="733425"/>
          </a:xfrm>
          <a:prstGeom prst="line">
            <a:avLst/>
          </a:prstGeom>
          <a:noFill/>
          <a:ln w="38100">
            <a:solidFill>
              <a:srgbClr val="2252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7275"/>
            <a:ext cx="39395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59C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프로젝트명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" y="1266825"/>
            <a:ext cx="393954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스마트 물류관리 시스템 구축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86300" y="904875"/>
            <a:ext cx="4000500" cy="733425"/>
          </a:xfrm>
          <a:prstGeom prst="rect">
            <a:avLst/>
          </a:prstGeom>
          <a:solidFill>
            <a:srgbClr val="F8FA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705350" y="904875"/>
            <a:ext cx="0" cy="733425"/>
          </a:xfrm>
          <a:prstGeom prst="line">
            <a:avLst/>
          </a:prstGeom>
          <a:noFill/>
          <a:ln w="38100">
            <a:solidFill>
              <a:srgbClr val="2252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4900" y="1057275"/>
            <a:ext cx="39395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59C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문서번호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914900" y="1266825"/>
            <a:ext cx="393954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DOC-PRJ-2025-001-001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1828800"/>
            <a:ext cx="4000500" cy="942975"/>
          </a:xfrm>
          <a:prstGeom prst="rect">
            <a:avLst/>
          </a:prstGeom>
          <a:solidFill>
            <a:srgbClr val="F8FA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76250" y="1828800"/>
            <a:ext cx="0" cy="942975"/>
          </a:xfrm>
          <a:prstGeom prst="line">
            <a:avLst/>
          </a:prstGeom>
          <a:noFill/>
          <a:ln w="38100">
            <a:solidFill>
              <a:srgbClr val="2252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1981200"/>
            <a:ext cx="39395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59C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발주기관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85800" y="2190750"/>
            <a:ext cx="393954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(주)글로벌물류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" y="2447925"/>
            <a:ext cx="39395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59C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국내 Top 5 물류기업 · 연간 500만건+ 처리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86300" y="1828800"/>
            <a:ext cx="4000500" cy="942975"/>
          </a:xfrm>
          <a:prstGeom prst="rect">
            <a:avLst/>
          </a:prstGeom>
          <a:solidFill>
            <a:srgbClr val="F8FA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705350" y="1828800"/>
            <a:ext cx="0" cy="942975"/>
          </a:xfrm>
          <a:prstGeom prst="line">
            <a:avLst/>
          </a:prstGeom>
          <a:noFill/>
          <a:ln w="38100">
            <a:solidFill>
              <a:srgbClr val="2252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4900" y="1981200"/>
            <a:ext cx="39395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59C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수행사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914900" y="2190750"/>
            <a:ext cx="393954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(주)테크솔루션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14900" y="2447925"/>
            <a:ext cx="39395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59C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PM 김철수 차장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2962275"/>
            <a:ext cx="1943100" cy="723900"/>
          </a:xfrm>
          <a:prstGeom prst="roundRect">
            <a:avLst>
              <a:gd name="adj" fmla="val 5263"/>
            </a:avLst>
          </a:prstGeom>
          <a:solidFill>
            <a:srgbClr val="2252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48640" y="3095625"/>
            <a:ext cx="17602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계약금액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48640" y="3286125"/>
            <a:ext cx="17602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15억원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552700" y="2962275"/>
            <a:ext cx="1943100" cy="723900"/>
          </a:xfrm>
          <a:prstGeom prst="roundRect">
            <a:avLst>
              <a:gd name="adj" fmla="val 5263"/>
            </a:avLst>
          </a:prstGeom>
          <a:solidFill>
            <a:srgbClr val="2252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2644140" y="3095625"/>
            <a:ext cx="17602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계약기간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644140" y="3286125"/>
            <a:ext cx="17602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12개월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648200" y="2962275"/>
            <a:ext cx="1943100" cy="723900"/>
          </a:xfrm>
          <a:prstGeom prst="roundRect">
            <a:avLst>
              <a:gd name="adj" fmla="val 5263"/>
            </a:avLst>
          </a:prstGeom>
          <a:solidFill>
            <a:srgbClr val="2252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739640" y="3095625"/>
            <a:ext cx="17602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시작일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39640" y="3286125"/>
            <a:ext cx="17602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2025-01-06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743700" y="2962275"/>
            <a:ext cx="1943100" cy="723900"/>
          </a:xfrm>
          <a:prstGeom prst="roundRect">
            <a:avLst>
              <a:gd name="adj" fmla="val 5263"/>
            </a:avLst>
          </a:prstGeom>
          <a:solidFill>
            <a:srgbClr val="2252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835140" y="3095625"/>
            <a:ext cx="17602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종료일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835140" y="3286125"/>
            <a:ext cx="17602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2025-12-31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57200" y="4886325"/>
            <a:ext cx="615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59C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627888" y="4886325"/>
            <a:ext cx="14581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59C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스마트 물류관리 시스템 구축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04800"/>
            <a:ext cx="1774299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범위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619125"/>
            <a:ext cx="266700" cy="38100"/>
          </a:xfrm>
          <a:prstGeom prst="rect">
            <a:avLst/>
          </a:prstGeom>
          <a:solidFill>
            <a:srgbClr val="1533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62000" y="638175"/>
            <a:ext cx="1905000" cy="9525"/>
          </a:xfrm>
          <a:prstGeom prst="rect">
            <a:avLst/>
          </a:prstGeom>
          <a:solidFill>
            <a:srgbClr val="A1BFB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85725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2252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52500" y="928688"/>
            <a:ext cx="85080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범위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390650"/>
            <a:ext cx="4000500" cy="1609725"/>
          </a:xfrm>
          <a:prstGeom prst="roundRect">
            <a:avLst>
              <a:gd name="adj" fmla="val 4734"/>
            </a:avLst>
          </a:prstGeom>
          <a:solidFill>
            <a:srgbClr val="F8FA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09600" y="1776413"/>
            <a:ext cx="3695700" cy="0"/>
          </a:xfrm>
          <a:prstGeom prst="line">
            <a:avLst/>
          </a:prstGeom>
          <a:noFill/>
          <a:ln w="9525">
            <a:solidFill>
              <a:srgbClr val="E8EF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9600" y="1543050"/>
            <a:ext cx="40652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5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포함 범위 (4개 핵심 모듈)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42950" y="1895475"/>
            <a:ext cx="94248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입고/출고 관리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42950" y="2143125"/>
            <a:ext cx="6078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재고 관리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42950" y="2390775"/>
            <a:ext cx="6078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배송 추적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42950" y="2638425"/>
            <a:ext cx="74750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정산 시스템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114675"/>
            <a:ext cx="4000500" cy="571500"/>
          </a:xfrm>
          <a:prstGeom prst="rect">
            <a:avLst/>
          </a:prstGeom>
          <a:solidFill>
            <a:srgbClr val="FEF9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71488" y="3114675"/>
            <a:ext cx="0" cy="571500"/>
          </a:xfrm>
          <a:prstGeom prst="line">
            <a:avLst/>
          </a:prstGeom>
          <a:noFill/>
          <a:ln w="28575">
            <a:solidFill>
              <a:srgbClr val="CC99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8175" y="3228975"/>
            <a:ext cx="40338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제외 범위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38175" y="3419475"/>
            <a:ext cx="40338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회계, HR, 기존 ERP (인터페이스만 개발)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86300" y="85725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2252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181600" y="928688"/>
            <a:ext cx="10464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범위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686300" y="1390650"/>
            <a:ext cx="4000500" cy="1609725"/>
          </a:xfrm>
          <a:prstGeom prst="roundRect">
            <a:avLst>
              <a:gd name="adj" fmla="val 4734"/>
            </a:avLst>
          </a:prstGeom>
          <a:solidFill>
            <a:srgbClr val="F8FA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838700" y="1776413"/>
            <a:ext cx="3695700" cy="0"/>
          </a:xfrm>
          <a:prstGeom prst="line">
            <a:avLst/>
          </a:prstGeom>
          <a:noFill/>
          <a:ln w="9525">
            <a:solidFill>
              <a:srgbClr val="E8EF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38700" y="1543050"/>
            <a:ext cx="40652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5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 시스템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72050" y="1895475"/>
            <a:ext cx="232256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WMS - 창고관리 (입출고, 재고, 피킹)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72050" y="2143125"/>
            <a:ext cx="218423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TMS - 배송관리 (배차, 경로최적화)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72050" y="2390775"/>
            <a:ext cx="215771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OMS - 주문관리 (접수, 할당, 정산)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72050" y="2638425"/>
            <a:ext cx="167738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Dashboard - 통합모니터링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4886325"/>
            <a:ext cx="615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59C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627888" y="4886325"/>
            <a:ext cx="14581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59C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스마트 물류관리 시스템 구축</a:t>
            </a:r>
            <a:endParaRPr lang="en-US" sz="800" dirty="0"/>
          </a:p>
        </p:txBody>
      </p:sp>
      <p:pic>
        <p:nvPicPr>
          <p:cNvPr id="29" name="Image 0" descr="C:\Users\Public\Documents\ESTsoft\CreatorTemp\svg_f1bcff15_176796905977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2925" y="942975"/>
            <a:ext cx="209550" cy="209550"/>
          </a:xfrm>
          <a:prstGeom prst="rect">
            <a:avLst/>
          </a:prstGeom>
        </p:spPr>
      </p:pic>
      <p:pic>
        <p:nvPicPr>
          <p:cNvPr id="30" name="Image 1" descr="C:\Users\Public\Documents\ESTsoft\CreatorTemp\svg_6d0110a1_176796905978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2025" y="942975"/>
            <a:ext cx="209550" cy="2095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54710" y="1095375"/>
            <a:ext cx="179803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25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SECTION. 02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019300" y="1571625"/>
            <a:ext cx="2714625" cy="19050"/>
          </a:xfrm>
          <a:prstGeom prst="rect">
            <a:avLst/>
          </a:prstGeom>
          <a:solidFill>
            <a:srgbClr val="A1BFB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077319" y="1790700"/>
            <a:ext cx="3288298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추진 전략 및 방법론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579584" y="2238375"/>
            <a:ext cx="1984831" cy="447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859C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추진 전략, 수행 방법론,</a:t>
            </a:r>
            <a:endParaRPr lang="en-US" sz="1100" dirty="0"/>
          </a:p>
          <a:p>
            <a:pPr algn="ctr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859C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 아키텍처를 안내합니다.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27888" y="4886325"/>
            <a:ext cx="14581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59C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스마트 물류관리 시스템 구축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04800"/>
            <a:ext cx="1872526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추진 전략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571500"/>
            <a:ext cx="297037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59C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"안정적 전환"과 "혁신적 기능 구현"의 균형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14375"/>
            <a:ext cx="266700" cy="38100"/>
          </a:xfrm>
          <a:prstGeom prst="rect">
            <a:avLst/>
          </a:prstGeom>
          <a:solidFill>
            <a:srgbClr val="1533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733425"/>
            <a:ext cx="1905000" cy="9525"/>
          </a:xfrm>
          <a:prstGeom prst="rect">
            <a:avLst/>
          </a:prstGeom>
          <a:solidFill>
            <a:srgbClr val="A1BFB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047875" y="1666875"/>
            <a:ext cx="523875" cy="19050"/>
          </a:xfrm>
          <a:prstGeom prst="rect">
            <a:avLst/>
          </a:prstGeom>
          <a:solidFill>
            <a:srgbClr val="A1BFB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191000" y="1666875"/>
            <a:ext cx="523875" cy="19050"/>
          </a:xfrm>
          <a:prstGeom prst="rect">
            <a:avLst/>
          </a:prstGeom>
          <a:solidFill>
            <a:srgbClr val="A1BFB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098500" y="1000125"/>
            <a:ext cx="1333500" cy="1333500"/>
          </a:xfrm>
          <a:prstGeom prst="roundRect">
            <a:avLst>
              <a:gd name="adj" fmla="val 68571"/>
            </a:avLst>
          </a:prstGeom>
          <a:solidFill>
            <a:srgbClr val="67B7B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651806" y="1814513"/>
            <a:ext cx="2267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6388" y="2524125"/>
            <a:ext cx="287787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단계적 전환 전략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0208" y="2857500"/>
            <a:ext cx="2710235" cy="609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Big Bang 방식이 아닌</a:t>
            </a:r>
            <a:endParaRPr lang="en-US" sz="10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모듈별 순차 전환으로</a:t>
            </a:r>
            <a:endParaRPr lang="en-US" sz="10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리스크 최소화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905250" y="1000125"/>
            <a:ext cx="1333500" cy="1333500"/>
          </a:xfrm>
          <a:prstGeom prst="roundRect">
            <a:avLst>
              <a:gd name="adj" fmla="val 68571"/>
            </a:avLst>
          </a:prstGeom>
          <a:solidFill>
            <a:srgbClr val="D0D5A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458556" y="1814513"/>
            <a:ext cx="2267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133137" y="2524125"/>
            <a:ext cx="287787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애자일 기반 개발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16957" y="2857500"/>
            <a:ext cx="2710235" cy="609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2주 단위 스프린트로</a:t>
            </a:r>
            <a:endParaRPr lang="en-US" sz="10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빠른 피드백과</a:t>
            </a:r>
            <a:endParaRPr lang="en-US" sz="10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유연한 대응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712000" y="1000125"/>
            <a:ext cx="1333500" cy="1333500"/>
          </a:xfrm>
          <a:prstGeom prst="roundRect">
            <a:avLst>
              <a:gd name="adj" fmla="val 68571"/>
            </a:avLst>
          </a:prstGeom>
          <a:solidFill>
            <a:srgbClr val="99C7B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265305" y="1814513"/>
            <a:ext cx="2267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39887" y="2524125"/>
            <a:ext cx="287787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현업 밀착 협업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023707" y="2857500"/>
            <a:ext cx="2710235" cy="406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 2회 현업 리뷰를 통한</a:t>
            </a:r>
            <a:endParaRPr lang="en-US" sz="10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요구사항 정합성 확보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886325"/>
            <a:ext cx="615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59C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627888" y="4886325"/>
            <a:ext cx="14581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59C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스마트 물류관리 시스템 구축</a:t>
            </a:r>
            <a:endParaRPr lang="en-US" sz="800" dirty="0"/>
          </a:p>
        </p:txBody>
      </p:sp>
      <p:pic>
        <p:nvPicPr>
          <p:cNvPr id="22" name="Image 0" descr="C:\Users\Public\Documents\ESTsoft\CreatorTemp\svg_450653d5_176796906047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6650" y="1281113"/>
            <a:ext cx="457200" cy="457200"/>
          </a:xfrm>
          <a:prstGeom prst="rect">
            <a:avLst/>
          </a:prstGeom>
        </p:spPr>
      </p:pic>
      <p:pic>
        <p:nvPicPr>
          <p:cNvPr id="23" name="Image 1" descr="C:\Users\Public\Documents\ESTsoft\CreatorTemp\svg_91c4b39b_176796906047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281113"/>
            <a:ext cx="457200" cy="457200"/>
          </a:xfrm>
          <a:prstGeom prst="rect">
            <a:avLst/>
          </a:prstGeom>
        </p:spPr>
      </p:pic>
      <p:pic>
        <p:nvPicPr>
          <p:cNvPr id="24" name="Image 2" descr="C:\Users\Public\Documents\ESTsoft\CreatorTemp\svg_e22aacc3_176796906047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150" y="1281113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04800"/>
            <a:ext cx="1495008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 방법론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571500"/>
            <a:ext cx="236693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59C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Agile-Waterfall 하이브리드 방법론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14375"/>
            <a:ext cx="266700" cy="38100"/>
          </a:xfrm>
          <a:prstGeom prst="rect">
            <a:avLst/>
          </a:prstGeom>
          <a:solidFill>
            <a:srgbClr val="1533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952500"/>
            <a:ext cx="2638127" cy="1478161"/>
          </a:xfrm>
          <a:prstGeom prst="roundRect">
            <a:avLst>
              <a:gd name="adj" fmla="val 5155"/>
            </a:avLst>
          </a:prstGeom>
          <a:solidFill>
            <a:srgbClr val="F8FA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76250" y="952500"/>
            <a:ext cx="0" cy="1478161"/>
          </a:xfrm>
          <a:prstGeom prst="line">
            <a:avLst/>
          </a:prstGeom>
          <a:noFill/>
          <a:ln w="38100">
            <a:solidFill>
              <a:srgbClr val="2252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7700" y="1104900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2252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11696" y="1157288"/>
            <a:ext cx="1943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66800" y="1147763"/>
            <a:ext cx="36327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착수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7700" y="1524000"/>
            <a:ext cx="616744" cy="190500"/>
          </a:xfrm>
          <a:prstGeom prst="roundRect">
            <a:avLst>
              <a:gd name="adj" fmla="val 50000"/>
            </a:avLst>
          </a:prstGeom>
          <a:solidFill>
            <a:srgbClr val="E8EF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23900" y="1543050"/>
            <a:ext cx="5107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25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4주 (1월)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7700" y="1790700"/>
            <a:ext cx="252475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킥오프, 환경구축, 표준정의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7700" y="2054423"/>
            <a:ext cx="2295227" cy="0"/>
          </a:xfrm>
          <a:prstGeom prst="line">
            <a:avLst/>
          </a:prstGeom>
          <a:noFill/>
          <a:ln w="9525">
            <a:solidFill>
              <a:srgbClr val="A1BFB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7700" y="2135386"/>
            <a:ext cx="25247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7937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산출물: 수행계획서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247727" y="952500"/>
            <a:ext cx="2638127" cy="1478161"/>
          </a:xfrm>
          <a:prstGeom prst="roundRect">
            <a:avLst>
              <a:gd name="adj" fmla="val 5155"/>
            </a:avLst>
          </a:prstGeom>
          <a:solidFill>
            <a:srgbClr val="F8FA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3266777" y="952500"/>
            <a:ext cx="0" cy="1478161"/>
          </a:xfrm>
          <a:prstGeom prst="line">
            <a:avLst/>
          </a:prstGeom>
          <a:noFill/>
          <a:ln w="38100">
            <a:solidFill>
              <a:srgbClr val="2252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38227" y="1104900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2252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502223" y="1157288"/>
            <a:ext cx="1943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57327" y="1147763"/>
            <a:ext cx="36327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38227" y="1524000"/>
            <a:ext cx="726579" cy="190500"/>
          </a:xfrm>
          <a:prstGeom prst="roundRect">
            <a:avLst>
              <a:gd name="adj" fmla="val 50000"/>
            </a:avLst>
          </a:prstGeom>
          <a:solidFill>
            <a:srgbClr val="E8EF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514427" y="1543050"/>
            <a:ext cx="6315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25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8주 (2-3월)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438227" y="1790700"/>
            <a:ext cx="252475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요구사항 정의, 현행 분석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438227" y="2054423"/>
            <a:ext cx="2295227" cy="0"/>
          </a:xfrm>
          <a:prstGeom prst="line">
            <a:avLst/>
          </a:prstGeom>
          <a:noFill/>
          <a:ln w="9525">
            <a:solidFill>
              <a:srgbClr val="A1BFB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38227" y="2135386"/>
            <a:ext cx="25247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7937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산출물: 요구사항정의서, AS-IS 분석서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038255" y="952500"/>
            <a:ext cx="2638127" cy="1478161"/>
          </a:xfrm>
          <a:prstGeom prst="roundRect">
            <a:avLst>
              <a:gd name="adj" fmla="val 5155"/>
            </a:avLst>
          </a:prstGeom>
          <a:solidFill>
            <a:srgbClr val="F8FA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6057305" y="952500"/>
            <a:ext cx="0" cy="1478161"/>
          </a:xfrm>
          <a:prstGeom prst="line">
            <a:avLst/>
          </a:prstGeom>
          <a:noFill/>
          <a:ln w="38100">
            <a:solidFill>
              <a:srgbClr val="22523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28755" y="1104900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2252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292751" y="1157288"/>
            <a:ext cx="1943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647855" y="1147763"/>
            <a:ext cx="36327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228755" y="1524000"/>
            <a:ext cx="726579" cy="190500"/>
          </a:xfrm>
          <a:prstGeom prst="roundRect">
            <a:avLst>
              <a:gd name="adj" fmla="val 50000"/>
            </a:avLst>
          </a:prstGeom>
          <a:solidFill>
            <a:srgbClr val="E8EF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304955" y="1543050"/>
            <a:ext cx="6315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25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8주 (4-5월)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28755" y="1790700"/>
            <a:ext cx="252475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아키텍처/UI/DB 설계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228755" y="2054423"/>
            <a:ext cx="2295227" cy="0"/>
          </a:xfrm>
          <a:prstGeom prst="line">
            <a:avLst/>
          </a:prstGeom>
          <a:noFill/>
          <a:ln w="9525">
            <a:solidFill>
              <a:srgbClr val="A1BFB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28755" y="2135386"/>
            <a:ext cx="25247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7937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산출물: 설계서 일체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57200" y="2583061"/>
            <a:ext cx="2638127" cy="1478161"/>
          </a:xfrm>
          <a:prstGeom prst="roundRect">
            <a:avLst>
              <a:gd name="adj" fmla="val 5155"/>
            </a:avLst>
          </a:prstGeom>
          <a:solidFill>
            <a:srgbClr val="F8FA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476250" y="2583061"/>
            <a:ext cx="0" cy="1478161"/>
          </a:xfrm>
          <a:prstGeom prst="line">
            <a:avLst/>
          </a:prstGeom>
          <a:noFill/>
          <a:ln w="38100">
            <a:solidFill>
              <a:srgbClr val="22523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7700" y="2735461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2252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711696" y="2787848"/>
            <a:ext cx="1943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066800" y="2778323"/>
            <a:ext cx="36327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47700" y="3154561"/>
            <a:ext cx="789533" cy="190500"/>
          </a:xfrm>
          <a:prstGeom prst="roundRect">
            <a:avLst>
              <a:gd name="adj" fmla="val 50000"/>
            </a:avLst>
          </a:prstGeom>
          <a:solidFill>
            <a:srgbClr val="E8EF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723900" y="3173611"/>
            <a:ext cx="70084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25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16주 (6-9월)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47700" y="3421261"/>
            <a:ext cx="252475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구현, 단위 테스트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47700" y="3684984"/>
            <a:ext cx="2295227" cy="0"/>
          </a:xfrm>
          <a:prstGeom prst="line">
            <a:avLst/>
          </a:prstGeom>
          <a:noFill/>
          <a:ln w="9525">
            <a:solidFill>
              <a:srgbClr val="A1BFB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7700" y="3765947"/>
            <a:ext cx="25247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7937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산출물: 소스코드, 단위테스트결과서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247727" y="2583061"/>
            <a:ext cx="2638127" cy="1478161"/>
          </a:xfrm>
          <a:prstGeom prst="roundRect">
            <a:avLst>
              <a:gd name="adj" fmla="val 5155"/>
            </a:avLst>
          </a:prstGeom>
          <a:solidFill>
            <a:srgbClr val="F8FA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Shape 44"/>
          <p:cNvSpPr/>
          <p:nvPr/>
        </p:nvSpPr>
        <p:spPr>
          <a:xfrm>
            <a:off x="3266777" y="2583061"/>
            <a:ext cx="0" cy="1478161"/>
          </a:xfrm>
          <a:prstGeom prst="line">
            <a:avLst/>
          </a:prstGeom>
          <a:noFill/>
          <a:ln w="38100">
            <a:solidFill>
              <a:srgbClr val="22523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38227" y="2735461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2252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3502223" y="2787848"/>
            <a:ext cx="1943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3857327" y="2778323"/>
            <a:ext cx="54483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테스트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3438227" y="3154561"/>
            <a:ext cx="852488" cy="190500"/>
          </a:xfrm>
          <a:prstGeom prst="roundRect">
            <a:avLst>
              <a:gd name="adj" fmla="val 50000"/>
            </a:avLst>
          </a:prstGeom>
          <a:solidFill>
            <a:srgbClr val="E8EF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3514427" y="3173611"/>
            <a:ext cx="77009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25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6주 (10-11월)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3438227" y="3421261"/>
            <a:ext cx="252475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통합/성능/인수 테스트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438227" y="3684984"/>
            <a:ext cx="2295227" cy="0"/>
          </a:xfrm>
          <a:prstGeom prst="line">
            <a:avLst/>
          </a:prstGeom>
          <a:noFill/>
          <a:ln w="9525">
            <a:solidFill>
              <a:srgbClr val="A1BFB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438227" y="3765947"/>
            <a:ext cx="25247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7937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산출물: 테스트결과서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038255" y="2583061"/>
            <a:ext cx="2638127" cy="1478161"/>
          </a:xfrm>
          <a:prstGeom prst="roundRect">
            <a:avLst>
              <a:gd name="adj" fmla="val 5155"/>
            </a:avLst>
          </a:prstGeom>
          <a:solidFill>
            <a:srgbClr val="F8FA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Shape 54"/>
          <p:cNvSpPr/>
          <p:nvPr/>
        </p:nvSpPr>
        <p:spPr>
          <a:xfrm>
            <a:off x="6057305" y="2583061"/>
            <a:ext cx="0" cy="1478161"/>
          </a:xfrm>
          <a:prstGeom prst="line">
            <a:avLst/>
          </a:prstGeom>
          <a:noFill/>
          <a:ln w="38100">
            <a:solidFill>
              <a:srgbClr val="22523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228755" y="2735461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2252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6292751" y="2787848"/>
            <a:ext cx="1943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6647855" y="2778323"/>
            <a:ext cx="98766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이행/안정화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6228755" y="3154561"/>
            <a:ext cx="852488" cy="190500"/>
          </a:xfrm>
          <a:prstGeom prst="roundRect">
            <a:avLst>
              <a:gd name="adj" fmla="val 50000"/>
            </a:avLst>
          </a:prstGeom>
          <a:solidFill>
            <a:srgbClr val="E8EF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6304955" y="3173611"/>
            <a:ext cx="77009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25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6주 (11-12월)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228755" y="3421261"/>
            <a:ext cx="252475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오픈, 운영이관, 안정화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228755" y="3684984"/>
            <a:ext cx="2295227" cy="0"/>
          </a:xfrm>
          <a:prstGeom prst="line">
            <a:avLst/>
          </a:prstGeom>
          <a:noFill/>
          <a:ln w="9525">
            <a:solidFill>
              <a:srgbClr val="A1BFB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228755" y="3765947"/>
            <a:ext cx="25247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7937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산출물: 이행계획서, 완료보고서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457200" y="4886325"/>
            <a:ext cx="615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59C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7627888" y="4886325"/>
            <a:ext cx="14581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59C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스마트 물류관리 시스템 구축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54710" y="1095375"/>
            <a:ext cx="179803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25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SECTION. 03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019300" y="1571625"/>
            <a:ext cx="2714625" cy="19050"/>
          </a:xfrm>
          <a:prstGeom prst="rect">
            <a:avLst/>
          </a:prstGeom>
          <a:solidFill>
            <a:srgbClr val="A1BFB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630588" y="1790700"/>
            <a:ext cx="2071107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조직 및 일정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431999" y="2238375"/>
            <a:ext cx="2280002" cy="447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859C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조직, 마스터 일정,</a:t>
            </a:r>
            <a:endParaRPr lang="en-US" sz="1100" dirty="0"/>
          </a:p>
          <a:p>
            <a:pPr algn="ctr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859C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마일스톤을 안내합니다.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27888" y="4886325"/>
            <a:ext cx="14581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59C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스마트 물류관리 시스템 구축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54710" y="1095375"/>
            <a:ext cx="179803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25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SECTION. 04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019300" y="1571625"/>
            <a:ext cx="2714625" cy="19050"/>
          </a:xfrm>
          <a:prstGeom prst="rect">
            <a:avLst/>
          </a:prstGeom>
          <a:solidFill>
            <a:srgbClr val="A1BFB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242370" y="1790700"/>
            <a:ext cx="2925187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 및 위험 관리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68124" y="2238375"/>
            <a:ext cx="2607752" cy="447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859C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 보증 활동, 보안 관리,</a:t>
            </a:r>
            <a:endParaRPr lang="en-US" sz="1100" dirty="0"/>
          </a:p>
          <a:p>
            <a:pPr algn="ctr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859C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 요소 및 대응 방안을 안내합니다.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27888" y="4886325"/>
            <a:ext cx="14581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59C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스마트 물류관리 시스템 구축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04800"/>
            <a:ext cx="1215554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 관리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619125"/>
            <a:ext cx="266700" cy="38100"/>
          </a:xfrm>
          <a:prstGeom prst="rect">
            <a:avLst/>
          </a:prstGeom>
          <a:solidFill>
            <a:srgbClr val="1533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809625"/>
            <a:ext cx="8229600" cy="400050"/>
          </a:xfrm>
          <a:prstGeom prst="roundRect">
            <a:avLst>
              <a:gd name="adj" fmla="val 19048"/>
            </a:avLst>
          </a:prstGeom>
          <a:solidFill>
            <a:srgbClr val="2252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38150" y="923925"/>
            <a:ext cx="2095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 요소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549046" y="923925"/>
            <a:ext cx="91858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영향도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536521" y="923925"/>
            <a:ext cx="91858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발생확률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417010" y="923925"/>
            <a:ext cx="327225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대응 방안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647057" y="923925"/>
            <a:ext cx="100911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209675"/>
            <a:ext cx="8229600" cy="1895475"/>
          </a:xfrm>
          <a:prstGeom prst="rect">
            <a:avLst/>
          </a:prstGeom>
          <a:solidFill>
            <a:srgbClr val="F8FA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57200" y="1585913"/>
            <a:ext cx="8229600" cy="0"/>
          </a:xfrm>
          <a:prstGeom prst="line">
            <a:avLst/>
          </a:prstGeom>
          <a:noFill/>
          <a:ln w="9525">
            <a:solidFill>
              <a:srgbClr val="E8EF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3400" y="1319213"/>
            <a:ext cx="79858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요구사항 변경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65749" y="1319213"/>
            <a:ext cx="28176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변경관리위원회(CCB) 통해 통제, 영향도 분석 필수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66484" y="1319213"/>
            <a:ext cx="18712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PM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1966912"/>
            <a:ext cx="8229600" cy="0"/>
          </a:xfrm>
          <a:prstGeom prst="line">
            <a:avLst/>
          </a:prstGeom>
          <a:noFill/>
          <a:ln w="9525">
            <a:solidFill>
              <a:srgbClr val="E8EF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3400" y="1700213"/>
            <a:ext cx="54712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일정 지연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65749" y="1700213"/>
            <a:ext cx="239148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주간 진척관리, Critical Path 집중 모니터링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066484" y="1700213"/>
            <a:ext cx="18712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PM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2347912"/>
            <a:ext cx="8229600" cy="0"/>
          </a:xfrm>
          <a:prstGeom prst="line">
            <a:avLst/>
          </a:prstGeom>
          <a:noFill/>
          <a:ln w="9525">
            <a:solidFill>
              <a:srgbClr val="E8EF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3400" y="2081212"/>
            <a:ext cx="67285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기술적 난제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65749" y="2081212"/>
            <a:ext cx="15578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PoC 선행, 외부 전문가 자문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076307" y="2081212"/>
            <a:ext cx="16551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AA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2728912"/>
            <a:ext cx="8229600" cy="0"/>
          </a:xfrm>
          <a:prstGeom prst="line">
            <a:avLst/>
          </a:prstGeom>
          <a:noFill/>
          <a:ln w="9525">
            <a:solidFill>
              <a:srgbClr val="E8EF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3400" y="2462213"/>
            <a:ext cx="54712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인력 이탈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65749" y="2462213"/>
            <a:ext cx="205293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대체 인력 풀 확보, 기술 문서화 강화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066484" y="2462213"/>
            <a:ext cx="18712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33400" y="2843213"/>
            <a:ext cx="117577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마이그레이션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65749" y="2843213"/>
            <a:ext cx="146161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사전 검증, 롤백 계획 수립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039546" y="2843213"/>
            <a:ext cx="24638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DBA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4886325"/>
            <a:ext cx="1231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59C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627888" y="4886325"/>
            <a:ext cx="14581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59C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스마트 물류관리 시스템 구축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Generated Presentation</dc:title>
  <dc:subject>PptxGenJS Presentation</dc:subject>
  <dc:creator>Claude Code PPT Generator</dc:creator>
  <cp:lastModifiedBy>Claude Code PPT Generator</cp:lastModifiedBy>
  <cp:revision>1</cp:revision>
  <dcterms:created xsi:type="dcterms:W3CDTF">2026-01-09T14:31:03Z</dcterms:created>
  <dcterms:modified xsi:type="dcterms:W3CDTF">2026-01-09T14:31:03Z</dcterms:modified>
</cp:coreProperties>
</file>