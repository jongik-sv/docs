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622250"/>
            <a:ext cx="4572000" cy="406301"/>
          </a:xfrm>
          <a:prstGeom prst="roundRect">
            <a:avLst>
              <a:gd name="adj" fmla="val 6251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7492" y="706338"/>
            <a:ext cx="16819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수행계획서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435001"/>
            <a:ext cx="74615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07592" y="2311301"/>
            <a:ext cx="6528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글로벌물류 차세대 물류관리 시스템 구축 프로젝트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187601"/>
            <a:ext cx="7315200" cy="25301"/>
          </a:xfrm>
          <a:prstGeom prst="rect">
            <a:avLst/>
          </a:prstGeom>
          <a:solidFill>
            <a:srgbClr val="191A1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0280" y="3670102"/>
            <a:ext cx="46634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2025-01-03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3943052"/>
            <a:ext cx="4663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| PM 김철수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6301"/>
            <a:ext cx="199486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2601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87401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12727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정보, 배경/목적, 범위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193727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98527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23852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전략, 방법론, 기술 스택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04852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409652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조직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34978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R&amp;R, 투입 인력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89250" y="1282601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89250" y="1587401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일정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9250" y="1812727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일정, 마일스톤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89250" y="2193727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89250" y="2498527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관리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89250" y="2723852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산출물 목록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9250" y="3104852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89250" y="3409652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및 보안 관리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89250" y="3634978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보증, 보안 계획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1301" y="1282601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1301" y="1587401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및 기술이전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1301" y="1812727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훈련, 기술이전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1301" y="2193727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1301" y="2498527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및 변경 관리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1301" y="2723852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요소, 변경 통제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1301" y="3104852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1301" y="3409652"/>
            <a:ext cx="2616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의사소통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1301" y="3634978"/>
            <a:ext cx="261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보고/회의 체계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9301"/>
            <a:ext cx="233172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503563" y="1955750"/>
            <a:ext cx="0" cy="828675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1276" y="1955750"/>
            <a:ext cx="51297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1276" y="2584400"/>
            <a:ext cx="5129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기본 정보, 추진 배경 및 목적, 범위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프로젝트 정보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84114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4001"/>
            <a:ext cx="1955750" cy="4253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180951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5350" y="1180951"/>
            <a:ext cx="6088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18990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8877"/>
            <a:ext cx="1955750" cy="4253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1615827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5350" y="1615827"/>
            <a:ext cx="6088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53866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3752"/>
            <a:ext cx="1955750" cy="4253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2050703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5350" y="2050703"/>
            <a:ext cx="6088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741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8628"/>
            <a:ext cx="1955750" cy="4253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" y="2485579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5350" y="2485579"/>
            <a:ext cx="6088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15억원 (VAT 별도)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3617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93504"/>
            <a:ext cx="1955750" cy="4253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2920454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5350" y="2920454"/>
            <a:ext cx="6088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2025-01-06 ~ 2025-12-31 (총 12개월)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849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28380"/>
            <a:ext cx="1955750" cy="4253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600" y="3355330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문서번호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5350" y="3355330"/>
            <a:ext cx="6088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DOC-PRJ-2025-001-001 (v1.0)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추진 배경 및 목적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28700"/>
            <a:ext cx="4000500" cy="1558677"/>
          </a:xfrm>
          <a:prstGeom prst="roundRect">
            <a:avLst>
              <a:gd name="adj" fmla="val 488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047750"/>
            <a:ext cx="4000500" cy="0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257300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및 문제점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7700" y="1584275"/>
            <a:ext cx="3619500" cy="7618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 이상 운영된 레거시 시스템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저하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파악 불가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시스템 연동 한계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86300" y="1028700"/>
            <a:ext cx="4000500" cy="1558677"/>
          </a:xfrm>
          <a:prstGeom prst="roundRect">
            <a:avLst>
              <a:gd name="adj" fmla="val 488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1047750"/>
            <a:ext cx="4000500" cy="0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800" y="1257300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목표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6800" y="1584275"/>
            <a:ext cx="3619500" cy="7618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물류 최적화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재고/배송 추적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기반 확장성 확보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구조로 유연한 확장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06477"/>
            <a:ext cx="2641550" cy="873026"/>
          </a:xfrm>
          <a:prstGeom prst="roundRect">
            <a:avLst>
              <a:gd name="adj" fmla="val 872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6232" y="3158877"/>
            <a:ext cx="23834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6232" y="3574703"/>
            <a:ext cx="23834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처리 효율 향상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51150" y="3006477"/>
            <a:ext cx="2641550" cy="873026"/>
          </a:xfrm>
          <a:prstGeom prst="roundRect">
            <a:avLst>
              <a:gd name="adj" fmla="val 872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0183" y="3158877"/>
            <a:ext cx="23834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0183" y="3574703"/>
            <a:ext cx="23834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 달성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45101" y="3006477"/>
            <a:ext cx="2641550" cy="873026"/>
          </a:xfrm>
          <a:prstGeom prst="roundRect">
            <a:avLst>
              <a:gd name="adj" fmla="val 872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4133" y="3158877"/>
            <a:ext cx="23834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74133" y="3574703"/>
            <a:ext cx="23834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 절감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프로젝트 범위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90600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범위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92126"/>
            <a:ext cx="4038600" cy="888802"/>
          </a:xfrm>
          <a:prstGeom prst="roundRect">
            <a:avLst>
              <a:gd name="adj" fmla="val 571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292126"/>
            <a:ext cx="0" cy="888802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1444526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범위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7700" y="1692176"/>
            <a:ext cx="37696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입고/출고 관리, 재고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7700" y="1860352"/>
            <a:ext cx="37696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추적, 정산 시스템 (4개 핵심 모듈)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200" y="1292126"/>
            <a:ext cx="4038600" cy="888802"/>
          </a:xfrm>
          <a:prstGeom prst="roundRect">
            <a:avLst>
              <a:gd name="adj" fmla="val 571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0" y="1292126"/>
            <a:ext cx="0" cy="888802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8700" y="1444526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 범위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8700" y="1692176"/>
            <a:ext cx="37696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 시스템, HR 시스템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38700" y="1860352"/>
            <a:ext cx="37696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ERP 시스템 (인터페이스만 개발)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371427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범위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72953"/>
            <a:ext cx="1962150" cy="863352"/>
          </a:xfrm>
          <a:prstGeom prst="roundRect">
            <a:avLst>
              <a:gd name="adj" fmla="val 882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1109" y="2825353"/>
            <a:ext cx="17943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1109" y="3047554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1109" y="3215729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입출고, 재고, 피킹/패킹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46300" y="2672953"/>
            <a:ext cx="1962150" cy="863352"/>
          </a:xfrm>
          <a:prstGeom prst="roundRect">
            <a:avLst>
              <a:gd name="adj" fmla="val 882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30210" y="2825353"/>
            <a:ext cx="17943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30210" y="3047554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30210" y="3215729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배차, 경로최적화, 추적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5401" y="2672953"/>
            <a:ext cx="1962150" cy="863352"/>
          </a:xfrm>
          <a:prstGeom prst="roundRect">
            <a:avLst>
              <a:gd name="adj" fmla="val 882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19310" y="2825353"/>
            <a:ext cx="17943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19310" y="3047554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9310" y="3215729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주문접수, 할당, 정산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24501" y="2672953"/>
            <a:ext cx="1962150" cy="863352"/>
          </a:xfrm>
          <a:prstGeom prst="roundRect">
            <a:avLst>
              <a:gd name="adj" fmla="val 882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08410" y="2825353"/>
            <a:ext cx="17943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08410" y="3047554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08410" y="3215729"/>
            <a:ext cx="1794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현황, KPI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9301"/>
            <a:ext cx="233172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503563" y="1955750"/>
            <a:ext cx="0" cy="828675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1276" y="1955750"/>
            <a:ext cx="51297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1276" y="2584400"/>
            <a:ext cx="5129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전략, 수행 방법론, 기술 아키텍처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핵심 전략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24000" y="2451050"/>
            <a:ext cx="6096000" cy="381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46150" y="111755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58065" y="148203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9150" y="2158901"/>
            <a:ext cx="1943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2435126"/>
            <a:ext cx="19431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전환으로 리스크 최소화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27450" y="111755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9365" y="148203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00450" y="2158901"/>
            <a:ext cx="1943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00450" y="2435126"/>
            <a:ext cx="19431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 빠른 피드백과 유연한 대응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08750" y="111755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20665" y="148203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81750" y="2158901"/>
            <a:ext cx="1943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81750" y="2435126"/>
            <a:ext cx="19431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 요구사항 정합성 확보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수행 방법론 및 기술 스택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90600"/>
            <a:ext cx="3555950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43000"/>
            <a:ext cx="33161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Agile-Waterfall 하이브리드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1409700"/>
            <a:ext cx="33161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SI 프로젝트 안정성 + 애자일 유연성 결합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66900"/>
            <a:ext cx="482501" cy="304800"/>
          </a:xfrm>
          <a:prstGeom prst="roundRect">
            <a:avLst>
              <a:gd name="adj" fmla="val 1250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1943100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5901" y="1866900"/>
            <a:ext cx="482501" cy="304800"/>
          </a:xfrm>
          <a:prstGeom prst="roundRect">
            <a:avLst>
              <a:gd name="adj" fmla="val 1250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2851" y="1943100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74602" y="1866900"/>
            <a:ext cx="482501" cy="304800"/>
          </a:xfrm>
          <a:prstGeom prst="roundRect">
            <a:avLst>
              <a:gd name="adj" fmla="val 1250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1552" y="1943100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33302" y="1866900"/>
            <a:ext cx="596801" cy="304800"/>
          </a:xfrm>
          <a:prstGeom prst="roundRect">
            <a:avLst>
              <a:gd name="adj" fmla="val 1250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60253" y="1943100"/>
            <a:ext cx="349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06303" y="1866900"/>
            <a:ext cx="482501" cy="304800"/>
          </a:xfrm>
          <a:prstGeom prst="roundRect">
            <a:avLst>
              <a:gd name="adj" fmla="val 1250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33254" y="1943100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67051" y="990600"/>
            <a:ext cx="45081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7051" y="1573113"/>
            <a:ext cx="44197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7051" y="1282601"/>
            <a:ext cx="1028402" cy="2857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68552" y="1358801"/>
            <a:ext cx="841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6954" y="1358801"/>
            <a:ext cx="3252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3, TypeScript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67051" y="1868388"/>
            <a:ext cx="44197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7051" y="1577876"/>
            <a:ext cx="1028402" cy="2857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68552" y="1654076"/>
            <a:ext cx="841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6954" y="1654076"/>
            <a:ext cx="3252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3.2, Java 17 (MSA)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67051" y="2163663"/>
            <a:ext cx="44197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7051" y="1873151"/>
            <a:ext cx="1028402" cy="2857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68552" y="1949351"/>
            <a:ext cx="841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6954" y="1949351"/>
            <a:ext cx="3252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16, Redis 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67051" y="2458938"/>
            <a:ext cx="44197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67051" y="2168426"/>
            <a:ext cx="1028402" cy="2857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68552" y="2244626"/>
            <a:ext cx="841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6954" y="2244626"/>
            <a:ext cx="3252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(EKS, RDS, S3)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67051" y="2754213"/>
            <a:ext cx="44197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67051" y="2463701"/>
            <a:ext cx="1028402" cy="2857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68552" y="2539901"/>
            <a:ext cx="841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96954" y="2539901"/>
            <a:ext cx="3252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3.11, TensorFlow 2.15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9301"/>
            <a:ext cx="233172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503563" y="1955750"/>
            <a:ext cx="0" cy="828675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1276" y="1955750"/>
            <a:ext cx="51297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조직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1276" y="2584400"/>
            <a:ext cx="5129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조직별 역할 및 책임, 투입 인력 현황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조직별 역할 및 책임 (R&amp;R)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90600"/>
            <a:ext cx="8229600" cy="3554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90600"/>
            <a:ext cx="1062177" cy="355402"/>
          </a:xfrm>
          <a:prstGeom prst="rect">
            <a:avLst/>
          </a:prstGeom>
          <a:noFill/>
          <a:ln/>
        </p:spPr>
        <p:txBody>
          <a:bodyPr wrap="square" lIns="76200" tIns="101600" rIns="76200" bIns="1016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98550" y="990600"/>
            <a:ext cx="1126998" cy="355402"/>
          </a:xfrm>
          <a:prstGeom prst="rect">
            <a:avLst/>
          </a:prstGeom>
          <a:noFill/>
          <a:ln/>
        </p:spPr>
        <p:txBody>
          <a:bodyPr wrap="square" lIns="76200" tIns="101600" rIns="76200" bIns="1016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3450" y="990600"/>
            <a:ext cx="5078019" cy="355402"/>
          </a:xfrm>
          <a:prstGeom prst="rect">
            <a:avLst/>
          </a:prstGeom>
          <a:noFill/>
          <a:ln/>
        </p:spPr>
        <p:txBody>
          <a:bodyPr wrap="square" lIns="76200" tIns="101600" rIns="76200" bIns="1016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책임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1900" y="990600"/>
            <a:ext cx="1126998" cy="355402"/>
          </a:xfrm>
          <a:prstGeom prst="rect">
            <a:avLst/>
          </a:prstGeom>
          <a:noFill/>
          <a:ln/>
        </p:spPr>
        <p:txBody>
          <a:bodyPr wrap="square" lIns="76200" tIns="101600" rIns="76200" bIns="1016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46002"/>
            <a:ext cx="8229600" cy="3301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671340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46002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 PM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98550" y="1346002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부장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3450" y="1346002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총괄 관리, 의사결정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81900" y="1346002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승인권자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001441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76102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 PM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98550" y="1676102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03450" y="1676102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수행 총괄, 품질/위험 관리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81900" y="1676102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대리인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006203"/>
            <a:ext cx="8229600" cy="3301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7200" y="2331541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06203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98550" y="2006203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이영희 과장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3450" y="2006203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관리 지원, 품질 검토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81900" y="2006203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테크솔루션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661642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36304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98550" y="2336304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박준형 책임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03450" y="2336304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설계, 아키텍처 검토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81900" y="2336304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전문가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2666405"/>
            <a:ext cx="8229600" cy="3301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7200" y="299174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666405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리더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98550" y="2666405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최수진 선임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03450" y="2666405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총괄, 기술 이슈 해결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81900" y="2666405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풀스택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321844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96505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담당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498550" y="2996505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한미영 대리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03450" y="2996505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관리, 테스트 총괄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81900" y="2996505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ISTQB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3326606"/>
            <a:ext cx="8229600" cy="3301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57200" y="3651945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26606"/>
            <a:ext cx="1062177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498550" y="3326606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오현우 대리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3450" y="3326606"/>
            <a:ext cx="5078019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 및 튜닝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81900" y="3326606"/>
            <a:ext cx="1126998" cy="320576"/>
          </a:xfrm>
          <a:prstGeom prst="rect">
            <a:avLst/>
          </a:prstGeom>
          <a:noFill/>
          <a:ln/>
        </p:spPr>
        <p:txBody>
          <a:bodyPr wrap="square" lIns="76200" tIns="88900" rIns="76200" bIns="889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투입 인력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90600"/>
            <a:ext cx="5867549" cy="2952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90600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1952" y="990600"/>
            <a:ext cx="84175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17204" y="990600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51956" y="990600"/>
            <a:ext cx="77693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13658" y="990600"/>
            <a:ext cx="3071312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투입기간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5875"/>
            <a:ext cx="5867549" cy="27920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560314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5875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1952" y="1285875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17204" y="1285875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51956" y="1285875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3658" y="1285875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39516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65077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1952" y="1565077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17204" y="1565077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51956" y="1565077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3658" y="1565077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1844278"/>
            <a:ext cx="5867549" cy="27920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2118717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844278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1952" y="1844278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17204" y="1844278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51956" y="1844278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최수진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13658" y="1844278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397919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123480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1952" y="2123480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17204" y="2123480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51956" y="2123480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임동현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3658" y="2123480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2402681"/>
            <a:ext cx="5867549" cy="27920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57200" y="2677120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402681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1952" y="2402681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917204" y="2402681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51956" y="2402681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강서연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13658" y="2402681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2956322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681883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91952" y="2681883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917204" y="2681883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51956" y="2681883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윤재호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13658" y="2681883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10개월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2961084"/>
            <a:ext cx="5867549" cy="27920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57200" y="3235523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961084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91952" y="2961084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917204" y="2961084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51956" y="2961084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오현우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13658" y="2961084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8개월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3514725"/>
            <a:ext cx="586754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240286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91952" y="3240286"/>
            <a:ext cx="84175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917204" y="3240286"/>
            <a:ext cx="647447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551956" y="3240286"/>
            <a:ext cx="776936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한미영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313658" y="3240286"/>
            <a:ext cx="3071312" cy="26967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78650" y="990600"/>
            <a:ext cx="2108150" cy="2528888"/>
          </a:xfrm>
          <a:prstGeom prst="roundRect">
            <a:avLst>
              <a:gd name="adj" fmla="val 4819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403753" y="1718518"/>
            <a:ext cx="4669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투입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355979" y="2061418"/>
            <a:ext cx="564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7399883" y="2639169"/>
            <a:ext cx="474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M/M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9301"/>
            <a:ext cx="233172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503563" y="1955750"/>
            <a:ext cx="0" cy="828675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1276" y="1955750"/>
            <a:ext cx="51297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일정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1276" y="2584400"/>
            <a:ext cx="5129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일정, 주요 마일스톤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마스터 일정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8200" y="1498402"/>
            <a:ext cx="7467600" cy="381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3450" y="13714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5136" y="1726853"/>
            <a:ext cx="1230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5136" y="1949053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5136" y="2117229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01/06~01/31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8090" y="13714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49776" y="1726853"/>
            <a:ext cx="1230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49776" y="1949053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49776" y="2117229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02/01~03/31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2730" y="13714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54416" y="1726853"/>
            <a:ext cx="1230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54416" y="1949053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54416" y="2117229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04/01~05/31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7370" y="13714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59056" y="1726853"/>
            <a:ext cx="1230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9056" y="1949053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59056" y="2117229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06/01~09/30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52009" y="13714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63695" y="1726853"/>
            <a:ext cx="1230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63695" y="1949053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695" y="2117229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10/01~11/15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6649" y="13714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68335" y="1726853"/>
            <a:ext cx="1230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68335" y="1949053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68335" y="2117229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11/16~12/31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510730"/>
            <a:ext cx="1287066" cy="520452"/>
          </a:xfrm>
          <a:prstGeom prst="roundRect">
            <a:avLst>
              <a:gd name="adj" fmla="val 97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701" y="2612231"/>
            <a:ext cx="1105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8701" y="2815382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킥오프, 환경구축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45766" y="2510730"/>
            <a:ext cx="1287066" cy="520452"/>
          </a:xfrm>
          <a:prstGeom prst="roundRect">
            <a:avLst>
              <a:gd name="adj" fmla="val 97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947267" y="2612231"/>
            <a:ext cx="1105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47267" y="2815382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확정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34333" y="2510730"/>
            <a:ext cx="1287066" cy="520452"/>
          </a:xfrm>
          <a:prstGeom prst="roundRect">
            <a:avLst>
              <a:gd name="adj" fmla="val 97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35834" y="2612231"/>
            <a:ext cx="1105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5834" y="2815382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아키텍처/화면/DB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22899" y="2510730"/>
            <a:ext cx="1287066" cy="520452"/>
          </a:xfrm>
          <a:prstGeom prst="roundRect">
            <a:avLst>
              <a:gd name="adj" fmla="val 97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24400" y="2612231"/>
            <a:ext cx="1105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24400" y="2815382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코딩, 단위테스트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11466" y="2510730"/>
            <a:ext cx="1287066" cy="520452"/>
          </a:xfrm>
          <a:prstGeom prst="roundRect">
            <a:avLst>
              <a:gd name="adj" fmla="val 97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12966" y="2612231"/>
            <a:ext cx="1105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12966" y="2815382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통합/성능/인수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400032" y="2510730"/>
            <a:ext cx="1287066" cy="520452"/>
          </a:xfrm>
          <a:prstGeom prst="roundRect">
            <a:avLst>
              <a:gd name="adj" fmla="val 97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501533" y="2612231"/>
            <a:ext cx="1105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01533" y="2815382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오픈, 안정화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주요 마일스톤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4001"/>
            <a:ext cx="1265783" cy="1203127"/>
          </a:xfrm>
          <a:prstGeom prst="roundRect">
            <a:avLst>
              <a:gd name="adj" fmla="val 6333"/>
            </a:avLst>
          </a:prstGeom>
          <a:noFill/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9191" y="1225451"/>
            <a:ext cx="361801" cy="209550"/>
          </a:xfrm>
          <a:prstGeom prst="roundRect">
            <a:avLst>
              <a:gd name="adj" fmla="val 4848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9104" y="1263551"/>
            <a:ext cx="161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7504" y="1536502"/>
            <a:ext cx="1045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7504" y="1771352"/>
            <a:ext cx="1045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7504" y="1942802"/>
            <a:ext cx="1045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49934" y="1054001"/>
            <a:ext cx="1265783" cy="1203127"/>
          </a:xfrm>
          <a:prstGeom prst="roundRect">
            <a:avLst>
              <a:gd name="adj" fmla="val 6333"/>
            </a:avLst>
          </a:prstGeom>
          <a:noFill/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01925" y="1225451"/>
            <a:ext cx="361801" cy="209550"/>
          </a:xfrm>
          <a:prstGeom prst="roundRect">
            <a:avLst>
              <a:gd name="adj" fmla="val 4848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01837" y="1263551"/>
            <a:ext cx="161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0238" y="1536502"/>
            <a:ext cx="1045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0238" y="1771352"/>
            <a:ext cx="1045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03-31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0238" y="1942802"/>
            <a:ext cx="1045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2667" y="1054001"/>
            <a:ext cx="1265783" cy="1203127"/>
          </a:xfrm>
          <a:prstGeom prst="roundRect">
            <a:avLst>
              <a:gd name="adj" fmla="val 6333"/>
            </a:avLst>
          </a:prstGeom>
          <a:noFill/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94658" y="1225451"/>
            <a:ext cx="361801" cy="209550"/>
          </a:xfrm>
          <a:prstGeom prst="roundRect">
            <a:avLst>
              <a:gd name="adj" fmla="val 4848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94571" y="1263551"/>
            <a:ext cx="161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2971" y="1536502"/>
            <a:ext cx="1045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2971" y="1771352"/>
            <a:ext cx="1045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05-31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2971" y="1942802"/>
            <a:ext cx="1045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5401" y="1054001"/>
            <a:ext cx="1265783" cy="1203127"/>
          </a:xfrm>
          <a:prstGeom prst="roundRect">
            <a:avLst>
              <a:gd name="adj" fmla="val 6333"/>
            </a:avLst>
          </a:prstGeom>
          <a:noFill/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87392" y="1225451"/>
            <a:ext cx="361801" cy="209550"/>
          </a:xfrm>
          <a:prstGeom prst="roundRect">
            <a:avLst>
              <a:gd name="adj" fmla="val 4848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87305" y="1263551"/>
            <a:ext cx="161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45705" y="1536502"/>
            <a:ext cx="1045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45705" y="1771352"/>
            <a:ext cx="1045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45705" y="1942802"/>
            <a:ext cx="1045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28134" y="1054001"/>
            <a:ext cx="1265783" cy="1203127"/>
          </a:xfrm>
          <a:prstGeom prst="roundRect">
            <a:avLst>
              <a:gd name="adj" fmla="val 6333"/>
            </a:avLst>
          </a:prstGeom>
          <a:noFill/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80125" y="1225451"/>
            <a:ext cx="361801" cy="209550"/>
          </a:xfrm>
          <a:prstGeom prst="roundRect">
            <a:avLst>
              <a:gd name="adj" fmla="val 4848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80038" y="1263551"/>
            <a:ext cx="161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38438" y="1536502"/>
            <a:ext cx="1045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38438" y="1771352"/>
            <a:ext cx="1045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8438" y="1942802"/>
            <a:ext cx="1045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20868" y="1054001"/>
            <a:ext cx="1265783" cy="1203127"/>
          </a:xfrm>
          <a:prstGeom prst="roundRect">
            <a:avLst>
              <a:gd name="adj" fmla="val 6333"/>
            </a:avLst>
          </a:prstGeom>
          <a:noFill/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72859" y="1225451"/>
            <a:ext cx="361801" cy="209550"/>
          </a:xfrm>
          <a:prstGeom prst="roundRect">
            <a:avLst>
              <a:gd name="adj" fmla="val 4848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972772" y="1263551"/>
            <a:ext cx="161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31172" y="1536502"/>
            <a:ext cx="1045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31172" y="1771352"/>
            <a:ext cx="1045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31172" y="1942802"/>
            <a:ext cx="1045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오픈보고서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9301"/>
            <a:ext cx="233172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503563" y="1955750"/>
            <a:ext cx="0" cy="828675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1276" y="1955750"/>
            <a:ext cx="51297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및 품질/보안 관리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1276" y="2584400"/>
            <a:ext cx="5129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목록, 품질 보증 활동, 보안 관리 계획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산출물 관리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52500"/>
            <a:ext cx="8229600" cy="2952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52500"/>
            <a:ext cx="77693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18902" y="952500"/>
            <a:ext cx="5156805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산출물명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74594" y="952500"/>
            <a:ext cx="77693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36296" y="952500"/>
            <a:ext cx="906578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작성시기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25098" y="952500"/>
            <a:ext cx="77693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47775"/>
            <a:ext cx="8229600" cy="2506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493639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47775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8902" y="1247775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착수보고서, 수행계획서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74594" y="1247775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36296" y="1247775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925098" y="1247775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스폰서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1744266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498402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8902" y="1498402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요구사항정의서, 현행시스템분석서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274594" y="1498402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036296" y="1498402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완료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25098" y="1498402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1749028"/>
            <a:ext cx="8229600" cy="2506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1994892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74902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18902" y="1749028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아키텍처설계서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74594" y="174902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036296" y="1749028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25098" y="174902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2245519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1999655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18902" y="1999655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데이터베이스설계서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74594" y="1999655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036296" y="1999655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925098" y="1999655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2250281"/>
            <a:ext cx="8229600" cy="2506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57200" y="2496145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250281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218902" y="2250281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74594" y="2250281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036296" y="2250281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925098" y="2250281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" y="2746772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50090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218902" y="2500908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74594" y="250090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036296" y="2500908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925098" y="250090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" y="2751534"/>
            <a:ext cx="8229600" cy="2506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57200" y="2997398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751534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218902" y="2751534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통합테스트결과서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74594" y="2751534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36296" y="2751534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완료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925098" y="2751534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57200" y="3248025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002161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218902" y="3002161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운영자매뉴얼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74594" y="3002161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036296" y="3002161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 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925098" y="3002161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3252788"/>
            <a:ext cx="8229600" cy="2506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457200" y="3498652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25278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18902" y="3252788"/>
            <a:ext cx="5156805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완료보고서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274594" y="325278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036296" y="3252788"/>
            <a:ext cx="906578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시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925098" y="3252788"/>
            <a:ext cx="776936" cy="24110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스폰서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90500"/>
            <a:ext cx="8394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품질 및 보안 관리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38200"/>
            <a:ext cx="4336852" cy="853678"/>
          </a:xfrm>
          <a:prstGeom prst="roundRect">
            <a:avLst>
              <a:gd name="adj" fmla="val 8926"/>
            </a:avLst>
          </a:prstGeom>
          <a:solidFill>
            <a:srgbClr val="1E5128">
              <a:alpha val="5000"/>
            </a:srgbClr>
          </a:solidFill>
          <a:ln w="9525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3675" y="999976"/>
            <a:ext cx="41451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3675" y="1139577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검토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3675" y="1387227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발주 담당자 검토 및 승인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93379"/>
            <a:ext cx="4336852" cy="853678"/>
          </a:xfrm>
          <a:prstGeom prst="roundRect">
            <a:avLst>
              <a:gd name="adj" fmla="val 8926"/>
            </a:avLst>
          </a:prstGeom>
          <a:solidFill>
            <a:srgbClr val="1E5128">
              <a:alpha val="5000"/>
            </a:srgbClr>
          </a:solidFill>
          <a:ln w="9525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1955155"/>
            <a:ext cx="41451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3675" y="2094756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3675" y="2342406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 필수, 2인 이상 승인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748558"/>
            <a:ext cx="4336852" cy="853678"/>
          </a:xfrm>
          <a:prstGeom prst="roundRect">
            <a:avLst>
              <a:gd name="adj" fmla="val 8926"/>
            </a:avLst>
          </a:prstGeom>
          <a:solidFill>
            <a:srgbClr val="1E5128">
              <a:alpha val="5000"/>
            </a:srgbClr>
          </a:solidFill>
          <a:ln w="9525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3675" y="2910334"/>
            <a:ext cx="41451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3675" y="3049935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분석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3675" y="3297585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품질 게이트 적용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703737"/>
            <a:ext cx="4336852" cy="853678"/>
          </a:xfrm>
          <a:prstGeom prst="roundRect">
            <a:avLst>
              <a:gd name="adj" fmla="val 8926"/>
            </a:avLst>
          </a:prstGeom>
          <a:solidFill>
            <a:srgbClr val="1E5128">
              <a:alpha val="5000"/>
            </a:srgbClr>
          </a:solidFill>
          <a:ln w="9525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865513"/>
            <a:ext cx="41451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4005114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3675" y="4252764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보안서약서, OWASP Top 10, DB 암호화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9301"/>
            <a:ext cx="233172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503563" y="1955750"/>
            <a:ext cx="0" cy="828675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1276" y="1955750"/>
            <a:ext cx="51297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교육, 위험 및 의사소통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1276" y="2584400"/>
            <a:ext cx="5129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훈련, 위험 관리, 의사소통 체계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교육 및 기술이전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90600"/>
            <a:ext cx="5609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훈련 계획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08050"/>
            <a:ext cx="1748433" cy="1095077"/>
          </a:xfrm>
          <a:prstGeom prst="roundRect">
            <a:avLst>
              <a:gd name="adj" fmla="val 695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327100"/>
            <a:ext cx="1748433" cy="0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246" y="1498550"/>
            <a:ext cx="1576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교육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3246" y="1746200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30명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3246" y="1914376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2주 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3246" y="2082552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사용법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32583" y="1308050"/>
            <a:ext cx="1748433" cy="1095077"/>
          </a:xfrm>
          <a:prstGeom prst="roundRect">
            <a:avLst>
              <a:gd name="adj" fmla="val 695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332583" y="1327100"/>
            <a:ext cx="1748433" cy="0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8630" y="1498550"/>
            <a:ext cx="1576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교육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18630" y="1746200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운영 5명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18630" y="1914376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3주 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18630" y="2082552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백업/복구, 장애대응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7966" y="1308050"/>
            <a:ext cx="1748433" cy="1095077"/>
          </a:xfrm>
          <a:prstGeom prst="roundRect">
            <a:avLst>
              <a:gd name="adj" fmla="val 695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207966" y="1327100"/>
            <a:ext cx="1748433" cy="0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4013" y="1498550"/>
            <a:ext cx="1576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교육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4013" y="1746200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10명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4013" y="1914376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1주 전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94013" y="2082552"/>
            <a:ext cx="1576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관리, 리포트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46899" y="990600"/>
            <a:ext cx="2539901" cy="1158627"/>
          </a:xfrm>
          <a:prstGeom prst="roundRect">
            <a:avLst>
              <a:gd name="adj" fmla="val 65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99299" y="1143000"/>
            <a:ext cx="22798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기술이전 계획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9299" y="1415951"/>
            <a:ext cx="2235101" cy="53012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대상: 소스코드, 설계 산출물, 운영 매뉴얼</a:t>
            </a:r>
            <a:endParaRPr lang="en-US" sz="800" dirty="0"/>
          </a:p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방법: 1:1 멘토링, 인계인수서</a:t>
            </a:r>
            <a:endParaRPr lang="en-US" sz="800" dirty="0"/>
          </a:p>
          <a:p>
            <a:pPr algn="l" marL="76200" indent="-762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기간: 오픈 후 3개월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위험 관리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52500"/>
            <a:ext cx="8229600" cy="3205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52500"/>
            <a:ext cx="1230377" cy="320576"/>
          </a:xfrm>
          <a:prstGeom prst="rect">
            <a:avLst/>
          </a:prstGeom>
          <a:noFill/>
          <a:ln/>
        </p:spPr>
        <p:txBody>
          <a:bodyPr wrap="square" lIns="63500" tIns="88900" rIns="63500" bIns="889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요소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57740" y="952500"/>
            <a:ext cx="582626" cy="320576"/>
          </a:xfrm>
          <a:prstGeom prst="rect">
            <a:avLst/>
          </a:prstGeom>
          <a:noFill/>
          <a:ln/>
        </p:spPr>
        <p:txBody>
          <a:bodyPr wrap="square" lIns="63500" tIns="88900" rIns="63500" bIns="889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28942" y="952500"/>
            <a:ext cx="582626" cy="320576"/>
          </a:xfrm>
          <a:prstGeom prst="rect">
            <a:avLst/>
          </a:prstGeom>
          <a:noFill/>
          <a:ln/>
        </p:spPr>
        <p:txBody>
          <a:bodyPr wrap="square" lIns="63500" tIns="88900" rIns="63500" bIns="889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05857" y="952500"/>
            <a:ext cx="5351115" cy="320576"/>
          </a:xfrm>
          <a:prstGeom prst="rect">
            <a:avLst/>
          </a:prstGeom>
          <a:noFill/>
          <a:ln/>
        </p:spPr>
        <p:txBody>
          <a:bodyPr wrap="square" lIns="63500" tIns="88900" rIns="63500" bIns="889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 방안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52048" y="952500"/>
            <a:ext cx="647447" cy="320576"/>
          </a:xfrm>
          <a:prstGeom prst="rect">
            <a:avLst/>
          </a:prstGeom>
          <a:noFill/>
          <a:ln/>
        </p:spPr>
        <p:txBody>
          <a:bodyPr wrap="square" lIns="63500" tIns="88900" rIns="63500" bIns="889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73076"/>
            <a:ext cx="8229600" cy="3048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57311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73076"/>
            <a:ext cx="123037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변경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57740" y="12730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28942" y="12730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05857" y="1273076"/>
            <a:ext cx="5351115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 통해 통제, 영향도 분석 필수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2048" y="1273076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7791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77876"/>
            <a:ext cx="123037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지연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57740" y="15778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28942" y="15778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05857" y="1577876"/>
            <a:ext cx="5351115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진척관리, Critical Path 모니터링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52048" y="1577876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1882676"/>
            <a:ext cx="8229600" cy="3048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218271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882676"/>
            <a:ext cx="123037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난제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57740" y="18826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28942" y="18826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05857" y="1882676"/>
            <a:ext cx="5351115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선행, 외부 전문가 자문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52048" y="1882676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48751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187476"/>
            <a:ext cx="123037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이탈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57740" y="21874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28942" y="21874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805857" y="2187476"/>
            <a:ext cx="5351115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인력 풀 확보, 기술 문서화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52048" y="2187476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2492276"/>
            <a:ext cx="8229600" cy="3048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57200" y="2792313"/>
            <a:ext cx="8229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492276"/>
            <a:ext cx="123037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마이그레이션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57740" y="24922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28942" y="2492276"/>
            <a:ext cx="582626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805857" y="2492276"/>
            <a:ext cx="5351115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검증, 롤백 계획 수립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52048" y="2492276"/>
            <a:ext cx="647447" cy="295275"/>
          </a:xfrm>
          <a:prstGeom prst="rect">
            <a:avLst/>
          </a:prstGeom>
          <a:noFill/>
          <a:ln/>
        </p:spPr>
        <p:txBody>
          <a:bodyPr wrap="square" lIns="63500" tIns="76200" rIns="63500" bIns="762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의사소통 및 협조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9060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 및 회의 체계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2601"/>
            <a:ext cx="1962150" cy="907554"/>
          </a:xfrm>
          <a:prstGeom prst="roundRect">
            <a:avLst>
              <a:gd name="adj" fmla="val 55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292126"/>
            <a:ext cx="1962150" cy="0"/>
          </a:xfrm>
          <a:prstGeom prst="line">
            <a:avLst/>
          </a:prstGeom>
          <a:noFill/>
          <a:ln w="19050">
            <a:solidFill>
              <a:srgbClr val="1E5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150" y="1428601"/>
            <a:ext cx="1742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4150" y="1644402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09:30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84150" y="1784003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84150" y="1923604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현황, 블로커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46300" y="1282601"/>
            <a:ext cx="1962150" cy="907554"/>
          </a:xfrm>
          <a:prstGeom prst="roundRect">
            <a:avLst>
              <a:gd name="adj" fmla="val 55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46300" y="1292126"/>
            <a:ext cx="1962150" cy="0"/>
          </a:xfrm>
          <a:prstGeom prst="line">
            <a:avLst/>
          </a:prstGeom>
          <a:noFill/>
          <a:ln w="19050">
            <a:solidFill>
              <a:srgbClr val="1E51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3251" y="1428601"/>
            <a:ext cx="1742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73251" y="1644402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금 14:00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73251" y="1784003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발주PM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73251" y="1923604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실적/계획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35401" y="1282601"/>
            <a:ext cx="1962150" cy="907554"/>
          </a:xfrm>
          <a:prstGeom prst="roundRect">
            <a:avLst>
              <a:gd name="adj" fmla="val 55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35401" y="1292126"/>
            <a:ext cx="1962150" cy="0"/>
          </a:xfrm>
          <a:prstGeom prst="line">
            <a:avLst/>
          </a:prstGeom>
          <a:noFill/>
          <a:ln w="19050">
            <a:solidFill>
              <a:srgbClr val="1E51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351" y="1428601"/>
            <a:ext cx="1742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월간보고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62351" y="1644402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말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62351" y="1784003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62351" y="1923604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마일스톤, 리스크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24501" y="1282601"/>
            <a:ext cx="1962150" cy="907554"/>
          </a:xfrm>
          <a:prstGeom prst="roundRect">
            <a:avLst>
              <a:gd name="adj" fmla="val 55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24501" y="1292126"/>
            <a:ext cx="1962150" cy="0"/>
          </a:xfrm>
          <a:prstGeom prst="line">
            <a:avLst/>
          </a:prstGeom>
          <a:noFill/>
          <a:ln w="19050">
            <a:solidFill>
              <a:srgbClr val="1E51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1452" y="1428601"/>
            <a:ext cx="1742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9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 리뷰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1452" y="1644402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 금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51452" y="1784003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1452" y="1923604"/>
            <a:ext cx="1742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데모, 피드백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" y="234255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협조 요청 사항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634555"/>
            <a:ext cx="1981349" cy="529977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8226" y="2745581"/>
            <a:ext cx="1794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8226" y="2939207"/>
            <a:ext cx="1794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룸 10석, VPN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40050" y="2634555"/>
            <a:ext cx="1981349" cy="529977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51075" y="2745581"/>
            <a:ext cx="1794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51075" y="2939207"/>
            <a:ext cx="1794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테스트용 샘플 (비식별화)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899" y="2634555"/>
            <a:ext cx="1981349" cy="529977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33925" y="2745581"/>
            <a:ext cx="1794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3925" y="2939207"/>
            <a:ext cx="1794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계정 및 권한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05749" y="2634555"/>
            <a:ext cx="1981349" cy="529977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16775" y="2745581"/>
            <a:ext cx="1794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16775" y="2939207"/>
            <a:ext cx="1794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인터뷰, UAT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2196" y="1727448"/>
            <a:ext cx="312080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967667" y="2749600"/>
            <a:ext cx="12085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126517" y="3114526"/>
            <a:ext cx="28908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김철수 | kim@techsolution.co.kr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PptxGenJS Presentation</dc:subject>
  <dc:creator>(주)테크솔루션</dc:creator>
  <cp:lastModifiedBy>(주)테크솔루션</cp:lastModifiedBy>
  <cp:revision>1</cp:revision>
  <dcterms:created xsi:type="dcterms:W3CDTF">2026-01-06T18:03:33Z</dcterms:created>
  <dcterms:modified xsi:type="dcterms:W3CDTF">2026-01-06T18:03:33Z</dcterms:modified>
</cp:coreProperties>
</file>