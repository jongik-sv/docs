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0" y="617190"/>
            <a:ext cx="4572000" cy="411361"/>
          </a:xfrm>
          <a:prstGeom prst="roundRect">
            <a:avLst>
              <a:gd name="adj" fmla="val 50014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076724" y="718096"/>
            <a:ext cx="305036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수행계획서 (DOC-PRJ-2025-001-001)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41248" y="1543050"/>
            <a:ext cx="7461504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 물류관리 시스템 구축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2308175"/>
            <a:ext cx="746150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2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Logistics Management System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3663851"/>
            <a:ext cx="74615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1월 3일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3965377"/>
            <a:ext cx="74615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(주)테크솔루션 | PM 김철수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525000" cy="762000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04788"/>
            <a:ext cx="1709928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22350" y="1143000"/>
            <a:ext cx="14055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663601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22350" y="1663601"/>
            <a:ext cx="19821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추진 전략 및 방법론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184202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22350" y="2184202"/>
            <a:ext cx="14055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2704802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22350" y="2704802"/>
            <a:ext cx="12469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조직 및 역할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3225403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22350" y="3225403"/>
            <a:ext cx="14055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일정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25901" y="1143000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33851" y="1143000"/>
            <a:ext cx="118210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산출물 관리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825901" y="1663601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333851" y="1663601"/>
            <a:ext cx="175865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및 보안 관리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825901" y="2184202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33851" y="2184202"/>
            <a:ext cx="16938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교육 및 기술이전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825901" y="2704802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333851" y="2704802"/>
            <a:ext cx="175865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 및 변경 관리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525000" cy="6349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69813"/>
            <a:ext cx="181725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프로젝트 개요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1015901"/>
            <a:ext cx="3486001" cy="3555950"/>
          </a:xfrm>
          <a:prstGeom prst="roundRect">
            <a:avLst>
              <a:gd name="adj" fmla="val 4372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374952" y="1142851"/>
            <a:ext cx="103621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718572" y="1142851"/>
            <a:ext cx="29756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 물류관리 시스템 구축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74952" y="1615827"/>
            <a:ext cx="103621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발주기관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718572" y="1615827"/>
            <a:ext cx="29756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(주)글로벌물류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374952" y="2088803"/>
            <a:ext cx="103621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수행사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718572" y="2088803"/>
            <a:ext cx="29756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(주)테크솔루션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74952" y="2561779"/>
            <a:ext cx="103621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계약금액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718572" y="2561779"/>
            <a:ext cx="29756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15억원 (VAT 별도)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374952" y="3034754"/>
            <a:ext cx="103621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계약기간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718572" y="3034754"/>
            <a:ext cx="29756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2025-01-06 ~ 2025-12-31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525000" cy="6349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69813"/>
            <a:ext cx="234811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배경 및 추진 목표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81000" y="762000"/>
            <a:ext cx="85496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고도화를 통해 물류 혁신 및 비즈니스 경쟁력을 확보합니다.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7950" y="1396901"/>
            <a:ext cx="2709267" cy="3612952"/>
          </a:xfrm>
          <a:prstGeom prst="roundRect">
            <a:avLst>
              <a:gd name="adj" fmla="val 5625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07950" y="1425476"/>
            <a:ext cx="2709267" cy="0"/>
          </a:xfrm>
          <a:prstGeom prst="line">
            <a:avLst/>
          </a:prstGeom>
          <a:noFill/>
          <a:ln w="57150">
            <a:solidFill>
              <a:srgbClr val="1E51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9837" y="1707952"/>
            <a:ext cx="224549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효율성 향상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9837" y="2228552"/>
            <a:ext cx="224549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0"/>
              </a:spcBef>
              <a:spcAft>
                <a:spcPts val="2000"/>
              </a:spcAft>
              <a:buNone/>
            </a:pPr>
            <a:r>
              <a:rPr lang="en-US" sz="32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UP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39837" y="2949178"/>
            <a:ext cx="2245495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기반 최적화 알고리즘 적용을 통한 전체 물류 처리 속도 향상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17218" y="1396901"/>
            <a:ext cx="2709267" cy="3612952"/>
          </a:xfrm>
          <a:prstGeom prst="roundRect">
            <a:avLst>
              <a:gd name="adj" fmla="val 5625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217218" y="1425476"/>
            <a:ext cx="2709267" cy="0"/>
          </a:xfrm>
          <a:prstGeom prst="line">
            <a:avLst/>
          </a:prstGeom>
          <a:noFill/>
          <a:ln w="57150">
            <a:solidFill>
              <a:srgbClr val="1E51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9104" y="1707952"/>
            <a:ext cx="224549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재고 정확도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49104" y="2228552"/>
            <a:ext cx="224549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0"/>
              </a:spcBef>
              <a:spcAft>
                <a:spcPts val="2000"/>
              </a:spcAft>
              <a:buNone/>
            </a:pPr>
            <a:r>
              <a:rPr lang="en-US" sz="32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99.5%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3449104" y="2949178"/>
            <a:ext cx="2245495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재고 추적 및 스마트 피킹 시스템 연동을 통한 손실 제로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26485" y="1396901"/>
            <a:ext cx="2709267" cy="3612952"/>
          </a:xfrm>
          <a:prstGeom prst="roundRect">
            <a:avLst>
              <a:gd name="adj" fmla="val 5625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5926485" y="1425476"/>
            <a:ext cx="2709267" cy="0"/>
          </a:xfrm>
          <a:prstGeom prst="line">
            <a:avLst/>
          </a:prstGeom>
          <a:noFill/>
          <a:ln w="57150">
            <a:solidFill>
              <a:srgbClr val="1E51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58371" y="1707952"/>
            <a:ext cx="224549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절감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158371" y="2228552"/>
            <a:ext cx="224549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0"/>
              </a:spcBef>
              <a:spcAft>
                <a:spcPts val="2000"/>
              </a:spcAft>
              <a:buNone/>
            </a:pPr>
            <a:r>
              <a:rPr lang="en-US" sz="32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Down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58371" y="2949178"/>
            <a:ext cx="2245495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자원 배분 최적화 및 업무 자동화를 통한 연간 운영 비용 절감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525000" cy="6349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69813"/>
            <a:ext cx="227615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시스템 구축 범위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1143000"/>
            <a:ext cx="1841450" cy="3555950"/>
          </a:xfrm>
          <a:prstGeom prst="roundRect">
            <a:avLst>
              <a:gd name="adj" fmla="val 8276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111151" y="1333500"/>
            <a:ext cx="634901" cy="634901"/>
          </a:xfrm>
          <a:prstGeom prst="roundRect">
            <a:avLst>
              <a:gd name="adj" fmla="val 144022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84684" y="1474738"/>
            <a:ext cx="293438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0356" y="2095351"/>
            <a:ext cx="50642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WMS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23032" y="2460427"/>
            <a:ext cx="1011138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lnSpc>
                <a:spcPts val="154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입출고 관리</a:t>
            </a:r>
            <a:endParaRPr lang="en-US" sz="1100" dirty="0"/>
          </a:p>
          <a:p>
            <a:pPr algn="ctr" marL="342900" indent="-342900">
              <a:lnSpc>
                <a:spcPts val="154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재고 관리</a:t>
            </a:r>
            <a:endParaRPr lang="en-US" sz="1100" dirty="0"/>
          </a:p>
          <a:p>
            <a:pPr algn="ctr" marL="342900" indent="-342900">
              <a:lnSpc>
                <a:spcPts val="154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피킹/패킹 최적화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03302" y="1143000"/>
            <a:ext cx="1841599" cy="3555950"/>
          </a:xfrm>
          <a:prstGeom prst="roundRect">
            <a:avLst>
              <a:gd name="adj" fmla="val 8275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206651" y="1333500"/>
            <a:ext cx="634901" cy="634901"/>
          </a:xfrm>
          <a:prstGeom prst="roundRect">
            <a:avLst>
              <a:gd name="adj" fmla="val 144022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430935" y="1474738"/>
            <a:ext cx="189908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309640" y="2095351"/>
            <a:ext cx="43750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932509" y="2460427"/>
            <a:ext cx="1183184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lnSpc>
                <a:spcPts val="154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배차 및 경로 최적화</a:t>
            </a:r>
            <a:endParaRPr lang="en-US" sz="1100" dirty="0"/>
          </a:p>
          <a:p>
            <a:pPr algn="ctr" marL="342900" indent="-342900">
              <a:lnSpc>
                <a:spcPts val="154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배송 추적</a:t>
            </a:r>
            <a:endParaRPr lang="en-US" sz="1100" dirty="0"/>
          </a:p>
          <a:p>
            <a:pPr algn="ctr" marL="342900" indent="-342900">
              <a:lnSpc>
                <a:spcPts val="154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운송 비용 정산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98802" y="1143000"/>
            <a:ext cx="1841599" cy="3555950"/>
          </a:xfrm>
          <a:prstGeom prst="roundRect">
            <a:avLst>
              <a:gd name="adj" fmla="val 8275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302151" y="1333500"/>
            <a:ext cx="634901" cy="634901"/>
          </a:xfrm>
          <a:prstGeom prst="roundRect">
            <a:avLst>
              <a:gd name="adj" fmla="val 144022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500985" y="1474738"/>
            <a:ext cx="24182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388173" y="2095351"/>
            <a:ext cx="47211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94684" y="2460427"/>
            <a:ext cx="1049834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lnSpc>
                <a:spcPts val="154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주문 접수 및 할당</a:t>
            </a:r>
            <a:endParaRPr lang="en-US" sz="1100" dirty="0"/>
          </a:p>
          <a:p>
            <a:pPr algn="ctr" marL="342900" indent="-342900">
              <a:lnSpc>
                <a:spcPts val="154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클레임 관리</a:t>
            </a:r>
            <a:endParaRPr lang="en-US" sz="1100" dirty="0"/>
          </a:p>
          <a:p>
            <a:pPr algn="ctr" marL="342900" indent="-342900">
              <a:lnSpc>
                <a:spcPts val="154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통합 정산 관리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94302" y="1143000"/>
            <a:ext cx="1841599" cy="3555950"/>
          </a:xfrm>
          <a:prstGeom prst="roundRect">
            <a:avLst>
              <a:gd name="adj" fmla="val 8275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397651" y="1333500"/>
            <a:ext cx="634901" cy="634901"/>
          </a:xfrm>
          <a:prstGeom prst="roundRect">
            <a:avLst>
              <a:gd name="adj" fmla="val 144022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604968" y="1474738"/>
            <a:ext cx="22451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184529" y="2095351"/>
            <a:ext cx="108236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43601" y="2460427"/>
            <a:ext cx="1143000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lnSpc>
                <a:spcPts val="154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물류 현황</a:t>
            </a:r>
            <a:endParaRPr lang="en-US" sz="1100" dirty="0"/>
          </a:p>
          <a:p>
            <a:pPr algn="ctr" marL="342900" indent="-342900">
              <a:lnSpc>
                <a:spcPts val="154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지표 가시화</a:t>
            </a:r>
            <a:endParaRPr lang="en-US" sz="1100" dirty="0"/>
          </a:p>
          <a:p>
            <a:pPr algn="ctr" marL="342900" indent="-342900">
              <a:lnSpc>
                <a:spcPts val="154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인사이트 리포트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525000" cy="6349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69813"/>
            <a:ext cx="147554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 추진 전략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1015901"/>
            <a:ext cx="2540050" cy="35559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>
            <a:outerShdw sx="100000" sy="100000" kx="0" ky="0" algn="bl" rotWithShape="0" blurRad="76200" dist="508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71376" y="1279327"/>
            <a:ext cx="205346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2800" b="1" dirty="0">
                <a:solidFill>
                  <a:srgbClr val="D8E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71376" y="1752302"/>
            <a:ext cx="205346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단계적 전환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1376" y="2209502"/>
            <a:ext cx="2053462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Bang 방식이 아닌 모듈별 순차 전환을 통해 시스템 리스크를 최소화하고 안정적으로 이행합니다.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01901" y="1015901"/>
            <a:ext cx="2540050" cy="35559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>
            <a:outerShdw sx="100000" sy="100000" kx="0" ky="0" algn="bl" rotWithShape="0" blurRad="76200" dist="508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565327" y="1279327"/>
            <a:ext cx="205346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2800" b="1" dirty="0">
                <a:solidFill>
                  <a:srgbClr val="D8E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565327" y="1752302"/>
            <a:ext cx="205346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애자일 기반 개발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65327" y="2209502"/>
            <a:ext cx="2053462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 단위 스프린트 운영을 통해 변화하는 요구사항에 유연하게 대응하고 빠른 피드백을 수렴합니다.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95851" y="1015901"/>
            <a:ext cx="2540050" cy="35559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>
            <a:outerShdw sx="100000" sy="100000" kx="0" ky="0" algn="bl" rotWithShape="0" blurRad="76200" dist="508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59277" y="1279327"/>
            <a:ext cx="205346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2800" b="1" dirty="0">
                <a:solidFill>
                  <a:srgbClr val="D8E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359277" y="1752302"/>
            <a:ext cx="205346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현업 밀착 협업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59277" y="2209502"/>
            <a:ext cx="2053462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2회 정기 현업 리뷰를 통해 핵심 기능의 정합성을 수시로 확보하고 사용자 만족도를 극대화합니다.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525000" cy="6349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69813"/>
            <a:ext cx="278303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 수행 방법론 (Hybrid)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1778050"/>
            <a:ext cx="1777901" cy="1777901"/>
          </a:xfrm>
          <a:prstGeom prst="roundRect">
            <a:avLst>
              <a:gd name="adj" fmla="val 51431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06401" y="2373362"/>
            <a:ext cx="38862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99590" y="2674888"/>
            <a:ext cx="994473" cy="285750"/>
          </a:xfrm>
          <a:prstGeom prst="rect">
            <a:avLst/>
          </a:prstGeom>
          <a:noFill/>
          <a:ln/>
        </p:spPr>
        <p:txBody>
          <a:bodyPr wrap="square" lIns="127000" tIns="0" rIns="12700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 정의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현행 분석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539901" y="1778050"/>
            <a:ext cx="1777901" cy="1777901"/>
          </a:xfrm>
          <a:prstGeom prst="roundRect">
            <a:avLst>
              <a:gd name="adj" fmla="val 51431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238351" y="2373362"/>
            <a:ext cx="38862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983456" y="2674888"/>
            <a:ext cx="890790" cy="285750"/>
          </a:xfrm>
          <a:prstGeom prst="rect">
            <a:avLst/>
          </a:prstGeom>
          <a:noFill/>
          <a:ln/>
        </p:spPr>
        <p:txBody>
          <a:bodyPr wrap="square" lIns="127000" tIns="0" rIns="12700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아키텍처/UI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설계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1851" y="1778050"/>
            <a:ext cx="1777901" cy="1777901"/>
          </a:xfrm>
          <a:prstGeom prst="roundRect">
            <a:avLst>
              <a:gd name="adj" fmla="val 51431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270302" y="2373362"/>
            <a:ext cx="38862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1784" y="2674888"/>
            <a:ext cx="877887" cy="285750"/>
          </a:xfrm>
          <a:prstGeom prst="rect">
            <a:avLst/>
          </a:prstGeom>
          <a:noFill/>
          <a:ln/>
        </p:spPr>
        <p:txBody>
          <a:bodyPr wrap="square" lIns="127000" tIns="0" rIns="12700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모듈 구현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단위 테스트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603802" y="1778050"/>
            <a:ext cx="2031950" cy="1777901"/>
          </a:xfrm>
          <a:prstGeom prst="roundRect">
            <a:avLst>
              <a:gd name="adj" fmla="val 8572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040314" y="2317700"/>
            <a:ext cx="118210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전환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86789" y="2711351"/>
            <a:ext cx="1465826" cy="304800"/>
          </a:xfrm>
          <a:prstGeom prst="rect">
            <a:avLst/>
          </a:prstGeom>
          <a:noFill/>
          <a:ln/>
        </p:spPr>
        <p:txBody>
          <a:bodyPr wrap="square" lIns="127000" tIns="0" rIns="12700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통합 테스트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안정적 이행 및 지원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525000" cy="6349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69813"/>
            <a:ext cx="1961317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 기술 아키텍처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1143000"/>
            <a:ext cx="1889075" cy="3555950"/>
          </a:xfrm>
          <a:prstGeom prst="roundRect">
            <a:avLst>
              <a:gd name="adj" fmla="val 8067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07950" y="4675138"/>
            <a:ext cx="1889075" cy="0"/>
          </a:xfrm>
          <a:prstGeom prst="line">
            <a:avLst/>
          </a:prstGeom>
          <a:noFill/>
          <a:ln w="47625">
            <a:solidFill>
              <a:srgbClr val="4E9F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8450" y="1333500"/>
            <a:ext cx="153823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98450" y="1631900"/>
            <a:ext cx="15382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Vue.js 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98450" y="2025551"/>
            <a:ext cx="1538237" cy="571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 3.4</a:t>
            </a:r>
            <a:endParaRPr lang="en-US" sz="10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 기반 SPA</a:t>
            </a:r>
            <a:endParaRPr lang="en-US" sz="10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CSS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587526" y="1143000"/>
            <a:ext cx="1889075" cy="3555950"/>
          </a:xfrm>
          <a:prstGeom prst="roundRect">
            <a:avLst>
              <a:gd name="adj" fmla="val 8067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587526" y="4675138"/>
            <a:ext cx="1889075" cy="0"/>
          </a:xfrm>
          <a:prstGeom prst="line">
            <a:avLst/>
          </a:prstGeom>
          <a:noFill/>
          <a:ln w="47625">
            <a:solidFill>
              <a:srgbClr val="4E9F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78026" y="1333500"/>
            <a:ext cx="153823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78026" y="1631900"/>
            <a:ext cx="15382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Boot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778026" y="2025551"/>
            <a:ext cx="1538237" cy="571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17</a:t>
            </a:r>
            <a:endParaRPr lang="en-US" sz="10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MSA 구조</a:t>
            </a:r>
            <a:endParaRPr lang="en-US" sz="10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667101" y="1143000"/>
            <a:ext cx="1889075" cy="3555950"/>
          </a:xfrm>
          <a:prstGeom prst="roundRect">
            <a:avLst>
              <a:gd name="adj" fmla="val 8067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667101" y="4675138"/>
            <a:ext cx="1889075" cy="0"/>
          </a:xfrm>
          <a:prstGeom prst="line">
            <a:avLst/>
          </a:prstGeom>
          <a:noFill/>
          <a:ln w="47625">
            <a:solidFill>
              <a:srgbClr val="4E9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57601" y="1333500"/>
            <a:ext cx="153823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57601" y="1631900"/>
            <a:ext cx="15382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857601" y="2025551"/>
            <a:ext cx="1538237" cy="571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Cache</a:t>
            </a:r>
            <a:endParaRPr lang="en-US" sz="10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RDS</a:t>
            </a:r>
            <a:endParaRPr lang="en-US" sz="10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동기화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746677" y="1143000"/>
            <a:ext cx="1889224" cy="3555950"/>
          </a:xfrm>
          <a:prstGeom prst="roundRect">
            <a:avLst>
              <a:gd name="adj" fmla="val 8067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746677" y="4675138"/>
            <a:ext cx="1889224" cy="0"/>
          </a:xfrm>
          <a:prstGeom prst="line">
            <a:avLst/>
          </a:prstGeom>
          <a:noFill/>
          <a:ln w="47625">
            <a:solidFill>
              <a:srgbClr val="4E9F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37177" y="1333500"/>
            <a:ext cx="15383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 / AI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37177" y="1631900"/>
            <a:ext cx="153838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/ Python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937177" y="2025551"/>
            <a:ext cx="1538389" cy="571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 (Kubernetes)</a:t>
            </a:r>
            <a:endParaRPr lang="en-US" sz="10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TensorFlow</a:t>
            </a:r>
            <a:endParaRPr lang="en-US" sz="10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 최적화 ML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525000" cy="6349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69813"/>
            <a:ext cx="259586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 조직 및 역할 (R&amp;R)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809851" y="2031802"/>
            <a:ext cx="1524000" cy="1524000"/>
          </a:xfrm>
          <a:prstGeom prst="roundRect">
            <a:avLst>
              <a:gd name="adj" fmla="val 60000"/>
            </a:avLst>
          </a:prstGeom>
          <a:solidFill>
            <a:srgbClr val="1E5128"/>
          </a:solidFill>
          <a:ln/>
          <a:effectLst>
            <a:outerShdw sx="100000" sy="100000" kx="0" ky="0" algn="bl" rotWithShape="0" blurRad="254000" dist="50800" dir="162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184303" y="2527102"/>
            <a:ext cx="7905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281636" y="2793802"/>
            <a:ext cx="59188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428851" y="1142851"/>
            <a:ext cx="2539901" cy="1269802"/>
          </a:xfrm>
          <a:prstGeom prst="roundRect">
            <a:avLst>
              <a:gd name="adj" fmla="val 8001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555802" y="1481138"/>
            <a:ext cx="23317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(김철수 차장)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55802" y="1744563"/>
            <a:ext cx="2331720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수행 총괄, 품질/위험 관리, 발주처 커뮤니케이션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349901" y="2158901"/>
            <a:ext cx="2539901" cy="1269802"/>
          </a:xfrm>
          <a:prstGeom prst="roundRect">
            <a:avLst>
              <a:gd name="adj" fmla="val 8001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476851" y="2497187"/>
            <a:ext cx="23317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 (박준형 책임)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76851" y="2760613"/>
            <a:ext cx="2331720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설계 총괄, 아키텍처 검토, MSA 가이드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87901" y="3428851"/>
            <a:ext cx="2539901" cy="1269802"/>
          </a:xfrm>
          <a:prstGeom prst="roundRect">
            <a:avLst>
              <a:gd name="adj" fmla="val 8001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714851" y="3767138"/>
            <a:ext cx="23317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개발팀 (최수진 외 3명)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714851" y="4030563"/>
            <a:ext cx="2331720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FE/BE 기능 구현, 단위 테스트, 기술 이슈 해결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269950" y="3428851"/>
            <a:ext cx="2539901" cy="1269802"/>
          </a:xfrm>
          <a:prstGeom prst="roundRect">
            <a:avLst>
              <a:gd name="adj" fmla="val 8001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396901" y="3767138"/>
            <a:ext cx="23317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QA/DBA (한미영/오현우)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96901" y="4030563"/>
            <a:ext cx="2331720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관리, 통합 테스트 총괄, DB 설계 및 튜닝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7950" y="2158901"/>
            <a:ext cx="2539901" cy="1269802"/>
          </a:xfrm>
          <a:prstGeom prst="roundRect">
            <a:avLst>
              <a:gd name="adj" fmla="val 8001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34901" y="2497187"/>
            <a:ext cx="23317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PMO (이영희 과장)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4901" y="2760613"/>
            <a:ext cx="2331720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행정 지원, 산출물 품질 검토, 일정 관리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525000" cy="6349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69813"/>
            <a:ext cx="276193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프로젝트 마스터 일정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2286000"/>
            <a:ext cx="8127950" cy="50750"/>
          </a:xfrm>
          <a:prstGeom prst="rect">
            <a:avLst/>
          </a:prstGeom>
          <a:solidFill>
            <a:srgbClr val="E0E0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2184499"/>
            <a:ext cx="349151" cy="349151"/>
          </a:xfrm>
          <a:prstGeom prst="roundRect">
            <a:avLst>
              <a:gd name="adj" fmla="val 261892"/>
            </a:avLst>
          </a:prstGeom>
          <a:solidFill>
            <a:srgbClr val="1E5128"/>
          </a:solidFill>
          <a:ln w="47625">
            <a:solidFill>
              <a:srgbClr val="FFFFFF"/>
            </a:solidFill>
          </a:ln>
          <a:effectLst>
            <a:outerShdw sx="100000" sy="100000" kx="0" ky="0" algn="bl" rotWithShape="0" blurRad="50800" dist="254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4925" y="1787723"/>
            <a:ext cx="12953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- Feb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925" y="2549575"/>
            <a:ext cx="12953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착수 및 분석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-94565" y="2803624"/>
            <a:ext cx="1554480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킥오프, 환경구축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 정의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539901" y="2184499"/>
            <a:ext cx="349151" cy="349151"/>
          </a:xfrm>
          <a:prstGeom prst="roundRect">
            <a:avLst>
              <a:gd name="adj" fmla="val 261892"/>
            </a:avLst>
          </a:prstGeom>
          <a:solidFill>
            <a:srgbClr val="1E5128"/>
          </a:solidFill>
          <a:ln w="47625">
            <a:solidFill>
              <a:srgbClr val="FFFFFF"/>
            </a:solidFill>
          </a:ln>
          <a:effectLst>
            <a:outerShdw sx="100000" sy="100000" kx="0" ky="0" algn="bl" rotWithShape="0" blurRad="50800" dist="254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066876" y="1787723"/>
            <a:ext cx="12953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- May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066876" y="2549575"/>
            <a:ext cx="12953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37385" y="2803624"/>
            <a:ext cx="1554480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아키텍처/UI/DB 설계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설계서 확정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78301" y="2184499"/>
            <a:ext cx="349151" cy="349151"/>
          </a:xfrm>
          <a:prstGeom prst="roundRect">
            <a:avLst>
              <a:gd name="adj" fmla="val 261892"/>
            </a:avLst>
          </a:prstGeom>
          <a:solidFill>
            <a:srgbClr val="1E5128"/>
          </a:solidFill>
          <a:ln w="47625">
            <a:solidFill>
              <a:srgbClr val="FFFFFF"/>
            </a:solidFill>
          </a:ln>
          <a:effectLst>
            <a:outerShdw sx="100000" sy="100000" kx="0" ky="0" algn="bl" rotWithShape="0" blurRad="50800" dist="254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05276" y="1787723"/>
            <a:ext cx="12953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- Sep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05276" y="2549575"/>
            <a:ext cx="12953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75785" y="2803624"/>
            <a:ext cx="1554480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모듈 구현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단위 테스트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010251" y="2184499"/>
            <a:ext cx="349151" cy="349151"/>
          </a:xfrm>
          <a:prstGeom prst="roundRect">
            <a:avLst>
              <a:gd name="adj" fmla="val 261892"/>
            </a:avLst>
          </a:prstGeom>
          <a:solidFill>
            <a:srgbClr val="1E5128"/>
          </a:solidFill>
          <a:ln w="47625">
            <a:solidFill>
              <a:srgbClr val="FFFFFF"/>
            </a:solidFill>
          </a:ln>
          <a:effectLst>
            <a:outerShdw sx="100000" sy="100000" kx="0" ky="0" algn="bl" rotWithShape="0" blurRad="50800" dist="254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537226" y="1787723"/>
            <a:ext cx="12953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- Nov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37226" y="2549575"/>
            <a:ext cx="12953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7735" y="2803624"/>
            <a:ext cx="1554480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통합/성능 테스트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인수 테스트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35901" y="2184499"/>
            <a:ext cx="349151" cy="349151"/>
          </a:xfrm>
          <a:prstGeom prst="roundRect">
            <a:avLst>
              <a:gd name="adj" fmla="val 261892"/>
            </a:avLst>
          </a:prstGeom>
          <a:solidFill>
            <a:srgbClr val="1E5128"/>
          </a:solidFill>
          <a:ln w="47625">
            <a:solidFill>
              <a:srgbClr val="FFFFFF"/>
            </a:solidFill>
          </a:ln>
          <a:effectLst>
            <a:outerShdw sx="100000" sy="100000" kx="0" ky="0" algn="bl" rotWithShape="0" blurRad="50800" dist="254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162876" y="1787723"/>
            <a:ext cx="12953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162876" y="2549575"/>
            <a:ext cx="12953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오픈 및 안정화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033385" y="2803624"/>
            <a:ext cx="1554480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전환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이관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525000" cy="6349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69813"/>
            <a:ext cx="227615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 주요 산출물 목록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60350" y="1168301"/>
            <a:ext cx="100479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950244" y="1168301"/>
            <a:ext cx="205740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산출물명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72111" y="1168301"/>
            <a:ext cx="429561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내용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0350" y="1657201"/>
            <a:ext cx="10047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50244" y="1657201"/>
            <a:ext cx="205740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수행계획서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72111" y="1657201"/>
            <a:ext cx="42956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범위, 일정, 조직, 관리계획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0350" y="2120652"/>
            <a:ext cx="10047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950244" y="2120652"/>
            <a:ext cx="205740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요구사항정의서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72111" y="2120652"/>
            <a:ext cx="42956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기능/비기능 요구사항 상세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0350" y="2584103"/>
            <a:ext cx="10047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950244" y="2584103"/>
            <a:ext cx="205740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시스템설계서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72111" y="2584103"/>
            <a:ext cx="42956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아키텍처, DB, UI/UX 설계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0350" y="3047554"/>
            <a:ext cx="10047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950244" y="3047554"/>
            <a:ext cx="205740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소스코드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72111" y="3047554"/>
            <a:ext cx="42956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모듈별 프로그램 코드 및 주석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0350" y="3511004"/>
            <a:ext cx="10047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950244" y="3511004"/>
            <a:ext cx="205740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테스트결과서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272111" y="3511004"/>
            <a:ext cx="42956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통합/인수 테스트 시나리오 및 결과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0350" y="3974455"/>
            <a:ext cx="10047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950244" y="3974455"/>
            <a:ext cx="205740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완료보고서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272111" y="3974455"/>
            <a:ext cx="42956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9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수행 결과 및 운영 매뉴얼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43250" y="1916162"/>
            <a:ext cx="29146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173885" y="2874913"/>
            <a:ext cx="81215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D8E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52130" y="4426000"/>
            <a:ext cx="371253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(주)테크솔루션 | t-solutions.com | 02-123-4567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2026-01-08T00:26:44Z</dcterms:created>
  <dcterms:modified xsi:type="dcterms:W3CDTF">2026-01-08T00:26:44Z</dcterms:modified>
</cp:coreProperties>
</file>