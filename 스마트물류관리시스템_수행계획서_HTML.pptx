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907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7200" cy="108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520000"/>
            <a:ext cx="57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452"/>
                </a:solidFill>
              </a:defRPr>
            </a:pPr>
            <a:r>
              <a:t>스마트 물류관리 시스템 구축</a:t>
            </a:r>
            <a:br/>
            <a:r>
              <a:t>수행계획서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320000"/>
            <a:ext cx="57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(주)테크솔루션 I 2025.01.03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47200" y="0"/>
            <a:ext cx="2160000" cy="6858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452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160000"/>
            <a:ext cx="7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51F2A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0000" y="2160000"/>
            <a:ext cx="43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216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03-05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880000"/>
            <a:ext cx="7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51F2A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0" y="2880000"/>
            <a:ext cx="43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추진 전략 및 기술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288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06-07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600000"/>
            <a:ext cx="7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51F2A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3600000"/>
            <a:ext cx="43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프로젝트 조직 및 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360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08-11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320000"/>
            <a:ext cx="7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51F2A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4320000"/>
            <a:ext cx="43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품질·보안·위험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0" y="432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12-15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5040000"/>
            <a:ext cx="7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51F2A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5040000"/>
            <a:ext cx="432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의사소통 및 협조 요청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0" y="5040000"/>
            <a:ext cx="10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16-17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글로벌물류의 차세대 스마트 물류관리 시스템 구축 프로젝트입니다.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1600" y="1800000"/>
            <a:ext cx="1980000" cy="14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1600" y="1800000"/>
            <a:ext cx="1980000" cy="54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600" y="198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발주기관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600" y="2232000"/>
            <a:ext cx="176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(주)글로벌물류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00" y="270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국내 Top 5 물류기업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9600" y="1800000"/>
            <a:ext cx="1980000" cy="14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29600" y="1800000"/>
            <a:ext cx="1980000" cy="54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7600" y="198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수행사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0" y="2232000"/>
            <a:ext cx="176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(주)테크솔루션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7600" y="270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SI 전문기업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7600" y="1800000"/>
            <a:ext cx="1980000" cy="14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97600" y="1800000"/>
            <a:ext cx="1980000" cy="54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5600" y="198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계약금액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5600" y="2232000"/>
            <a:ext cx="176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15억원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5600" y="270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VAT 별도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5599" y="1800000"/>
            <a:ext cx="1980000" cy="14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5599" y="1800000"/>
            <a:ext cx="1980000" cy="5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3599" y="198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계약기간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3599" y="2232000"/>
            <a:ext cx="176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12개월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3599" y="270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2025.01 ~ 2025.12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레거시 시스템의 한계를 극복하고 AI 기반 스마트 물류 시스템으로 전환합니다.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599" y="1800000"/>
            <a:ext cx="3600000" cy="25200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3599" y="1980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현황 (As-Is)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3599" y="2340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10년 이상 운영된 레거시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3599" y="2628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처리 속도 저하로 물동량 대응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3599" y="2916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실시간 재고 파악 불가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3599" y="3204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타 시스템 연동 한계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01599" y="2951999"/>
            <a:ext cx="503999" cy="216000"/>
          </a:xfrm>
          <a:prstGeom prst="rightArrow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13599" y="1800000"/>
            <a:ext cx="3600000" cy="2520000"/>
          </a:xfrm>
          <a:prstGeom prst="roundRect">
            <a:avLst/>
          </a:prstGeom>
          <a:solidFill>
            <a:srgbClr val="F0FFF4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3599" y="1980000"/>
            <a:ext cx="32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목표 (To-Be)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3599" y="2340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AI 기반 물류 최적화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3599" y="2628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실시간 재고/배송 추적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599" y="2916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클라우드 기반 확장성 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3599" y="32040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통합 API 연동 체계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1.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WMS, TMS, OMS, Dashboard 4개 핵심 시스템을 구축합니다.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800000"/>
            <a:ext cx="8827200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908000"/>
            <a:ext cx="1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452"/>
                </a:solidFill>
              </a:defRPr>
            </a:pPr>
            <a:r>
              <a:t>사용자 인터페이스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0000" y="2088000"/>
            <a:ext cx="3405599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통합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13600" y="2088000"/>
            <a:ext cx="3405599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모바일 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2880000"/>
            <a:ext cx="8827200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988000"/>
            <a:ext cx="1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6580"/>
                </a:solidFill>
              </a:defRPr>
            </a:pPr>
            <a:r>
              <a:t>핵심 시스템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0000" y="3168000"/>
            <a:ext cx="22344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WMS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42400" y="3168000"/>
            <a:ext cx="22344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TMS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4800" y="3168000"/>
            <a:ext cx="22344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OMS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960000"/>
            <a:ext cx="8827200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4068000"/>
            <a:ext cx="1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7D0D4"/>
                </a:solidFill>
              </a:defRPr>
            </a:pPr>
            <a:r>
              <a:t>외부 연동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0" y="4248000"/>
            <a:ext cx="22344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B7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ERP 인터페이스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2400" y="4248000"/>
            <a:ext cx="22344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B7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회계 시스템 I/F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4800" y="4248000"/>
            <a:ext cx="22344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B7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HR 시스템 I/F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2. 추진 전략 및 기술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안정적 전환과 혁신적 기능 구현의 균형을 추구하는 Agile-Waterfall 하이브리드 방법론을 적용합니다.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800000"/>
            <a:ext cx="28224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800000"/>
            <a:ext cx="54000" cy="144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980000"/>
            <a:ext cx="25344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452"/>
                </a:solidFill>
              </a:defRPr>
            </a:pPr>
            <a:r>
              <a:t>단계적 전환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268000"/>
            <a:ext cx="2534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Big Bang 방식이 아닌 모듈별 순차 전환으로 리스크 최소화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2400" y="1800000"/>
            <a:ext cx="28224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2400" y="1800000"/>
            <a:ext cx="54000" cy="144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2400" y="1980000"/>
            <a:ext cx="25344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452"/>
                </a:solidFill>
              </a:defRPr>
            </a:pPr>
            <a:r>
              <a:t>애자일 기반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2400" y="2268000"/>
            <a:ext cx="2534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2주 단위 스프린트로 빠른 피드백과 유연한 대응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4800" y="1800000"/>
            <a:ext cx="28224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4800" y="1800000"/>
            <a:ext cx="54000" cy="144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800" y="1980000"/>
            <a:ext cx="25344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452"/>
                </a:solidFill>
              </a:defRPr>
            </a:pPr>
            <a:r>
              <a:t>현업 밀착 협업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800" y="2268000"/>
            <a:ext cx="2534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주 2회 현업 리뷰를 통한 요구사항 정합성 확보</a:t>
            </a:r>
          </a:p>
        </p:txBody>
      </p:sp>
      <p:sp>
        <p:nvSpPr>
          <p:cNvPr id="18" name="Oval 17"/>
          <p:cNvSpPr/>
          <p:nvPr/>
        </p:nvSpPr>
        <p:spPr>
          <a:xfrm>
            <a:off x="2703600" y="1800000"/>
            <a:ext cx="720000" cy="7200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3600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요구사항, 현행분석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495599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63600" y="1800000"/>
            <a:ext cx="720000" cy="7200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3600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아키텍처/UI/DB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755600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23600" y="1800000"/>
            <a:ext cx="720000" cy="72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개발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3600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기능구현, 단위테스트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15599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83599" y="1800000"/>
            <a:ext cx="720000" cy="72000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테스트/이행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3599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통합/인수테스트, 전환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2. 추진 전략 및 기술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Vue.js, Spring Boot, AWS 기반의 클라우드 네이티브 MSA 아키텍처를 적용합니다.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800000"/>
          <a:ext cx="88272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440"/>
                <a:gridCol w="1765440"/>
                <a:gridCol w="1765440"/>
                <a:gridCol w="1765440"/>
                <a:gridCol w="1765440"/>
              </a:tblGrid>
              <a:tr h="28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기술/제품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라이선스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Vue.js 3, TypeScript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SPA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Spring Boot, Java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3.2 / 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Apache 2.0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MSA 구조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PostgreSQL, 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16 /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PostgreSQL / BSD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RDBMS +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Infra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AWS (EKS, RDS, S3)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클라우드 네이티브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AI/ML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Python, TensorFlow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3.11 / 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PSF / Apache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수요예측, 경로최적화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3. 프로젝트 조직 및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발주기관과 수행사 간 명확한 역할 분담으로 프로젝트를 성공적으로 수행합니다.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3600" y="1800000"/>
            <a:ext cx="1260000" cy="54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프로젝트 스폰서</a:t>
            </a:r>
            <a:br/>
            <a:r>
              <a:t>박지성 사업본부장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3600" y="2700000"/>
            <a:ext cx="1260000" cy="540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발주기관 PM</a:t>
            </a:r>
            <a:br/>
            <a:r>
              <a:t>정민호 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3600" y="2700000"/>
            <a:ext cx="1260000" cy="540000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수행사 PM</a:t>
            </a:r>
            <a:br/>
            <a:r>
              <a:t>김철수 차장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3. 프로젝트 조직 및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총 8명, 78MM 규모의 전문 인력을 투입하여 프로젝트를 수행합니다.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800000"/>
          <a:ext cx="88272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440"/>
                <a:gridCol w="1765440"/>
                <a:gridCol w="1765440"/>
                <a:gridCol w="1765440"/>
                <a:gridCol w="1765440"/>
              </a:tblGrid>
              <a:tr h="28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분야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등급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성명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투입기간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특급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김철수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12개월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설계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특급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박준형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10개월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고급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최수진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12개월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고급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임동현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10개월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강서연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10개월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윤재호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10개월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고급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오현우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8개월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테스트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한미영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6개월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695599" y="1800000"/>
            <a:ext cx="1980000" cy="14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5599" y="1800000"/>
            <a:ext cx="1980000" cy="54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3599" y="198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투입 인원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3599" y="2232000"/>
            <a:ext cx="176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8명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63598" y="1800000"/>
            <a:ext cx="1980000" cy="14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63598" y="1800000"/>
            <a:ext cx="1980000" cy="54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71598" y="198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총 공수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1598" y="2232000"/>
            <a:ext cx="176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78MM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599" y="1800000"/>
            <a:ext cx="1980000" cy="144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1599" y="1800000"/>
            <a:ext cx="1980000" cy="54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9599" y="198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특급 인력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99" y="2232000"/>
            <a:ext cx="176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2명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599" y="2700000"/>
            <a:ext cx="17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PM, 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3. 프로젝트 조직 및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2025년 1월 착수부터 12월 안정화까지 6단계로 체계적으로 추진합니다.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1월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56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2월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12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3월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799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4월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4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5월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80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6월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6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7월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92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8월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48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9월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04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10월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60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11월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600" y="1800000"/>
            <a:ext cx="675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12월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2088000"/>
            <a:ext cx="10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착수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000" y="2088000"/>
            <a:ext cx="675600" cy="216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4주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376000"/>
            <a:ext cx="10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분석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75600" y="2376000"/>
            <a:ext cx="1351200" cy="21600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8주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2664000"/>
            <a:ext cx="10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설계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799" y="2664000"/>
            <a:ext cx="1351200" cy="216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8주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2951999"/>
            <a:ext cx="10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개발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8000" y="2951999"/>
            <a:ext cx="2702400" cy="21600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16주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3240000"/>
            <a:ext cx="10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테스트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80400" y="3240000"/>
            <a:ext cx="1351200" cy="216000"/>
          </a:xfrm>
          <a:prstGeom prst="roundRect">
            <a:avLst/>
          </a:prstGeom>
          <a:solidFill>
            <a:srgbClr val="D55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6주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528000"/>
            <a:ext cx="108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이행/안정화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56000" y="3528000"/>
            <a:ext cx="1351200" cy="216000"/>
          </a:xfrm>
          <a:prstGeom prst="round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6주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3. 프로젝트 조직 및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6개 핵심 마일스톤을 통해 프로젝트 진행 상황을 체계적으로 관리합니다.</a:t>
            </a:r>
          </a:p>
        </p:txBody>
      </p:sp>
      <p:sp>
        <p:nvSpPr>
          <p:cNvPr id="6" name="Oval 5"/>
          <p:cNvSpPr/>
          <p:nvPr/>
        </p:nvSpPr>
        <p:spPr>
          <a:xfrm>
            <a:off x="1443600" y="1800000"/>
            <a:ext cx="720000" cy="7200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3600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착수보고 2025-01-10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35600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03600" y="1800000"/>
            <a:ext cx="720000" cy="7200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600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요구사항 확정 2025-03-31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95599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63600" y="1800000"/>
            <a:ext cx="720000" cy="72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3600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설계 완료 2025-05-31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5600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23600" y="1800000"/>
            <a:ext cx="720000" cy="72000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3600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개발 완료 2025-09-30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15599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83599" y="1800000"/>
            <a:ext cx="720000" cy="720000"/>
          </a:xfrm>
          <a:prstGeom prst="ellipse">
            <a:avLst/>
          </a:prstGeom>
          <a:solidFill>
            <a:srgbClr val="D55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3599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테스트 완료 2025-11-15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275598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43599" y="1800000"/>
            <a:ext cx="720000" cy="720000"/>
          </a:xfrm>
          <a:prstGeom prst="ellipse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3599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시스템 오픈 2025-12-01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0000" y="1800000"/>
          <a:ext cx="8827200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2400"/>
                <a:gridCol w="2942400"/>
                <a:gridCol w="2942400"/>
              </a:tblGrid>
              <a:tr h="28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마일스톤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예정일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주요 산출물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M1 착수보고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2025-01-10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수행계획서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M2 요구사항 확정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2025-03-31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요구사항정의서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M3 설계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2025-05-31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설계서 일체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M4 개발 완료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2025-09-30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소스코드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M5 테스트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2025-11-15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테스트결과서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M6 시스템 오픈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2025-12-01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오픈보고서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4. 품질·보안·위험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단계별 산출물 관리와 품질 보증 활동을 통해 프로젝트 품질을 확보합니다.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800000"/>
          <a:ext cx="8827200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440"/>
                <a:gridCol w="1765440"/>
                <a:gridCol w="1765440"/>
                <a:gridCol w="1765440"/>
                <a:gridCol w="1765440"/>
              </a:tblGrid>
              <a:tr h="28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산출물명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작성시기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승인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착수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착수보고서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착수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스폰서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착수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수행계획서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착수 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스폰서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요구사항정의서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분석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발주PM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분석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현행시스템분석서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분석 완료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발주PM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아키텍처설계서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설계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발주PM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설계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데이터베이스설계서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DBA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설계 완료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발주PM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소스코드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개발팀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개발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테스트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통합테스트결과서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테스트 완료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이행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운영자매뉴얼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이행 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발주PM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완료보고서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종료 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스폰서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4. 품질·보안·위험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다층적 품질 보증 활동과 엄격한 보안 관리 체계를 적용합니다.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800000"/>
            <a:ext cx="4233600" cy="288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800000"/>
            <a:ext cx="4233600" cy="36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872000"/>
            <a:ext cx="3873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품질 보증 활동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268000"/>
            <a:ext cx="38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산출물 검토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448000"/>
            <a:ext cx="38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단계별 발주 담당자 검토 및 승인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700000"/>
            <a:ext cx="38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코드 리뷰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880000"/>
            <a:ext cx="38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GitHub PR 필수, 2인 이상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131999"/>
            <a:ext cx="38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정적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311999"/>
            <a:ext cx="38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SonarQube 품질 게이트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563999"/>
            <a:ext cx="38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테스트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743999"/>
            <a:ext cx="38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시나리오 기반 통합/인수 테스트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3600" y="1800000"/>
            <a:ext cx="4233600" cy="2880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3600" y="1800000"/>
            <a:ext cx="4233600" cy="36000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3600" y="1872000"/>
            <a:ext cx="3873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보안 관리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3600" y="2268000"/>
            <a:ext cx="38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인적 보안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3600" y="2448000"/>
            <a:ext cx="38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보안서약서, 보안 교육 실시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3600" y="2700000"/>
            <a:ext cx="38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물리 보안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3600" y="2880000"/>
            <a:ext cx="38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통제구역 출입, 반입 장비 통제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3600" y="3131999"/>
            <a:ext cx="38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기술 보안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3600" y="3311999"/>
            <a:ext cx="38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OWASP Top 10, DB 암호화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3600" y="3563999"/>
            <a:ext cx="3873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PC 보안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3600" y="3743999"/>
            <a:ext cx="38736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백신, 화면보호기, DLP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4. 품질·보안·위험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5대 핵심 위험을 식별하고 선제적 대응 방안을 수립합니다.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800000"/>
          <a:ext cx="88272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200"/>
                <a:gridCol w="1471200"/>
                <a:gridCol w="1471200"/>
                <a:gridCol w="1471200"/>
                <a:gridCol w="1471200"/>
                <a:gridCol w="1471200"/>
              </a:tblGrid>
              <a:tr h="28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위험 요소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영향도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발생확률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대응 방안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요구사항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CCB 통제, 영향도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일정 지연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주간 진척관리, CP 모니터링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기술적 난제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PoC 선행, 전문가 자문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인력 이탈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대체 인력 풀, 문서화 강화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데이터 마이그레이션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사전 검증, 롤백 계획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1800000"/>
          <a:ext cx="88272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200"/>
                <a:gridCol w="1471200"/>
                <a:gridCol w="1471200"/>
                <a:gridCol w="1471200"/>
                <a:gridCol w="1471200"/>
                <a:gridCol w="1471200"/>
              </a:tblGrid>
              <a:tr h="28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위험 요소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영향도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발생확률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대응 방안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요구사항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CCB 통제, 영향도 분석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일정 지연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주간 진척관리, CP 집중 모니터링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기술적 난제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PoC 선행, 외부 전문가 자문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인력 이탈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대체 인력 풀 확보, 기술 문서화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데이터 마이그레이션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사전 검증, 롤백 계획 수립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4. 품질·보안·위험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변경 요청부터 이행까지 4단계 변경 통제 절차를 운영합니다.</a:t>
            </a:r>
          </a:p>
        </p:txBody>
      </p:sp>
      <p:sp>
        <p:nvSpPr>
          <p:cNvPr id="6" name="Oval 5"/>
          <p:cNvSpPr/>
          <p:nvPr/>
        </p:nvSpPr>
        <p:spPr>
          <a:xfrm>
            <a:off x="2703600" y="1800000"/>
            <a:ext cx="720000" cy="7200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변경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3600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변경요청서(CR) 접수 Jira 티켓 등록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95599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63600" y="1800000"/>
            <a:ext cx="720000" cy="7200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영향도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600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일정/비용/품질 영향 분석 (3일 내)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5600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23600" y="1800000"/>
            <a:ext cx="720000" cy="72000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승인/반려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3600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협의체(CCB) 의사결정 (주 1회)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15599" y="2106000"/>
            <a:ext cx="396000" cy="10800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3599" y="1800000"/>
            <a:ext cx="720000" cy="72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변경 이행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3599" y="26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승인된 변경사항 반영 산출물 현행화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5. 의사소통 및 협조 요청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일일/주간/월간 보고 체계와 스프린트 리뷰를 통해 원활한 커뮤니케이션을 유지합니다.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800000"/>
          <a:ext cx="88272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800"/>
                <a:gridCol w="2206800"/>
                <a:gridCol w="2206800"/>
                <a:gridCol w="2206800"/>
              </a:tblGrid>
              <a:tr h="28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주기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참석 대상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주요 내용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일일 스탠드업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매일 09:30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개발팀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진행 현황, 블로커 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주간보고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매주 금 14:00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PM, 발주PM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주간 실적/계획, 이슈 공유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월간보고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매월 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경영진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마일스톤 점검, 리스크 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스프린트 리뷰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격주 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전체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데모, 피드백 수렴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0000" y="1800000"/>
            <a:ext cx="21168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800000"/>
            <a:ext cx="54000" cy="1440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980000"/>
            <a:ext cx="18288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452"/>
                </a:solidFill>
              </a:defRPr>
            </a:pPr>
            <a:r>
              <a:t>일일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268000"/>
            <a:ext cx="1828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개발팀 스탠드업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6800" y="1800000"/>
            <a:ext cx="21168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6800" y="1800000"/>
            <a:ext cx="54000" cy="144000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6800" y="1980000"/>
            <a:ext cx="18288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452"/>
                </a:solidFill>
              </a:defRPr>
            </a:pPr>
            <a:r>
              <a:t>주간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6800" y="2268000"/>
            <a:ext cx="1828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PM 진행 보고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73600" y="1800000"/>
            <a:ext cx="21168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73600" y="1800000"/>
            <a:ext cx="54000" cy="144000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3600" y="1980000"/>
            <a:ext cx="18288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452"/>
                </a:solidFill>
              </a:defRPr>
            </a:pPr>
            <a:r>
              <a:t>월간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600" y="2268000"/>
            <a:ext cx="1828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경영진 보고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90400" y="1800000"/>
            <a:ext cx="21168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90400" y="1800000"/>
            <a:ext cx="54000" cy="144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70400" y="1980000"/>
            <a:ext cx="18288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452"/>
                </a:solidFill>
              </a:defRPr>
            </a:pPr>
            <a:r>
              <a:t>격주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0400" y="2268000"/>
            <a:ext cx="1828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스프린트 리뷰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900000"/>
            <a:ext cx="9187200" cy="1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452"/>
                </a:solidFill>
              </a:defRPr>
            </a:pPr>
            <a:r>
              <a:t>5. 의사소통 및 협조 요청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72000"/>
            <a:ext cx="9907200" cy="64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918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프로젝트 성공을 위해 발주기관의 적극적인 협조를 요청드립니다.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800000"/>
            <a:ext cx="54000" cy="216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88272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프로젝트 환경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160000"/>
            <a:ext cx="8467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프로젝트 룸 (10석 규모), 네트워크(VPN), 출입증 발급 - 착수 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448000"/>
            <a:ext cx="54000" cy="216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2448000"/>
            <a:ext cx="88272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데이터 및 인프라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808000"/>
            <a:ext cx="8467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테스트용 샘플 데이터 제공 (개인정보 비식별화 필수) - 설계/개발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096000"/>
            <a:ext cx="8467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AWS 계정 및 권한 부여 (개발/스테이징/운영 환경) - 착수 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384000"/>
            <a:ext cx="54000" cy="216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3384000"/>
            <a:ext cx="88272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t>현업 참여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744000"/>
            <a:ext cx="8467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요구사항 인터뷰 참여 - 분석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032000"/>
            <a:ext cx="8467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• UAT(사용자 인수 테스트) 지원 - 테스트 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498000"/>
            <a:ext cx="18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TECH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7200" y="649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888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