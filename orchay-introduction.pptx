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10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2200000"/>
            <a:ext cx="6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2452"/>
                </a:solidFill>
                <a:latin typeface="본고딕"/>
              </a:defRPr>
            </a:pPr>
            <a:r>
              <a:t>orchay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3500000"/>
            <a:ext cx="6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본고딕"/>
              </a:defRPr>
            </a:pPr>
            <a:r>
              <a:t>orchestration + okay</a:t>
            </a:r>
            <a:br/>
            <a:br/>
            <a:r>
              <a:t>WezTerm 기반 AI 개발 자동화 스케줄러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AI 코딩 어시스턴트, 왜 아직도 한 번에 하나씩?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064" y="1350000"/>
            <a:ext cx="4630275" cy="1000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0064" y="1350000"/>
            <a:ext cx="57150" cy="100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64" y="15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51F2A"/>
                </a:solidFill>
                <a:latin typeface="본고딕"/>
              </a:defRPr>
            </a:pPr>
            <a:r>
              <a:t>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064" y="1550000"/>
            <a:ext cx="388027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단일 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064" y="1850000"/>
            <a:ext cx="388027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본고딕"/>
              </a:defRPr>
            </a:pPr>
            <a:r>
              <a:t>한 번에 하나의 Task만 처리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339" y="1350000"/>
            <a:ext cx="4630275" cy="1000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00339" y="1350000"/>
            <a:ext cx="57150" cy="1000000"/>
          </a:xfrm>
          <a:prstGeom prst="rect">
            <a:avLst/>
          </a:prstGeom>
          <a:solidFill>
            <a:srgbClr val="D55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0339" y="15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55633"/>
                </a:solidFill>
                <a:latin typeface="본고딕"/>
              </a:defRPr>
            </a:pPr>
            <a:r>
              <a:t>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339" y="1550000"/>
            <a:ext cx="388027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수동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339" y="1850000"/>
            <a:ext cx="388027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본고딕"/>
              </a:defRPr>
            </a:pPr>
            <a:r>
              <a:t>개발자가 직접 Task를 할당하고 모니터링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064" y="2450000"/>
            <a:ext cx="4630275" cy="1000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0064" y="2450000"/>
            <a:ext cx="57150" cy="100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064" y="26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9B86E"/>
                </a:solidFill>
                <a:latin typeface="본고딕"/>
              </a:defRPr>
            </a:pPr>
            <a:r>
              <a:t>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064" y="2650000"/>
            <a:ext cx="388027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컨텍스트 손실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064" y="2950000"/>
            <a:ext cx="388027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본고딕"/>
              </a:defRPr>
            </a:pPr>
            <a:r>
              <a:t>Task 전환 시 이전 작업 맥락 유실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0339" y="2450000"/>
            <a:ext cx="4630275" cy="1000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0339" y="2450000"/>
            <a:ext cx="57150" cy="100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0339" y="26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6580"/>
                </a:solidFill>
                <a:latin typeface="본고딕"/>
              </a:defRPr>
            </a:pPr>
            <a:r>
              <a:t>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339" y="2650000"/>
            <a:ext cx="388027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비효율성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339" y="2950000"/>
            <a:ext cx="388027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본고딕"/>
              </a:defRPr>
            </a:pPr>
            <a:r>
              <a:t>대기 시간 동안 다른 작업 불가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0064" y="3750000"/>
            <a:ext cx="8860550" cy="80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064" y="38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latin typeface="본고딕"/>
              </a:defRPr>
            </a:pPr>
            <a: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0064" y="3900000"/>
            <a:ext cx="821055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2452"/>
                </a:solidFill>
                <a:latin typeface="본고딕"/>
              </a:defRPr>
            </a:pPr>
            <a:r>
              <a:t>여러 AI Worker에게 Task를 자동으로 분배하고</a:t>
            </a:r>
            <a:br/>
            <a:r>
              <a:t>진행 상황을 모니터링하는 오케스트레이터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orchay 소개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WBS(Work Breakdown Structure) 기반 Task 스케줄러로 AI 개발을 자동화합니다.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064" y="1350000"/>
            <a:ext cx="2265137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0064" y="1350000"/>
            <a:ext cx="57150" cy="140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064" y="14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2452"/>
                </a:solidFill>
                <a:latin typeface="본고딕"/>
              </a:defRPr>
            </a:pPr>
            <a:r>
              <a:t>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214" y="1850000"/>
            <a:ext cx="20579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WBS 파싱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214" y="2150000"/>
            <a:ext cx="2057987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본고딕"/>
              </a:defRPr>
            </a:pPr>
            <a:r>
              <a:t>wbs.yaml 파일에서</a:t>
            </a:r>
            <a:br/>
            <a:r>
              <a:t>Task 목록 추출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5201" y="1350000"/>
            <a:ext cx="2265137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5201" y="1350000"/>
            <a:ext cx="57150" cy="140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201" y="14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51F2A"/>
                </a:solidFill>
                <a:latin typeface="본고딕"/>
              </a:defRPr>
            </a:pPr>
            <a:r>
              <a:t>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2351" y="1850000"/>
            <a:ext cx="20579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자동 분배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2351" y="2150000"/>
            <a:ext cx="2057987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본고딕"/>
              </a:defRPr>
            </a:pPr>
            <a:r>
              <a:t>여러 Claude Code</a:t>
            </a:r>
            <a:br/>
            <a:r>
              <a:t>Worker에 분배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0338" y="1350000"/>
            <a:ext cx="2265137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0338" y="1350000"/>
            <a:ext cx="57150" cy="140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0338" y="14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6580"/>
                </a:solidFill>
                <a:latin typeface="본고딕"/>
              </a:defRPr>
            </a:pPr>
            <a:r>
              <a:t>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488" y="1850000"/>
            <a:ext cx="20579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실시간 모니터링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488" y="2150000"/>
            <a:ext cx="2057987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본고딕"/>
              </a:defRPr>
            </a:pPr>
            <a:r>
              <a:t>진행 상황</a:t>
            </a:r>
            <a:br/>
            <a:r>
              <a:t>실시간 추적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5475" y="1350000"/>
            <a:ext cx="2265137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5475" y="1350000"/>
            <a:ext cx="57150" cy="140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5475" y="14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9B86E"/>
                </a:solidFill>
                <a:latin typeface="본고딕"/>
              </a:defRPr>
            </a:pPr>
            <a:r>
              <a:t>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2625" y="1850000"/>
            <a:ext cx="20579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자동 워크플로우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2625" y="2150000"/>
            <a:ext cx="2057987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본고딕"/>
              </a:defRPr>
            </a:pPr>
            <a:r>
              <a:t>상태 전이</a:t>
            </a:r>
            <a:br/>
            <a:r>
              <a:t>자동 실행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70064" y="2950000"/>
          <a:ext cx="936055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183"/>
                <a:gridCol w="3120183"/>
                <a:gridCol w="3120184"/>
              </a:tblGrid>
              <a:tr h="200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기존 방식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orchay 방식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동시 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1명이 1개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N명이 N개 Task 병렬 처리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Task 할당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수동 Task 할당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자동 Task 분배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상태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수동 상태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자동 워크플로우 실행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작동 원리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WBS 파일에서 Task를 추출하여 여러 AI Worker에게 자동으로 분배합니다.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50339" y="1350000"/>
            <a:ext cx="1600000" cy="1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50339" y="1350000"/>
            <a:ext cx="57150" cy="100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0339" y="150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452"/>
                </a:solidFill>
                <a:latin typeface="본고딕"/>
              </a:defRPr>
            </a:pPr>
            <a:r>
              <a:t>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0339" y="185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wbs.yaml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0339" y="210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Task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0339" y="1750000"/>
            <a:ext cx="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57575"/>
                </a:solidFill>
                <a:latin typeface="본고딕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50339" y="1350000"/>
            <a:ext cx="1600000" cy="1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50339" y="1350000"/>
            <a:ext cx="57150" cy="100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0339" y="150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51F2A"/>
                </a:solidFill>
                <a:latin typeface="본고딕"/>
              </a:defRPr>
            </a:pPr>
            <a:r>
              <a:t>HU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0339" y="185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orchay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0339" y="210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스케줄러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0339" y="1750000"/>
            <a:ext cx="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57575"/>
                </a:solidFill>
                <a:latin typeface="본고딕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0339" y="1350000"/>
            <a:ext cx="1600000" cy="1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339" y="1350000"/>
            <a:ext cx="57150" cy="100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0339" y="150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B6580"/>
                </a:solidFill>
                <a:latin typeface="본고딕"/>
              </a:defRPr>
            </a:pPr>
            <a:r>
              <a:t>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0339" y="185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Claude Workers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0339" y="210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AI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0064" y="2550000"/>
            <a:ext cx="9360550" cy="18000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0064" y="2550000"/>
            <a:ext cx="9360550" cy="25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0064" y="2625000"/>
            <a:ext cx="100000" cy="1000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0064" y="2625000"/>
            <a:ext cx="100000" cy="100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0064" y="2625000"/>
            <a:ext cx="100000" cy="1000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064" y="2600000"/>
            <a:ext cx="83605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본고딕"/>
              </a:defRPr>
            </a:pPr>
            <a:r>
              <a:t>WezTerm Layout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64" y="2850000"/>
            <a:ext cx="3241192" cy="1450000"/>
          </a:xfrm>
          <a:prstGeom prst="rect">
            <a:avLst/>
          </a:prstGeom>
          <a:solidFill>
            <a:srgbClr val="1E1E1E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64" y="3475000"/>
            <a:ext cx="3241192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본고딕"/>
              </a:defRPr>
            </a:pPr>
            <a:r>
              <a:t>Scheduler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81256" y="2850000"/>
            <a:ext cx="2000278" cy="1450000"/>
          </a:xfrm>
          <a:prstGeom prst="rect">
            <a:avLst/>
          </a:prstGeom>
          <a:solidFill>
            <a:srgbClr val="1E1E1E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1256" y="3475000"/>
            <a:ext cx="2000278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본고딕"/>
              </a:defRPr>
            </a:pPr>
            <a:r>
              <a:t>Worker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01534" y="2850000"/>
            <a:ext cx="2000278" cy="1450000"/>
          </a:xfrm>
          <a:prstGeom prst="rect">
            <a:avLst/>
          </a:prstGeom>
          <a:solidFill>
            <a:srgbClr val="1E1E1E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1534" y="3475000"/>
            <a:ext cx="2000278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본고딕"/>
              </a:defRPr>
            </a:pPr>
            <a:r>
              <a:t>Worker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1812" y="2850000"/>
            <a:ext cx="2000278" cy="1450000"/>
          </a:xfrm>
          <a:prstGeom prst="rect">
            <a:avLst/>
          </a:prstGeom>
          <a:solidFill>
            <a:srgbClr val="1E1E1E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1812" y="3475000"/>
            <a:ext cx="2000278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본고딕"/>
              </a:defRPr>
            </a:pPr>
            <a:r>
              <a:t>Worker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핵심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WBS 파싱부터 Worker 상태 감지까지, 자동화된 Task 관리를 제공합니다.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064" y="1350000"/>
            <a:ext cx="5200000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064" y="143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452"/>
                </a:solidFill>
                <a:latin typeface="본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064" y="145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WBS 파싱 &amp; 모니터링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064" y="1750000"/>
            <a:ext cx="4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• YAML 형식의 wbs.yaml 파일 실시간 감시</a:t>
            </a:r>
            <a:br/>
            <a:r>
              <a:t>• Task 정보 자동 추출 (ID, 상태, 우선순위, 의존성)</a:t>
            </a:r>
            <a:br/>
            <a:r>
              <a:t>• 파일 변경 시 즉시 반영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064" y="2630000"/>
            <a:ext cx="5200000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064" y="271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1F2A"/>
                </a:solidFill>
                <a:latin typeface="본고딕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064" y="273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지능형 Task 분배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064" y="3030000"/>
            <a:ext cx="4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• 우선순위 기반: critical &gt; high &gt; medium &gt; low</a:t>
            </a:r>
            <a:br/>
            <a:r>
              <a:t>• 의존성 검사: 선행 Task 완료 여부 확인</a:t>
            </a:r>
            <a:br/>
            <a:r>
              <a:t>• 상태 기반 필터링: 실행 가능 Task만 선별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64" y="3910000"/>
            <a:ext cx="5200000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064" y="399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B6580"/>
                </a:solidFill>
                <a:latin typeface="본고딕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064" y="401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Worker 상태 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064" y="4310000"/>
            <a:ext cx="4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• idle, busy, done, paused, error 5가지 상태</a:t>
            </a:r>
            <a:br/>
            <a:r>
              <a:t>• 실시간 상태 모니터링</a:t>
            </a:r>
            <a:br/>
            <a:r>
              <a:t>• 자동 Task 재할당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0614" y="125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Worker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30614" y="1550000"/>
            <a:ext cx="600000" cy="2800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0614" y="160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idle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0614" y="1600000"/>
            <a:ext cx="30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작업 대기 중 (새 Task 할당 가능)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0614" y="1900000"/>
            <a:ext cx="600000" cy="28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0614" y="195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busy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0614" y="1950000"/>
            <a:ext cx="30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작업 실행 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0614" y="2250000"/>
            <a:ext cx="600000" cy="28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0614" y="230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614" y="2300000"/>
            <a:ext cx="30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작업 완료 (신호 수신)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30614" y="2600000"/>
            <a:ext cx="600000" cy="2800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80614" y="265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paused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0614" y="2650000"/>
            <a:ext cx="30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일시 정지 (rate limit 등)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30614" y="2950000"/>
            <a:ext cx="600000" cy="28000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80614" y="300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0614" y="3000000"/>
            <a:ext cx="30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오류 발생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워크플로우 명령어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Slash 명령어 기반으로 설계부터 완료까지 전체 워크플로우를 자동화합니다.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64" y="1350000"/>
            <a:ext cx="57150" cy="84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064" y="1350000"/>
            <a:ext cx="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452"/>
                </a:solidFill>
                <a:latin typeface="본고딕"/>
              </a:defRPr>
            </a:pPr>
            <a:r>
              <a:t>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064" y="135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452"/>
                </a:solidFill>
                <a:latin typeface="Consolas"/>
              </a:defRPr>
            </a:pPr>
            <a:r>
              <a:t>/wf:start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064" y="1350000"/>
            <a:ext cx="3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PRD 분석 → 설계 문서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064" y="163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452"/>
                </a:solidFill>
                <a:latin typeface="Consolas"/>
              </a:defRPr>
            </a:pPr>
            <a:r>
              <a:t>/wf:review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064" y="1630000"/>
            <a:ext cx="3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3개 관점 병렬 리뷰 (아키텍처/보안/품질)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064" y="191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452"/>
                </a:solidFill>
                <a:latin typeface="Consolas"/>
              </a:defRPr>
            </a:pPr>
            <a:r>
              <a:t>/wf:apply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064" y="1910000"/>
            <a:ext cx="3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리뷰 지적사항 선택적 적용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064" y="2190000"/>
            <a:ext cx="57150" cy="84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064" y="2190000"/>
            <a:ext cx="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1F2A"/>
                </a:solidFill>
                <a:latin typeface="본고딕"/>
              </a:defRPr>
            </a:pPr>
            <a:r>
              <a:t>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064" y="219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452"/>
                </a:solidFill>
                <a:latin typeface="Consolas"/>
              </a:defRPr>
            </a:pPr>
            <a:r>
              <a:t>/wf:build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064" y="2190000"/>
            <a:ext cx="3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TDD 기반 구현 (Backend/Frontend 병렬)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064" y="247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452"/>
                </a:solidFill>
                <a:latin typeface="Consolas"/>
              </a:defRPr>
            </a:pPr>
            <a:r>
              <a:t>/wf:audit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064" y="2470000"/>
            <a:ext cx="3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코드 리뷰 (품질/보안/성능 병렬 검증)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064" y="275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452"/>
                </a:solidFill>
                <a:latin typeface="Consolas"/>
              </a:defRPr>
            </a:pPr>
            <a:r>
              <a:t>/wf:patch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064" y="2750000"/>
            <a:ext cx="3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코드 리뷰 지적사항 반영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064" y="3030000"/>
            <a:ext cx="57150" cy="5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064" y="3030000"/>
            <a:ext cx="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6580"/>
                </a:solidFill>
                <a:latin typeface="본고딕"/>
              </a:defRPr>
            </a:pPr>
            <a:r>
              <a:t>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064" y="303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452"/>
                </a:solidFill>
                <a:latin typeface="Consolas"/>
              </a:defRPr>
            </a:pPr>
            <a:r>
              <a:t>/wf:verify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0064" y="3030000"/>
            <a:ext cx="3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통합테스트 실행 및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64" y="331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452"/>
                </a:solidFill>
                <a:latin typeface="Consolas"/>
              </a:defRPr>
            </a:pPr>
            <a:r>
              <a:t>/wf:test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064" y="3310000"/>
            <a:ext cx="3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TDD + E2E 테스트 실행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64" y="3590000"/>
            <a:ext cx="57150" cy="2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064" y="3590000"/>
            <a:ext cx="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본고딕"/>
              </a:defRPr>
            </a:pPr>
            <a:r>
              <a:t>완료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064" y="359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452"/>
                </a:solidFill>
                <a:latin typeface="Consolas"/>
              </a:defRPr>
            </a:pPr>
            <a:r>
              <a:t>/wf:done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064" y="3590000"/>
            <a:ext cx="3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매뉴얼 생성, 품질 메트릭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8367" y="3970000"/>
            <a:ext cx="4212247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계층 입력 지원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18367" y="4250000"/>
            <a:ext cx="4212247" cy="1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18367" y="4330000"/>
            <a:ext cx="4012247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Consolas"/>
              </a:defRPr>
            </a:pPr>
            <a:r>
              <a:t>/wf:start TSK-01-01      # 단일 Task</a:t>
            </a:r>
            <a:br/>
            <a:r>
              <a:t>/wf:start ACT-01-01      # Activity 내 모든 Task 병렬</a:t>
            </a:r>
            <a:br/>
            <a:r>
              <a:t>/wf:start WP-01          # Work Package 내 모든 Task 병렬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설계 단계 명령어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/wf:review는 3개 관점에서 병렬 품질 검증을, /wf:apply는 맥락 기반 선택적 적용을 수행합니다.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350000"/>
            <a:ext cx="93605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/wf:review - 설계 리뷰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64" y="1700000"/>
            <a:ext cx="3020183" cy="1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64" y="1800000"/>
            <a:ext cx="29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2452"/>
                </a:solidFill>
                <a:latin typeface="본고딕"/>
              </a:defRPr>
            </a:pPr>
            <a:r>
              <a:t>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64" y="2200000"/>
            <a:ext cx="2920183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architecture-review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64" y="2450000"/>
            <a:ext cx="28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• SOLID 원칙</a:t>
            </a:r>
            <a:br/>
            <a:r>
              <a:t>• 확장성 검토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0247" y="2200000"/>
            <a:ext cx="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57575"/>
                </a:solidFill>
                <a:latin typeface="본고딕"/>
              </a:defRPr>
            </a:pPr>
            <a:r>
              <a:t>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0247" y="1700000"/>
            <a:ext cx="3020183" cy="1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0247" y="1800000"/>
            <a:ext cx="29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51F2A"/>
                </a:solidFill>
                <a:latin typeface="본고딕"/>
              </a:defRPr>
            </a:pPr>
            <a:r>
              <a:t>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0247" y="2200000"/>
            <a:ext cx="2920183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security-review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0247" y="2450000"/>
            <a:ext cx="28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• OWASP 검증</a:t>
            </a:r>
            <a:br/>
            <a:r>
              <a:t>• 인증/인가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430" y="2200000"/>
            <a:ext cx="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57575"/>
                </a:solidFill>
                <a:latin typeface="본고딕"/>
              </a:defRPr>
            </a:pPr>
            <a:r>
              <a:t>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0430" y="1700000"/>
            <a:ext cx="3020183" cy="1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0430" y="1800000"/>
            <a:ext cx="29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6580"/>
                </a:solidFill>
                <a:latin typeface="본고딕"/>
              </a:defRPr>
            </a:pPr>
            <a:r>
              <a:t>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0430" y="2200000"/>
            <a:ext cx="2920183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quality-review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0430" y="2450000"/>
            <a:ext cx="28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• 완전성 검사</a:t>
            </a:r>
            <a:br/>
            <a:r>
              <a:t>• 추적성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064" y="2950000"/>
            <a:ext cx="936055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/wf:apply - 설계 리뷰 반영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064" y="3150000"/>
            <a:ext cx="93605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맥락 기반 선택적 적용 (무조건 적용 금지)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64" y="3300000"/>
            <a:ext cx="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본고딕"/>
              </a:defRPr>
            </a:pPr>
            <a:r>
              <a:t>적용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064" y="33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시스템&amp;Task 적합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0064" y="33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그대로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64" y="3650000"/>
            <a:ext cx="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B86E"/>
                </a:solidFill>
                <a:latin typeface="본고딕"/>
              </a:defRPr>
            </a:pPr>
            <a:r>
              <a:t>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064" y="365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취지 유효, 맞춤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0064" y="365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수정하여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64" y="4000000"/>
            <a:ext cx="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57575"/>
                </a:solidFill>
                <a:latin typeface="본고딕"/>
              </a:defRPr>
            </a:pPr>
            <a:r>
              <a:t>보류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064" y="40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범위 초과, 부적합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0064" y="40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미반영 (사유 기록)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064" y="4450000"/>
            <a:ext cx="93605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452"/>
                </a:solidFill>
                <a:latin typeface="본고딕"/>
              </a:defRPr>
            </a:pPr>
            <a:r>
              <a:t>우선순위: P1 100% 필수, P2 80% 이상 권장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구현 단계 명령어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/wf:audit로 3개 관점 코드 검증 후, /wf:patch로 지적사항을 반영합니다.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350000"/>
            <a:ext cx="93605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본고딕"/>
              </a:defRPr>
            </a:pPr>
            <a:r>
              <a:t>/wf:audit - 코드 리뷰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64" y="1700000"/>
            <a:ext cx="3020183" cy="1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64" y="1800000"/>
            <a:ext cx="29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2452"/>
                </a:solidFill>
                <a:latin typeface="본고딕"/>
              </a:defRPr>
            </a:pPr>
            <a: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64" y="2200000"/>
            <a:ext cx="2920183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quality-audit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64" y="2450000"/>
            <a:ext cx="28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• SOLID 원칙</a:t>
            </a:r>
            <a:br/>
            <a:r>
              <a:t>• 중복 제거</a:t>
            </a:r>
            <a:br/>
            <a:r>
              <a:t>• 복잡도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0247" y="2200000"/>
            <a:ext cx="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57575"/>
                </a:solidFill>
                <a:latin typeface="본고딕"/>
              </a:defRPr>
            </a:pPr>
            <a:r>
              <a:t>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0247" y="1700000"/>
            <a:ext cx="3020183" cy="1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0247" y="1800000"/>
            <a:ext cx="29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51F2A"/>
                </a:solidFill>
                <a:latin typeface="본고딕"/>
              </a:defRPr>
            </a:pPr>
            <a:r>
              <a:t>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0247" y="2200000"/>
            <a:ext cx="2920183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security-audit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0247" y="2450000"/>
            <a:ext cx="28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• 인젝션 방지</a:t>
            </a:r>
            <a:br/>
            <a:r>
              <a:t>• 인증 검증</a:t>
            </a:r>
            <a:br/>
            <a:r>
              <a:t>• 암호화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430" y="2200000"/>
            <a:ext cx="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57575"/>
                </a:solidFill>
                <a:latin typeface="본고딕"/>
              </a:defRPr>
            </a:pPr>
            <a:r>
              <a:t>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0430" y="1700000"/>
            <a:ext cx="3020183" cy="1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0430" y="1800000"/>
            <a:ext cx="29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6580"/>
                </a:solidFill>
                <a:latin typeface="본고딕"/>
              </a:defRPr>
            </a:pPr>
            <a:r>
              <a:t>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0430" y="2200000"/>
            <a:ext cx="2920183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performance-audit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0430" y="2450000"/>
            <a:ext cx="2820183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• 쿼리 최적화</a:t>
            </a:r>
            <a:br/>
            <a:r>
              <a:t>• 캐싱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064" y="2950000"/>
            <a:ext cx="936055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/wf:patch - 우선순위별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064" y="3250000"/>
            <a:ext cx="400000" cy="28000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64" y="3300000"/>
            <a:ext cx="3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064" y="32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Must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0064" y="32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보안 취약점, 치명적 버그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0064" y="3600000"/>
            <a:ext cx="400000" cy="2800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64" y="3650000"/>
            <a:ext cx="3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064" y="36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Should 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0064" y="36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성능 이슈, 코드 품질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0064" y="3950000"/>
            <a:ext cx="400000" cy="2800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64" y="4000000"/>
            <a:ext cx="3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064" y="39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Nice to Have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0064" y="39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코딩 스타일, 문서화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64" y="4400000"/>
            <a:ext cx="93605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452"/>
                </a:solidFill>
                <a:latin typeface="본고딕"/>
              </a:defRPr>
            </a:pPr>
            <a:r>
              <a:t>테스트-수정 루프: 최대 5회 자동 반복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0614" y="105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반복 리뷰-패치 사이클</a:t>
            </a:r>
          </a:p>
        </p:txBody>
      </p:sp>
      <p:sp>
        <p:nvSpPr>
          <p:cNvPr id="35" name="Oval 34"/>
          <p:cNvSpPr/>
          <p:nvPr/>
        </p:nvSpPr>
        <p:spPr>
          <a:xfrm>
            <a:off x="7955614" y="1375000"/>
            <a:ext cx="350000" cy="3500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55614" y="1755000"/>
            <a:ext cx="5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62626"/>
                </a:solidFill>
                <a:latin typeface="본고딕"/>
              </a:defRPr>
            </a:pPr>
            <a:r>
              <a:t>[im] 구현</a:t>
            </a:r>
          </a:p>
        </p:txBody>
      </p:sp>
      <p:sp>
        <p:nvSpPr>
          <p:cNvPr id="37" name="Oval 36"/>
          <p:cNvSpPr/>
          <p:nvPr/>
        </p:nvSpPr>
        <p:spPr>
          <a:xfrm>
            <a:off x="8621353" y="1858688"/>
            <a:ext cx="350000" cy="350000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1353" y="2238688"/>
            <a:ext cx="5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62626"/>
                </a:solidFill>
                <a:latin typeface="본고딕"/>
              </a:defRPr>
            </a:pPr>
            <a:r>
              <a:t>/wf:audit</a:t>
            </a:r>
          </a:p>
        </p:txBody>
      </p:sp>
      <p:sp>
        <p:nvSpPr>
          <p:cNvPr id="39" name="Oval 38"/>
          <p:cNvSpPr/>
          <p:nvPr/>
        </p:nvSpPr>
        <p:spPr>
          <a:xfrm>
            <a:off x="8367063" y="2641311"/>
            <a:ext cx="350000" cy="350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7063" y="3021311"/>
            <a:ext cx="5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62626"/>
                </a:solidFill>
                <a:latin typeface="본고딕"/>
              </a:defRPr>
            </a:pPr>
            <a:r>
              <a:t>리뷰 문서</a:t>
            </a:r>
          </a:p>
        </p:txBody>
      </p:sp>
      <p:sp>
        <p:nvSpPr>
          <p:cNvPr id="41" name="Oval 40"/>
          <p:cNvSpPr/>
          <p:nvPr/>
        </p:nvSpPr>
        <p:spPr>
          <a:xfrm>
            <a:off x="7544164" y="2641311"/>
            <a:ext cx="350000" cy="35000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4164" y="3021311"/>
            <a:ext cx="5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62626"/>
                </a:solidFill>
                <a:latin typeface="본고딕"/>
              </a:defRPr>
            </a:pPr>
            <a:r>
              <a:t>/wf:patch</a:t>
            </a:r>
          </a:p>
        </p:txBody>
      </p:sp>
      <p:sp>
        <p:nvSpPr>
          <p:cNvPr id="43" name="Oval 42"/>
          <p:cNvSpPr/>
          <p:nvPr/>
        </p:nvSpPr>
        <p:spPr>
          <a:xfrm>
            <a:off x="7289874" y="1858688"/>
            <a:ext cx="350000" cy="35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89874" y="2238688"/>
            <a:ext cx="5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62626"/>
                </a:solidFill>
                <a:latin typeface="본고딕"/>
              </a:defRPr>
            </a:pPr>
            <a:r>
              <a:t>코드 수정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0614" y="2150000"/>
            <a:ext cx="1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품질 만족까지 반복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워크플로우 산출물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각 단계별로 표준화된 문서가 자동 생성되며, 완료 신호 프로토콜로 다음 단계를 트리거합니다.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64" y="1350000"/>
            <a:ext cx="40000" cy="28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0064" y="135000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본고딕"/>
              </a:defRPr>
            </a:pPr>
            <a:r>
              <a:t>설계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64" y="1350000"/>
            <a:ext cx="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452"/>
                </a:solidFill>
                <a:latin typeface="Consolas"/>
              </a:defRPr>
            </a:pPr>
            <a:r>
              <a:t>/wf:start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0064" y="1350000"/>
            <a:ext cx="2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Consolas"/>
              </a:defRPr>
            </a:pPr>
            <a:r>
              <a:t>010-design.md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64" y="1630000"/>
            <a:ext cx="40000" cy="28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64" y="163000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본고딕"/>
              </a:defRPr>
            </a:pPr>
            <a:r>
              <a:t>설계 리뷰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64" y="1630000"/>
            <a:ext cx="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452"/>
                </a:solidFill>
                <a:latin typeface="Consolas"/>
              </a:defRPr>
            </a:pPr>
            <a:r>
              <a:t>/wf:review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0064" y="1630000"/>
            <a:ext cx="2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Consolas"/>
              </a:defRPr>
            </a:pPr>
            <a:r>
              <a:t>021-design-review-{llm}-{n}.md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064" y="1910000"/>
            <a:ext cx="40000" cy="28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064" y="191000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본고딕"/>
              </a:defRPr>
            </a:pPr>
            <a:r>
              <a:t>리뷰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0064" y="1910000"/>
            <a:ext cx="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452"/>
                </a:solidFill>
                <a:latin typeface="Consolas"/>
              </a:defRPr>
            </a:pPr>
            <a:r>
              <a:t>/wf:apply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0064" y="1910000"/>
            <a:ext cx="2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Consolas"/>
              </a:defRPr>
            </a:pPr>
            <a:r>
              <a:t>설계 문서 수정, "(적용완료)"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64" y="2190000"/>
            <a:ext cx="40000" cy="28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064" y="219000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본고딕"/>
              </a:defRPr>
            </a:pPr>
            <a:r>
              <a:t>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0064" y="2190000"/>
            <a:ext cx="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452"/>
                </a:solidFill>
                <a:latin typeface="Consolas"/>
              </a:defRPr>
            </a:pPr>
            <a:r>
              <a:t>/wf:build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0064" y="2190000"/>
            <a:ext cx="2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Consolas"/>
              </a:defRPr>
            </a:pPr>
            <a:r>
              <a:t>030-implementation.md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064" y="2470000"/>
            <a:ext cx="40000" cy="28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0064" y="247000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본고딕"/>
              </a:defRPr>
            </a:pPr>
            <a:r>
              <a:t>코드 리뷰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64" y="2470000"/>
            <a:ext cx="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452"/>
                </a:solidFill>
                <a:latin typeface="Consolas"/>
              </a:defRPr>
            </a:pPr>
            <a:r>
              <a:t>/wf:audit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0064" y="2470000"/>
            <a:ext cx="2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Consolas"/>
              </a:defRPr>
            </a:pPr>
            <a:r>
              <a:t>031-code-review-{llm}-{n}.md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064" y="2750000"/>
            <a:ext cx="40000" cy="28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0064" y="275000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본고딕"/>
              </a:defRPr>
            </a:pPr>
            <a:r>
              <a:t>패치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0064" y="2750000"/>
            <a:ext cx="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452"/>
                </a:solidFill>
                <a:latin typeface="Consolas"/>
              </a:defRPr>
            </a:pPr>
            <a:r>
              <a:t>/wf:patch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0064" y="2750000"/>
            <a:ext cx="2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Consolas"/>
              </a:defRPr>
            </a:pPr>
            <a:r>
              <a:t>코드 수정, "(적용완료)"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064" y="3030000"/>
            <a:ext cx="40000" cy="28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0064" y="303000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본고딕"/>
              </a:defRPr>
            </a:pPr>
            <a:r>
              <a:t>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0064" y="3030000"/>
            <a:ext cx="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452"/>
                </a:solidFill>
                <a:latin typeface="Consolas"/>
              </a:defRPr>
            </a:pPr>
            <a:r>
              <a:t>/wf:verify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0064" y="3030000"/>
            <a:ext cx="2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Consolas"/>
              </a:defRPr>
            </a:pPr>
            <a:r>
              <a:t>통합테스트 결과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0064" y="3310000"/>
            <a:ext cx="40000" cy="28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0064" y="331000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본고딕"/>
              </a:defRPr>
            </a:pPr>
            <a:r>
              <a:t>테스트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0064" y="3310000"/>
            <a:ext cx="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452"/>
                </a:solidFill>
                <a:latin typeface="Consolas"/>
              </a:defRPr>
            </a:pPr>
            <a:r>
              <a:t>/wf:test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0064" y="3310000"/>
            <a:ext cx="2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Consolas"/>
              </a:defRPr>
            </a:pPr>
            <a:r>
              <a:t>070-*-test-results.md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0064" y="3590000"/>
            <a:ext cx="40000" cy="2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0064" y="359000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본고딕"/>
              </a:defRPr>
            </a:pPr>
            <a:r>
              <a:t>완료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70064" y="3590000"/>
            <a:ext cx="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452"/>
                </a:solidFill>
                <a:latin typeface="Consolas"/>
              </a:defRPr>
            </a:pPr>
            <a:r>
              <a:t>/wf:done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0064" y="3590000"/>
            <a:ext cx="2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Consolas"/>
              </a:defRPr>
            </a:pPr>
            <a:r>
              <a:t>080-manual.md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18367" y="3770000"/>
            <a:ext cx="4212247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완료 신호 프로토콜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18367" y="4050000"/>
            <a:ext cx="4212247" cy="1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18367" y="4130000"/>
            <a:ext cx="4012247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Consolas"/>
              </a:defRPr>
            </a:pPr>
            <a:r>
              <a:t>ORCHAY_DONE:{project}/{task-id}:{command}:{status}</a:t>
            </a:r>
            <a:br/>
            <a:br/>
            <a:r>
              <a:t>예: ORCHAY_DONE:orchay/TSK-01-01:build:success</a:t>
            </a:r>
            <a:br/>
            <a:r>
              <a:t>예: ORCHAY_DONE:orchay/TSK-02-03:test:error:커버리지 미달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실행 모드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프로젝트 특성에 따라 4가지 실행 모드 중 선택하여 워크플로우를 조절할 수 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0064" y="1350000"/>
          <a:ext cx="9360550" cy="1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137"/>
                <a:gridCol w="2340137"/>
                <a:gridCol w="2340137"/>
                <a:gridCol w="2340139"/>
              </a:tblGrid>
              <a:tr h="25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모드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워크플로우 범위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종료 상태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의존성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start → review → apply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[dd] 상세설계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무시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quick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start → approve → build →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[xx]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검사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develop</a:t>
                      </a:r>
                    </a:p>
                  </a:txBody>
                  <a:tcPr>
                    <a:solidFill>
                      <a:srgbClr val="C51F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전체 (리뷰/테스트 포함)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[im]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검사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force</a:t>
                      </a:r>
                    </a:p>
                  </a:txBody>
                  <a:tcPr>
                    <a:solidFill>
                      <a:srgbClr val="E9B8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quick과 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[xx]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무시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0339" y="2850000"/>
            <a:ext cx="1200000" cy="40000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339" y="2930000"/>
            <a:ext cx="11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[ ] 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339" y="2970000"/>
            <a:ext cx="3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57575"/>
                </a:solidFill>
                <a:latin typeface="본고딕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339" y="330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0339" y="2850000"/>
            <a:ext cx="1200000" cy="40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50339" y="2930000"/>
            <a:ext cx="11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[dd] 상세설계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339" y="2970000"/>
            <a:ext cx="3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57575"/>
                </a:solidFill>
                <a:latin typeface="본고딕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339" y="330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approve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339" y="2850000"/>
            <a:ext cx="1200000" cy="4000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339" y="2930000"/>
            <a:ext cx="11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[ap] 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339" y="2970000"/>
            <a:ext cx="3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57575"/>
                </a:solidFill>
                <a:latin typeface="본고딕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339" y="330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0339" y="2850000"/>
            <a:ext cx="1200000" cy="40000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0339" y="2930000"/>
            <a:ext cx="11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[im] 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339" y="2970000"/>
            <a:ext cx="3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57575"/>
                </a:solidFill>
                <a:latin typeface="본고딕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339" y="330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0339" y="2850000"/>
            <a:ext cx="1200000" cy="4000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0339" y="2930000"/>
            <a:ext cx="11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[vf]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0339" y="2970000"/>
            <a:ext cx="3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57575"/>
                </a:solidFill>
                <a:latin typeface="본고딕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0339" y="330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done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0339" y="2850000"/>
            <a:ext cx="1200000" cy="4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0339" y="2930000"/>
            <a:ext cx="11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[xx]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64" y="3350000"/>
            <a:ext cx="936055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카테고리별 워크플로우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064" y="3650000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452"/>
                </a:solidFill>
                <a:latin typeface="Consolas"/>
              </a:defRPr>
            </a:pPr>
            <a:r>
              <a:t>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0064" y="365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신규 기능 개발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0064" y="36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452"/>
                </a:solidFill>
                <a:latin typeface="Consolas"/>
              </a:defRPr>
            </a:pPr>
            <a:r>
              <a:t>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064" y="4000000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452"/>
                </a:solidFill>
                <a:latin typeface="Consolas"/>
              </a:defRPr>
            </a:pPr>
            <a:r>
              <a:t>defect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0064" y="40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버그 수정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0064" y="40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452"/>
                </a:solidFill>
                <a:latin typeface="Consolas"/>
              </a:defRPr>
            </a:pPr>
            <a:r>
              <a:t>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064" y="4350000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452"/>
                </a:solidFill>
                <a:latin typeface="Consolas"/>
              </a:defRPr>
            </a:pPr>
            <a:r>
              <a:t>infrastructure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0064" y="435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인프라/리팩토링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0064" y="43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452"/>
                </a:solidFill>
                <a:latin typeface="Consolas"/>
              </a:defRPr>
            </a:pPr>
            <a:r>
              <a:t>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기획 명령어 (/plan:*)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PRD 문서를 분석하여 YAML 형식의 WBS를 자동 생성합니다.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070000"/>
            <a:ext cx="4212247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WBS 자동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64" y="1350000"/>
            <a:ext cx="4212247" cy="1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064" y="1430000"/>
            <a:ext cx="4012247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Consolas"/>
              </a:defRPr>
            </a:pPr>
            <a:r>
              <a:t>/plan:wbs .orchay/projects/myapp/prd.md</a:t>
            </a:r>
            <a:br/>
            <a:r>
              <a:t>/plan:wbs .orchay/projects/myapp/prd.md --scale large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0614" y="1050000"/>
            <a:ext cx="4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WBS YAML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0614" y="1350000"/>
            <a:ext cx="4800000" cy="250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0614" y="1430000"/>
            <a:ext cx="46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Consolas"/>
              </a:defRPr>
            </a:pPr>
            <a:r>
              <a:t>project:</a:t>
            </a:r>
            <a:br/>
            <a:r>
              <a:t>  id: my-project</a:t>
            </a:r>
            <a:br/>
            <a:r>
              <a:t>  name: 프로젝트 이름</a:t>
            </a:r>
            <a:br/>
            <a:r>
              <a:t>  version: 0.1.0</a:t>
            </a:r>
            <a:br/>
            <a:r>
              <a:t>workPackages:</a:t>
            </a:r>
            <a:br/>
            <a:r>
              <a:t>  -</a:t>
            </a:r>
            <a:br/>
            <a:r>
              <a:t>    id: WP-01</a:t>
            </a:r>
            <a:br/>
            <a:r>
              <a:t>    title: 핵심 기능</a:t>
            </a:r>
            <a:br/>
            <a:r>
              <a:t>    tasks: [{'id': 'TSK-01-01', 'title': '로그인 구현', 'category': 'development', 'status': '[ ]', 'priority': 'high'}]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64" y="1350000"/>
            <a:ext cx="936055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계층 구조 자동 결정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0064" y="1650000"/>
          <a:ext cx="936055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183"/>
                <a:gridCol w="3120183"/>
                <a:gridCol w="3120184"/>
              </a:tblGrid>
              <a:tr h="2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기준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4단계 (WP→ACT→TSK)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3단계 (WP→TSK)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예상 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12개월+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12개월 미만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팀 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10명+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10명 미만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Task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50개+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50개 미만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Python 기반의 모듈화된 구조로, WezTerm과 Claude Code를 연동합니다.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3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452"/>
                </a:solidFill>
                <a:latin typeface="본고딕"/>
              </a:defRPr>
            </a:pPr>
            <a:r>
              <a:t>📁 orchay/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64" y="16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51F2A"/>
                </a:solidFill>
                <a:latin typeface="Consolas"/>
              </a:defRPr>
            </a:pPr>
            <a:r>
              <a:t>├── 📄 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0064" y="16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오케스트레이터 (메인 루프)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064" y="19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51F2A"/>
                </a:solidFill>
                <a:latin typeface="Consolas"/>
              </a:defRPr>
            </a:pPr>
            <a:r>
              <a:t>├── 📄 scheduler.py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0064" y="19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Task 필터링 &amp; 분배 로직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064" y="22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51F2A"/>
                </a:solidFill>
                <a:latin typeface="Consolas"/>
              </a:defRPr>
            </a:pPr>
            <a:r>
              <a:t>├── 📄 wbs_parser.py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0064" y="22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WBS 파일 파싱 &amp; 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064" y="25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51F2A"/>
                </a:solidFill>
                <a:latin typeface="Consolas"/>
              </a:defRPr>
            </a:pPr>
            <a:r>
              <a:t>├── 📄 worker.py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0064" y="25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Worker 상태 감지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064" y="28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6580"/>
                </a:solidFill>
                <a:latin typeface="Consolas"/>
              </a:defRPr>
            </a:pPr>
            <a:r>
              <a:t>├── 📁 models/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0064" y="28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Pydantic 데이터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064" y="31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6580"/>
                </a:solidFill>
                <a:latin typeface="Consolas"/>
              </a:defRPr>
            </a:pPr>
            <a:r>
              <a:t>└── 📁 utils/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064" y="34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Consolas"/>
              </a:defRPr>
            </a:pPr>
            <a:r>
              <a:t>│   └── 📄 wezterm.py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0614" y="135000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기술 스택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0614" y="16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452"/>
                </a:solidFill>
                <a:latin typeface="본고딕"/>
              </a:defRPr>
            </a:pPr>
            <a:r>
              <a:t>터미널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0614" y="165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WezTerm (멀티 pane 지원)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0614" y="19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452"/>
                </a:solidFill>
                <a:latin typeface="본고딕"/>
              </a:defRPr>
            </a:pPr>
            <a:r>
              <a:t>AI 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0614" y="195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0614" y="22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452"/>
                </a:solidFill>
                <a:latin typeface="본고딕"/>
              </a:defRPr>
            </a:pPr>
            <a:r>
              <a:t>언어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0614" y="225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Python 3.10+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0614" y="25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452"/>
                </a:solidFill>
                <a:latin typeface="본고딕"/>
              </a:defRPr>
            </a:pPr>
            <a:r>
              <a:t>TUI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0614" y="255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Textual + Rich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0614" y="28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452"/>
                </a:solidFill>
                <a:latin typeface="본고딕"/>
              </a:defRPr>
            </a:pPr>
            <a:r>
              <a:t>파일 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0614" y="285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watchdog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사용법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프로젝트 폴더에서 간단한 명령어로 실행하고, TUI 대시보드로 모니터링합니다.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070000"/>
            <a:ext cx="4212247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기본 실행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64" y="1350000"/>
            <a:ext cx="4212247" cy="1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064" y="1430000"/>
            <a:ext cx="4012247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626"/>
                </a:solidFill>
                <a:latin typeface="Consolas"/>
              </a:defRPr>
            </a:pPr>
            <a:r>
              <a:t># 프로젝트 폴더에서 실행</a:t>
            </a:r>
            <a:br/>
            <a:r>
              <a:t>cd {프로젝트 루트}</a:t>
            </a:r>
            <a:br/>
            <a:r>
              <a:t>orchay [프로젝트명] [옵션]</a:t>
            </a:r>
            <a:br/>
            <a:br/>
            <a:r>
              <a:t># 예시</a:t>
            </a:r>
            <a:br/>
            <a:r>
              <a:t>orchay my_project           # 기본 실행</a:t>
            </a:r>
            <a:br/>
            <a:r>
              <a:t>orchay my_project -w 5      # Worker 5개</a:t>
            </a:r>
            <a:br/>
            <a:r>
              <a:t>orchay my_project -m design # 설계 모드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064" y="1350000"/>
            <a:ext cx="9360550" cy="18000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0064" y="1350000"/>
            <a:ext cx="9360550" cy="25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0064" y="1425000"/>
            <a:ext cx="100000" cy="1000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0064" y="1425000"/>
            <a:ext cx="100000" cy="100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0064" y="1425000"/>
            <a:ext cx="100000" cy="1000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064" y="1400000"/>
            <a:ext cx="83605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본고딕"/>
              </a:defRPr>
            </a:pPr>
            <a:r>
              <a:t>orchay - Task Scheduler v0.1.0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설치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WezTerm과 Claude Code가 설치되어 있다면, 3가지 방법 중 선택하여 설치할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350000"/>
            <a:ext cx="936055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사전 요구사항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64" y="165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본고딕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64" y="165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WezTerm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0064" y="16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멀티 pane 터미널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64" y="2050000"/>
            <a:ext cx="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본고딕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64" y="205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0064" y="20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AI Worker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064" y="2700000"/>
            <a:ext cx="3053516" cy="2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064" y="2700000"/>
            <a:ext cx="3053516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64" y="28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본고딕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64" y="2880000"/>
            <a:ext cx="255351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2626"/>
                </a:solidFill>
                <a:latin typeface="본고딕"/>
              </a:defRPr>
            </a:pPr>
            <a:r>
              <a:t>실행 파일 (권장)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23580" y="2850000"/>
            <a:ext cx="900000" cy="25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3580" y="288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본고딕"/>
              </a:defRPr>
            </a:pPr>
            <a:r>
              <a:t>Recommended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064" y="3250000"/>
            <a:ext cx="2893516" cy="135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064" y="3330000"/>
            <a:ext cx="2793516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Consolas"/>
              </a:defRPr>
            </a:pPr>
            <a:r>
              <a:t># GitHub Releases에서 다운로드</a:t>
            </a:r>
            <a:br/>
            <a:r>
              <a:t># Linux: orchay-linux-x64.tar.gz</a:t>
            </a:r>
            <a:br/>
            <a:r>
              <a:t># Windows: orchay-windows-x64.zip</a:t>
            </a:r>
            <a:br/>
            <a:r>
              <a:t># macOS: orchay-macos-x64.tar.gz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3580" y="2700000"/>
            <a:ext cx="3053516" cy="2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3580" y="2700000"/>
            <a:ext cx="3053516" cy="5715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3580" y="28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본고딕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3580" y="2880000"/>
            <a:ext cx="255351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2626"/>
                </a:solidFill>
                <a:latin typeface="본고딕"/>
              </a:defRPr>
            </a:pPr>
            <a:r>
              <a:t>pipx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3580" y="3250000"/>
            <a:ext cx="2893516" cy="135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3580" y="3330000"/>
            <a:ext cx="2793516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Consolas"/>
              </a:defRPr>
            </a:pPr>
            <a:r>
              <a:t>pipx install orchay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7096" y="2700000"/>
            <a:ext cx="3053516" cy="2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77096" y="2700000"/>
            <a:ext cx="3053516" cy="5715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7096" y="28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B6580"/>
                </a:solidFill>
                <a:latin typeface="본고딕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7096" y="2880000"/>
            <a:ext cx="255351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2626"/>
                </a:solidFill>
                <a:latin typeface="본고딕"/>
              </a:defRPr>
            </a:pPr>
            <a:r>
              <a:t>pip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57096" y="3250000"/>
            <a:ext cx="2893516" cy="135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7096" y="3330000"/>
            <a:ext cx="2793516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Consolas"/>
              </a:defRPr>
            </a:pPr>
            <a:r>
              <a:t>pip install orchay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효과 및 기대 가치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orchay 도입으로 개발 생산성을 획기적으로 향상시킬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3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동시 작업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0064" y="1350000"/>
            <a:ext cx="800000" cy="250000"/>
          </a:xfrm>
          <a:prstGeom prst="round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20064" y="1350000"/>
            <a:ext cx="1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1개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0064" y="1610000"/>
            <a:ext cx="4000000" cy="25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0064" y="161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452"/>
                </a:solidFill>
                <a:latin typeface="본고딕"/>
              </a:defRPr>
            </a:pPr>
            <a:r>
              <a:t>N개 (Worker 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30614" y="1450000"/>
            <a:ext cx="700000" cy="3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0614" y="1480000"/>
            <a:ext cx="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64" y="18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Task 할당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0064" y="1850000"/>
            <a:ext cx="1600000" cy="250000"/>
          </a:xfrm>
          <a:prstGeom prst="round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0064" y="1850000"/>
            <a:ext cx="1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수동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0064" y="2110000"/>
            <a:ext cx="4000000" cy="25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0064" y="211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452"/>
                </a:solidFill>
                <a:latin typeface="본고딕"/>
              </a:defRPr>
            </a:pPr>
            <a:r>
              <a:t>자동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0614" y="1950000"/>
            <a:ext cx="700000" cy="3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0614" y="1980000"/>
            <a:ext cx="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64" y="23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진행 모니터링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0064" y="2350000"/>
            <a:ext cx="1600000" cy="250000"/>
          </a:xfrm>
          <a:prstGeom prst="round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0064" y="2350000"/>
            <a:ext cx="1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수동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0064" y="2610000"/>
            <a:ext cx="4000000" cy="25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0064" y="261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452"/>
                </a:solidFill>
                <a:latin typeface="본고딕"/>
              </a:defRPr>
            </a:pPr>
            <a:r>
              <a:t>실시간 대시보드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30614" y="2450000"/>
            <a:ext cx="700000" cy="3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0614" y="2480000"/>
            <a:ext cx="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실시간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64" y="28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본고딕"/>
              </a:defRPr>
            </a:pPr>
            <a:r>
              <a:t>워크플로우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0064" y="2850000"/>
            <a:ext cx="1600000" cy="250000"/>
          </a:xfrm>
          <a:prstGeom prst="round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0064" y="2850000"/>
            <a:ext cx="1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수동 전환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0064" y="3110000"/>
            <a:ext cx="4000000" cy="25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0064" y="311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452"/>
                </a:solidFill>
                <a:latin typeface="본고딕"/>
              </a:defRPr>
            </a:pPr>
            <a:r>
              <a:t>자동 실행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30614" y="2950000"/>
            <a:ext cx="700000" cy="3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0614" y="2980000"/>
            <a:ext cx="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자동화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0064" y="3850000"/>
            <a:ext cx="4630275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0064" y="4000000"/>
            <a:ext cx="500000" cy="5000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064" y="413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본고딕"/>
              </a:defRPr>
            </a:pPr>
            <a:r>
              <a:t>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064" y="4050000"/>
            <a:ext cx="383027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2626"/>
                </a:solidFill>
                <a:latin typeface="본고딕"/>
              </a:defRPr>
            </a:pPr>
            <a:r>
              <a:t>대규모 기능 개발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064" y="4330000"/>
            <a:ext cx="383027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여러 Task 병렬 처리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00339" y="3850000"/>
            <a:ext cx="4630275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50339" y="4000000"/>
            <a:ext cx="500000" cy="500000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00339" y="413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본고딕"/>
              </a:defRPr>
            </a:pPr>
            <a:r>
              <a:t>SY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00339" y="4050000"/>
            <a:ext cx="383027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2626"/>
                </a:solidFill>
                <a:latin typeface="본고딕"/>
              </a:defRPr>
            </a:pPr>
            <a:r>
              <a:t>마이그레이션 작업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00339" y="4330000"/>
            <a:ext cx="383027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반복적인 Task 자동화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0064" y="4750000"/>
            <a:ext cx="4630275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20064" y="4900000"/>
            <a:ext cx="500000" cy="500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064" y="503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본고딕"/>
              </a:defRPr>
            </a:pPr>
            <a:r>
              <a:t>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064" y="4950000"/>
            <a:ext cx="383027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2626"/>
                </a:solidFill>
                <a:latin typeface="본고딕"/>
              </a:defRPr>
            </a:pPr>
            <a:r>
              <a:t>코드 리뷰/리팩토링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064" y="5230000"/>
            <a:ext cx="383027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체계적인 워크플로우 적용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00339" y="4750000"/>
            <a:ext cx="4630275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150339" y="4900000"/>
            <a:ext cx="500000" cy="50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00339" y="503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본고딕"/>
              </a:defRPr>
            </a:pPr>
            <a:r>
              <a:t>BU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00339" y="4950000"/>
            <a:ext cx="383027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2626"/>
                </a:solidFill>
                <a:latin typeface="본고딕"/>
              </a:defRPr>
            </a:pPr>
            <a:r>
              <a:t>테스트 자동화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00339" y="5230000"/>
            <a:ext cx="383027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구현 후 자동 테스트 실행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향후 개발 예정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Git Worktree 통합으로 완전한 병렬 개발 환경을 구축할 예정입니다.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35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452"/>
                </a:solidFill>
                <a:latin typeface="본고딕"/>
              </a:defRPr>
            </a:pPr>
            <a:r>
              <a:t>Git Worktree 통합 (핵심 기능)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64" y="1750000"/>
            <a:ext cx="40000" cy="35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064" y="175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1F2A"/>
                </a:solidFill>
                <a:latin typeface="본고딕"/>
              </a:defRPr>
            </a:pPr>
            <a:r>
              <a:t>문제: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064" y="175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여러 Worker가 동일 브랜치에서 작업 시 충돌 발생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64" y="2150000"/>
            <a:ext cx="40000" cy="35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064" y="215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본고딕"/>
              </a:defRPr>
            </a:pPr>
            <a:r>
              <a:t>해결: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064" y="215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본고딕"/>
              </a:defRPr>
            </a:pPr>
            <a:r>
              <a:t>각 Worker별 독립 worktree 자동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64" y="2550000"/>
            <a:ext cx="5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기대 효과: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064" y="2830000"/>
            <a:ext cx="50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✓ 브랜치 충돌 없는 완전 병렬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64" y="3110000"/>
            <a:ext cx="50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✓ Task별 독립적인 커밋 히스토리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064" y="3390000"/>
            <a:ext cx="50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✓ 자동 브랜치 생성/정리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64" y="13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452"/>
                </a:solidFill>
                <a:latin typeface="본고딕"/>
              </a:defRPr>
            </a:pPr>
            <a:r>
              <a:t>📁 project/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064" y="16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onsolas"/>
              </a:defRPr>
            </a:pPr>
            <a:r>
              <a:t>├── 📄 .git/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0064" y="16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공유 Git 저장소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064" y="19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452"/>
                </a:solidFill>
                <a:latin typeface="Consolas"/>
              </a:defRPr>
            </a:pPr>
            <a:r>
              <a:t>├── 📁 worktree-worker-1/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0064" y="19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TSK-01-01 브랜치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064" y="22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51F2A"/>
                </a:solidFill>
                <a:latin typeface="Consolas"/>
              </a:defRPr>
            </a:pPr>
            <a:r>
              <a:t>├── 📁 worktree-worker-2/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0064" y="22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TSK-01-02 브랜치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064" y="255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6580"/>
                </a:solidFill>
                <a:latin typeface="Consolas"/>
              </a:defRPr>
            </a:pPr>
            <a:r>
              <a:t>└── 📁 worktree-worker-3/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0064" y="25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TSK-02-01 브랜치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64" y="1350000"/>
            <a:ext cx="936055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추가 예정 기능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0064" y="1650000"/>
            <a:ext cx="600000" cy="26000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64" y="169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본고딕"/>
              </a:defRPr>
            </a:pPr>
            <a:r>
              <a:t>높음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064" y="165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동적 Worker 스케일링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0064" y="1650000"/>
            <a:ext cx="596055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부하에 따른 Worker 자동 추가/제거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0064" y="1970000"/>
            <a:ext cx="600000" cy="26000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64" y="201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본고딕"/>
              </a:defRPr>
            </a:pPr>
            <a:r>
              <a:t>높음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064" y="197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의존성 위상정렬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0064" y="1970000"/>
            <a:ext cx="596055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Task 실행 순서 자동 최적화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0064" y="2290000"/>
            <a:ext cx="600000" cy="26000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64" y="233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본고딕"/>
              </a:defRPr>
            </a:pPr>
            <a:r>
              <a:t>높음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064" y="229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순환 의존성 감지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0064" y="2290000"/>
            <a:ext cx="596055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잘못된 의존성 조기 발견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0064" y="2610000"/>
            <a:ext cx="600000" cy="2600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64" y="265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본고딕"/>
              </a:defRPr>
            </a:pPr>
            <a:r>
              <a:t>중간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064" y="261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다중 LLM 지원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70064" y="2610000"/>
            <a:ext cx="596055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Claude, GPT, Gemini 혼합 사용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0064" y="2930000"/>
            <a:ext cx="600000" cy="2600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64" y="297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본고딕"/>
              </a:defRPr>
            </a:pPr>
            <a:r>
              <a:t>중간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0064" y="293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Rate Limit 동적 조정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70064" y="2930000"/>
            <a:ext cx="596055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제공자별 제한 자동 관리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0064" y="3250000"/>
            <a:ext cx="600000" cy="2600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64" y="329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본고딕"/>
              </a:defRPr>
            </a:pPr>
            <a:r>
              <a:t>낮음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064" y="325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본고딕"/>
              </a:defRPr>
            </a:pPr>
            <a:r>
              <a:t>성능 메트릭 대시보드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0064" y="3250000"/>
            <a:ext cx="596055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본고딕"/>
              </a:defRPr>
            </a:pPr>
            <a:r>
              <a:t>토큰 사용량, 응답 시간 시각화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64" y="1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452"/>
                </a:solidFill>
                <a:latin typeface="본고딕"/>
              </a:defRPr>
            </a:pPr>
            <a:r>
              <a:t>마무리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64" y="540000"/>
            <a:ext cx="9360550" cy="10000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0064" y="580000"/>
            <a:ext cx="93605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본고딕"/>
              </a:defRPr>
            </a:pPr>
            <a:r>
              <a:t>AI 코딩 어시스턴트를 위한 Task 오케스트레이터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064" y="1350000"/>
            <a:ext cx="2265137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2632" y="1500000"/>
            <a:ext cx="600000" cy="6000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2632" y="16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본고딕"/>
              </a:defRPr>
            </a:pPr>
            <a:r>
              <a:t>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64" y="2150000"/>
            <a:ext cx="2165137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WBS 기반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64" y="2350000"/>
            <a:ext cx="2165137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Task 자동 분배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5201" y="1350000"/>
            <a:ext cx="2265137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67769" y="1500000"/>
            <a:ext cx="600000" cy="600000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7769" y="16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본고딕"/>
              </a:defRPr>
            </a:pPr>
            <a:r>
              <a:t>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5201" y="2150000"/>
            <a:ext cx="2165137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다중 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5201" y="2350000"/>
            <a:ext cx="2165137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병렬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0338" y="1350000"/>
            <a:ext cx="2265137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32906" y="1500000"/>
            <a:ext cx="600000" cy="600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2906" y="16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본고딕"/>
              </a:defRPr>
            </a:pPr>
            <a:r>
              <a:t>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0338" y="2150000"/>
            <a:ext cx="2165137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워크플로우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0338" y="2350000"/>
            <a:ext cx="2165137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기반 자동화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5475" y="1350000"/>
            <a:ext cx="2265137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98043" y="1500000"/>
            <a:ext cx="600000" cy="60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8043" y="16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본고딕"/>
              </a:defRPr>
            </a:pPr>
            <a:r>
              <a:t>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475" y="2150000"/>
            <a:ext cx="2165137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본고딕"/>
              </a:defRPr>
            </a:pPr>
            <a:r>
              <a:t>실시간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475" y="2350000"/>
            <a:ext cx="2165137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본고딕"/>
              </a:defRPr>
            </a:pPr>
            <a:r>
              <a:t>모니터링 &amp; 관리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0339" y="2750000"/>
            <a:ext cx="2000000" cy="40000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0339" y="2830000"/>
            <a:ext cx="19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본고딕"/>
              </a:defRPr>
            </a:pPr>
            <a:r>
              <a:t>GitHub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0339" y="2750000"/>
            <a:ext cx="2000000" cy="40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0339" y="2830000"/>
            <a:ext cx="19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본고딕"/>
              </a:defRPr>
            </a:pPr>
            <a:r>
              <a:t>PyPI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0339" y="335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latin typeface="본고딕"/>
              </a:defRPr>
            </a:pPr>
            <a:r>
              <a:t>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064" y="4650000"/>
            <a:ext cx="936055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452"/>
                </a:solidFill>
                <a:latin typeface="본고딕"/>
              </a:defRPr>
            </a:pPr>
            <a:r>
              <a:t>Q&amp;A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064" y="5150000"/>
            <a:ext cx="936055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본고딕"/>
              </a:defRPr>
            </a:pPr>
            <a:r>
              <a:t>질문이 있으신가요?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0000" y="6600000"/>
            <a:ext cx="5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본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