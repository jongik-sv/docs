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572000" cy="1015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42975" y="617190"/>
            <a:ext cx="0" cy="355550"/>
          </a:xfrm>
          <a:prstGeom prst="line">
            <a:avLst/>
          </a:prstGeom>
          <a:noFill/>
          <a:ln w="57150">
            <a:solidFill>
              <a:srgbClr val="C51F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00" y="690116"/>
            <a:ext cx="37139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PROPOSAL | DOC-PRJ-2025-001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24000"/>
            <a:ext cx="7461504" cy="134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</a:t>
            </a:r>
            <a:endParaRPr lang="en-US" sz="44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수행계획서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055739"/>
            <a:ext cx="74615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2000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Logistics Management System Construction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456384"/>
            <a:ext cx="7315200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78448"/>
            <a:ext cx="74615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2025. 01. 08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079974"/>
            <a:ext cx="74615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Company: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(주)테크솔루션 | 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PM: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김철수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4788"/>
            <a:ext cx="191729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25000" y="0"/>
            <a:ext cx="126950" cy="76200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14400" y="1633389"/>
            <a:ext cx="3276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79475"/>
            <a:ext cx="4532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58801" y="1269950"/>
            <a:ext cx="13436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230189"/>
            <a:ext cx="3276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6276"/>
            <a:ext cx="4532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58801" y="1866751"/>
            <a:ext cx="18934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전략 및 방법론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2826990"/>
            <a:ext cx="3276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73077"/>
            <a:ext cx="4532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8801" y="2463552"/>
            <a:ext cx="13436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423791"/>
            <a:ext cx="3276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69878"/>
            <a:ext cx="4532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58801" y="3060353"/>
            <a:ext cx="11910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 및 역할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" y="4020592"/>
            <a:ext cx="3276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66679"/>
            <a:ext cx="4532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58801" y="3657154"/>
            <a:ext cx="13436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일정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953000" y="1633389"/>
            <a:ext cx="3276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3000" y="1279475"/>
            <a:ext cx="4532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7401" y="1269950"/>
            <a:ext cx="11298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관리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953000" y="2230189"/>
            <a:ext cx="3276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3000" y="1876276"/>
            <a:ext cx="4532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7401" y="1866751"/>
            <a:ext cx="16797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및 보안 관리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953000" y="2826990"/>
            <a:ext cx="3276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3000" y="2473077"/>
            <a:ext cx="4532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7401" y="2463552"/>
            <a:ext cx="16185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및 기술이전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953000" y="3423791"/>
            <a:ext cx="3276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3000" y="3069878"/>
            <a:ext cx="4532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7401" y="3060353"/>
            <a:ext cx="16797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및 변경 관리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525000" cy="6349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69813"/>
            <a:ext cx="181725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4150"/>
            <a:ext cx="9144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15901"/>
            <a:ext cx="3496568" cy="3575000"/>
          </a:xfrm>
          <a:prstGeom prst="roundRect">
            <a:avLst>
              <a:gd name="adj" fmla="val 1453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5518" y="1168301"/>
            <a:ext cx="11658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36295" y="1168301"/>
            <a:ext cx="28555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5518" y="1692176"/>
            <a:ext cx="11658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36295" y="1692176"/>
            <a:ext cx="28555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(주)글로벌물류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5518" y="2216051"/>
            <a:ext cx="11658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36295" y="2216051"/>
            <a:ext cx="28555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5518" y="2739926"/>
            <a:ext cx="11658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계약금액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36295" y="2739926"/>
            <a:ext cx="28555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15억원 (VAT 별도)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5518" y="3263801"/>
            <a:ext cx="11658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36295" y="3263801"/>
            <a:ext cx="28555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 01. 06 ~ 2025. 12. 31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525000" cy="6349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69813"/>
            <a:ext cx="234811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배경 및 추진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4150"/>
            <a:ext cx="9144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888950"/>
            <a:ext cx="0" cy="381000"/>
          </a:xfrm>
          <a:prstGeom prst="line">
            <a:avLst/>
          </a:prstGeom>
          <a:noFill/>
          <a:ln w="38100">
            <a:solidFill>
              <a:srgbClr val="C51F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6050" y="974675"/>
            <a:ext cx="51750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고도화를 통해 물류 혁신 및 비즈니스 경쟁력을 확보합니다.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1524000"/>
            <a:ext cx="2709267" cy="3358902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950" y="1552575"/>
            <a:ext cx="2709267" cy="0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9837" y="1835051"/>
            <a:ext cx="22454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효율성 향상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9837" y="2346127"/>
            <a:ext cx="224549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UP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39837" y="3066752"/>
            <a:ext cx="2245495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최적화 알고리즘 적용을 통한 전체 물류 처리 속도 향상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17218" y="1524000"/>
            <a:ext cx="2709267" cy="3358902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17218" y="1552575"/>
            <a:ext cx="2709267" cy="0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9104" y="1835051"/>
            <a:ext cx="22454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정확도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49104" y="2346127"/>
            <a:ext cx="224549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449104" y="3066752"/>
            <a:ext cx="2245495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 추적 및 스마트 피킹 시스템 연동을 통한 손실 제로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26485" y="1524000"/>
            <a:ext cx="2709267" cy="3358902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26485" y="1552575"/>
            <a:ext cx="2709267" cy="0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8371" y="1835051"/>
            <a:ext cx="22454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58371" y="2346127"/>
            <a:ext cx="224549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Down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158371" y="3066752"/>
            <a:ext cx="2245495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 배분 최적화 및 업무 자동화를 통한 연간 운영 비용 절감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525000" cy="6349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69813"/>
            <a:ext cx="227615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시스템 구축 범위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4150"/>
            <a:ext cx="9144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43000"/>
            <a:ext cx="1889075" cy="3555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147763"/>
            <a:ext cx="18890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92263" y="1143000"/>
            <a:ext cx="0" cy="35559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950" y="4670375"/>
            <a:ext cx="1889075" cy="0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713" y="1143000"/>
            <a:ext cx="0" cy="35559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4963" y="1343025"/>
            <a:ext cx="634901" cy="634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08497" y="1484263"/>
            <a:ext cx="2934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04168" y="2130326"/>
            <a:ext cx="5064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6845" y="2495401"/>
            <a:ext cx="101113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입출고 관리</a:t>
            </a:r>
            <a:endParaRPr lang="en-US" sz="1100" dirty="0"/>
          </a:p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관리</a:t>
            </a:r>
            <a:endParaRPr lang="en-US" sz="1100" dirty="0"/>
          </a:p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피킹/패킹 최적화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526" y="1143000"/>
            <a:ext cx="1889075" cy="3555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87526" y="1147763"/>
            <a:ext cx="18890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71839" y="1143000"/>
            <a:ext cx="0" cy="35559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87526" y="4670375"/>
            <a:ext cx="1889075" cy="0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92288" y="1143000"/>
            <a:ext cx="0" cy="35559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4539" y="1343025"/>
            <a:ext cx="634901" cy="634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38823" y="1484263"/>
            <a:ext cx="1899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17528" y="2130326"/>
            <a:ext cx="4375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40397" y="2495401"/>
            <a:ext cx="118318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배차 및 경로 최적화</a:t>
            </a:r>
            <a:endParaRPr lang="en-US" sz="1100" dirty="0"/>
          </a:p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배송 추적</a:t>
            </a:r>
            <a:endParaRPr lang="en-US" sz="1100" dirty="0"/>
          </a:p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운송 비용 정산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7101" y="1143000"/>
            <a:ext cx="1889075" cy="3555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67101" y="1147763"/>
            <a:ext cx="18890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1414" y="1143000"/>
            <a:ext cx="0" cy="35559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7101" y="4670375"/>
            <a:ext cx="1889075" cy="0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71864" y="1143000"/>
            <a:ext cx="0" cy="35559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94114" y="1343025"/>
            <a:ext cx="634901" cy="634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92948" y="1484263"/>
            <a:ext cx="2418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380137" y="2130326"/>
            <a:ext cx="4721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86648" y="2495401"/>
            <a:ext cx="104983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접수 및 할당</a:t>
            </a:r>
            <a:endParaRPr lang="en-US" sz="1100" dirty="0"/>
          </a:p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클레임 관리</a:t>
            </a:r>
            <a:endParaRPr lang="en-US" sz="1100" dirty="0"/>
          </a:p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정산 관리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46677" y="1143000"/>
            <a:ext cx="1889224" cy="3555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746677" y="1147763"/>
            <a:ext cx="188922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31138" y="1143000"/>
            <a:ext cx="0" cy="35559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46677" y="4670375"/>
            <a:ext cx="1889224" cy="0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51439" y="1143000"/>
            <a:ext cx="0" cy="35559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73838" y="1343025"/>
            <a:ext cx="634901" cy="634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581156" y="1484263"/>
            <a:ext cx="2245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160716" y="2130326"/>
            <a:ext cx="10823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19789" y="2495401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물류 현황</a:t>
            </a:r>
            <a:endParaRPr lang="en-US" sz="1100" dirty="0"/>
          </a:p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지표 가시화</a:t>
            </a:r>
            <a:endParaRPr lang="en-US" sz="1100" dirty="0"/>
          </a:p>
          <a:p>
            <a:pPr algn="ctr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인사이트 리포트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525000" cy="6349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69813"/>
            <a:ext cx="147554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추진 전략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4150"/>
            <a:ext cx="9144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15901"/>
            <a:ext cx="2540050" cy="3555950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4567089"/>
            <a:ext cx="25400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6525" y="1015901"/>
            <a:ext cx="0" cy="3555950"/>
          </a:xfrm>
          <a:prstGeom prst="line">
            <a:avLst/>
          </a:prstGeom>
          <a:noFill/>
          <a:ln w="57150">
            <a:solidFill>
              <a:srgbClr val="C51F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001" y="1269802"/>
            <a:ext cx="20146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19001" y="2152352"/>
            <a:ext cx="20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전환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9001" y="2609552"/>
            <a:ext cx="201460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Bang 방식이 아닌 모듈별 순차 전환을 통해 시스템 리스크를 최소화하고 안정적으로 이행합니다.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01901" y="1015901"/>
            <a:ext cx="2540050" cy="3555950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01901" y="4567089"/>
            <a:ext cx="25400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0476" y="1015901"/>
            <a:ext cx="0" cy="3555950"/>
          </a:xfrm>
          <a:prstGeom prst="line">
            <a:avLst/>
          </a:prstGeom>
          <a:noFill/>
          <a:ln w="57150">
            <a:solidFill>
              <a:srgbClr val="C51F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2952" y="1269802"/>
            <a:ext cx="20146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12952" y="2152352"/>
            <a:ext cx="20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애자일 기반 개발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12952" y="2609552"/>
            <a:ext cx="201460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단위 스프린트 운영을 통해 변화하는 요구사항에 유연하게 대응하고 빠른 피드백을 수렴합니다.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5851" y="1015901"/>
            <a:ext cx="2540050" cy="3555950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95851" y="4567089"/>
            <a:ext cx="25400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4426" y="1015901"/>
            <a:ext cx="0" cy="3555950"/>
          </a:xfrm>
          <a:prstGeom prst="line">
            <a:avLst/>
          </a:prstGeom>
          <a:noFill/>
          <a:ln w="57150">
            <a:solidFill>
              <a:srgbClr val="C51F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6902" y="1269802"/>
            <a:ext cx="20146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06902" y="2152352"/>
            <a:ext cx="20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밀착 협업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6902" y="2609552"/>
            <a:ext cx="201460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2회 정기 현업 리뷰를 통해 핵심 기능의 정합성을 수시로 확보하고 사용자 만족도를 극대화합니다.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525000" cy="6349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69813"/>
            <a:ext cx="278303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수행 방법론 (Hybrid)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4150"/>
            <a:ext cx="9144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90700"/>
            <a:ext cx="1752600" cy="1752600"/>
          </a:xfrm>
          <a:prstGeom prst="rect">
            <a:avLst/>
          </a:prstGeom>
          <a:noFill/>
          <a:ln w="19050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93750" y="2301627"/>
            <a:ext cx="3886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6825" y="2641253"/>
            <a:ext cx="1114702" cy="391120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98675" y="1790700"/>
            <a:ext cx="1752600" cy="1752600"/>
          </a:xfrm>
          <a:prstGeom prst="rect">
            <a:avLst/>
          </a:prstGeom>
          <a:noFill/>
          <a:ln w="19050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84475" y="2301627"/>
            <a:ext cx="3886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82371" y="2641253"/>
            <a:ext cx="985061" cy="391120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아키텍처/UI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설계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9400" y="1790700"/>
            <a:ext cx="1752600" cy="1752600"/>
          </a:xfrm>
          <a:prstGeom prst="rect">
            <a:avLst/>
          </a:prstGeom>
          <a:noFill/>
          <a:ln w="19050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75200" y="2301627"/>
            <a:ext cx="3886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76284" y="2641253"/>
            <a:ext cx="978685" cy="391120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구현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80125" y="1809750"/>
            <a:ext cx="2155775" cy="17145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542038" y="1809750"/>
            <a:ext cx="0" cy="1714500"/>
          </a:xfrm>
          <a:prstGeom prst="line">
            <a:avLst/>
          </a:prstGeom>
          <a:noFill/>
          <a:ln w="123825">
            <a:solidFill>
              <a:srgbClr val="C51F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463" y="2274540"/>
            <a:ext cx="11821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전환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86938" y="2668191"/>
            <a:ext cx="1465826" cy="391120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테스트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이행 및 지원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525000" cy="6349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69813"/>
            <a:ext cx="196131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기술 아키텍처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4150"/>
            <a:ext cx="9144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43000"/>
            <a:ext cx="1889075" cy="35559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5921" dir="270000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162050"/>
            <a:ext cx="1889075" cy="0"/>
          </a:xfrm>
          <a:prstGeom prst="line">
            <a:avLst/>
          </a:prstGeom>
          <a:noFill/>
          <a:ln w="38100">
            <a:solidFill>
              <a:srgbClr val="C51F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92263" y="1143000"/>
            <a:ext cx="0" cy="355595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950" y="4694188"/>
            <a:ext cx="1889075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713" y="1143000"/>
            <a:ext cx="0" cy="355595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1376" y="1435001"/>
            <a:ext cx="1389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1376" y="1739801"/>
            <a:ext cx="1389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1376" y="2158901"/>
            <a:ext cx="1389468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3.4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기반 SPA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87526" y="1143000"/>
            <a:ext cx="1889075" cy="35559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5921" dir="270000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87526" y="1162050"/>
            <a:ext cx="1889075" cy="0"/>
          </a:xfrm>
          <a:prstGeom prst="line">
            <a:avLst/>
          </a:prstGeom>
          <a:noFill/>
          <a:ln w="38100">
            <a:solidFill>
              <a:srgbClr val="C51F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839" y="1143000"/>
            <a:ext cx="0" cy="355595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87526" y="4694188"/>
            <a:ext cx="1889075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92288" y="1143000"/>
            <a:ext cx="0" cy="355595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50952" y="1435001"/>
            <a:ext cx="1389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50952" y="1739801"/>
            <a:ext cx="1389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850952" y="2158901"/>
            <a:ext cx="1389468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구조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7101" y="1143000"/>
            <a:ext cx="1889075" cy="35559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5921" dir="270000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67101" y="1162050"/>
            <a:ext cx="1889075" cy="0"/>
          </a:xfrm>
          <a:prstGeom prst="line">
            <a:avLst/>
          </a:prstGeom>
          <a:noFill/>
          <a:ln w="38100">
            <a:solidFill>
              <a:srgbClr val="C51F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51414" y="1143000"/>
            <a:ext cx="0" cy="355595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7101" y="4694188"/>
            <a:ext cx="1889075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71864" y="1143000"/>
            <a:ext cx="0" cy="355595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0527" y="1435001"/>
            <a:ext cx="1389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0527" y="1739801"/>
            <a:ext cx="1389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30527" y="2158901"/>
            <a:ext cx="1389468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Cache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동기화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46677" y="1143000"/>
            <a:ext cx="1889224" cy="35559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5921" dir="270000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46677" y="1162050"/>
            <a:ext cx="1889224" cy="0"/>
          </a:xfrm>
          <a:prstGeom prst="line">
            <a:avLst/>
          </a:prstGeom>
          <a:noFill/>
          <a:ln w="38100">
            <a:solidFill>
              <a:srgbClr val="C51F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31138" y="1143000"/>
            <a:ext cx="0" cy="355595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46677" y="4694188"/>
            <a:ext cx="1889224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1439" y="1143000"/>
            <a:ext cx="0" cy="355595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10102" y="1435001"/>
            <a:ext cx="13896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/ AI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10102" y="1739801"/>
            <a:ext cx="1389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/ Python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10102" y="2425601"/>
            <a:ext cx="138962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(Kubernetes)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최적화 ML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525000" cy="6349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69813"/>
            <a:ext cx="25958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조직 및 역할 (R&amp;R)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4150"/>
            <a:ext cx="9144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52701" y="1974652"/>
            <a:ext cx="1638300" cy="1638300"/>
          </a:xfrm>
          <a:prstGeom prst="roundRect">
            <a:avLst>
              <a:gd name="adj" fmla="val 55814"/>
            </a:avLst>
          </a:prstGeom>
          <a:solidFill>
            <a:srgbClr val="002452"/>
          </a:solidFill>
          <a:ln w="57150">
            <a:solidFill>
              <a:srgbClr val="C51F2A"/>
            </a:solidFill>
          </a:ln>
          <a:effectLst>
            <a:outerShdw sx="100000" sy="100000" kx="0" ky="0" algn="bl" rotWithShape="0" blurRad="254000" dist="50800" dir="162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31903" y="2527102"/>
            <a:ext cx="1101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48001" y="2793802"/>
            <a:ext cx="6606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8851" y="1142851"/>
            <a:ext cx="2606576" cy="1288852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28851" y="1147614"/>
            <a:ext cx="2606576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0664" y="1142851"/>
            <a:ext cx="0" cy="1288852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8851" y="2426940"/>
            <a:ext cx="2606576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7426" y="1142851"/>
            <a:ext cx="0" cy="1288852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2952" y="1477863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(김철수 차장)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2952" y="1741289"/>
            <a:ext cx="233172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 총괄, 품질/위험 관리, 발주처 커뮤니케이션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49901" y="2158901"/>
            <a:ext cx="2606576" cy="1288852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49901" y="2163663"/>
            <a:ext cx="2606576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51714" y="2158901"/>
            <a:ext cx="0" cy="1288852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9901" y="3442990"/>
            <a:ext cx="2606576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8476" y="2158901"/>
            <a:ext cx="0" cy="1288852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4001" y="2493913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(박준형 책임)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4001" y="2757339"/>
            <a:ext cx="233172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 총괄, 아키텍처 검토, MSA 가이드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87901" y="3428851"/>
            <a:ext cx="2606576" cy="1288852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587901" y="3433614"/>
            <a:ext cx="2606576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9714" y="3428851"/>
            <a:ext cx="0" cy="1288852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87901" y="4712940"/>
            <a:ext cx="2606576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16476" y="3428851"/>
            <a:ext cx="0" cy="1288852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2001" y="3763863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 (최수진 외 3명)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72001" y="4027289"/>
            <a:ext cx="233172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FE/BE 기능 구현, 단위 테스트, 기술 이슈 해결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69950" y="3428851"/>
            <a:ext cx="2606576" cy="1288852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269950" y="3433614"/>
            <a:ext cx="2606576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71764" y="3428851"/>
            <a:ext cx="0" cy="1288852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9950" y="4712940"/>
            <a:ext cx="2606576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98525" y="3428851"/>
            <a:ext cx="0" cy="1288852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54051" y="3763863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QA/DBA (한미영/오현우)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54051" y="4027289"/>
            <a:ext cx="233172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관리, 통합 테스트 총괄, DB 설계 및 튜닝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7950" y="2158901"/>
            <a:ext cx="2606576" cy="1288852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07950" y="2163663"/>
            <a:ext cx="2606576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9764" y="2158901"/>
            <a:ext cx="0" cy="1288852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7950" y="3442990"/>
            <a:ext cx="2606576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6525" y="2158901"/>
            <a:ext cx="0" cy="1288852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2051" y="2493913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(이영희 과장)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2051" y="2757339"/>
            <a:ext cx="233172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행정 지원, 산출물 품질 검토, 일정 관리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525000" cy="6349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69813"/>
            <a:ext cx="276193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프로젝트 마스터 일정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4150"/>
            <a:ext cx="9144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2286000"/>
            <a:ext cx="8127950" cy="253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668" y="2081467"/>
            <a:ext cx="529765" cy="529765"/>
          </a:xfrm>
          <a:prstGeom prst="rect">
            <a:avLst/>
          </a:prstGeom>
          <a:solidFill>
            <a:srgbClr val="FFFFFF"/>
          </a:solidFill>
          <a:ln w="47625">
            <a:solidFill>
              <a:srgbClr val="002452"/>
            </a:solidFill>
          </a:ln>
          <a:effectLst>
            <a:outerShdw sx="100000" sy="100000" kx="0" ky="0" algn="bl" rotWithShape="0" blurRad="63500" dist="3592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779" y="2274473"/>
            <a:ext cx="143544" cy="143544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 rot="18900000">
            <a:off x="349520" y="1812209"/>
            <a:ext cx="1292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- FEB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 rot="18900000">
            <a:off x="-385668" y="2523585"/>
            <a:ext cx="12921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및 분석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 rot="18900000">
            <a:off x="-796285" y="2726948"/>
            <a:ext cx="15544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킥오프, 환경구축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22618" y="2081467"/>
            <a:ext cx="529765" cy="529765"/>
          </a:xfrm>
          <a:prstGeom prst="rect">
            <a:avLst/>
          </a:prstGeom>
          <a:solidFill>
            <a:srgbClr val="FFFFFF"/>
          </a:solidFill>
          <a:ln w="47625">
            <a:solidFill>
              <a:srgbClr val="002452"/>
            </a:solidFill>
          </a:ln>
          <a:effectLst>
            <a:outerShdw sx="100000" sy="100000" kx="0" ky="0" algn="bl" rotWithShape="0" blurRad="63500" dist="3592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15729" y="2274473"/>
            <a:ext cx="143544" cy="143544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 rot="18900000">
            <a:off x="2381470" y="1812209"/>
            <a:ext cx="1292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- MAY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 rot="18900000">
            <a:off x="1646282" y="2523585"/>
            <a:ext cx="12921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 rot="18900000">
            <a:off x="1235665" y="2726948"/>
            <a:ext cx="15544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아키텍처/UI/DB 설계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설계서 확정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61019" y="2081467"/>
            <a:ext cx="529765" cy="529765"/>
          </a:xfrm>
          <a:prstGeom prst="rect">
            <a:avLst/>
          </a:prstGeom>
          <a:solidFill>
            <a:srgbClr val="FFFFFF"/>
          </a:solidFill>
          <a:ln w="47625">
            <a:solidFill>
              <a:srgbClr val="002452"/>
            </a:solidFill>
          </a:ln>
          <a:effectLst>
            <a:outerShdw sx="100000" sy="100000" kx="0" ky="0" algn="bl" rotWithShape="0" blurRad="63500" dist="3592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54129" y="2274473"/>
            <a:ext cx="143544" cy="143544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 rot="18900000">
            <a:off x="4819870" y="1812209"/>
            <a:ext cx="1292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- SEP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 rot="18900000">
            <a:off x="4084682" y="2523585"/>
            <a:ext cx="12921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 rot="18900000">
            <a:off x="3674065" y="2726948"/>
            <a:ext cx="15544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구현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92969" y="2081467"/>
            <a:ext cx="529765" cy="529765"/>
          </a:xfrm>
          <a:prstGeom prst="rect">
            <a:avLst/>
          </a:prstGeom>
          <a:solidFill>
            <a:srgbClr val="FFFFFF"/>
          </a:solidFill>
          <a:ln w="47625">
            <a:solidFill>
              <a:srgbClr val="002452"/>
            </a:solidFill>
          </a:ln>
          <a:effectLst>
            <a:outerShdw sx="100000" sy="100000" kx="0" ky="0" algn="bl" rotWithShape="0" blurRad="63500" dist="3592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86079" y="2274473"/>
            <a:ext cx="143544" cy="143544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 rot="18900000">
            <a:off x="6851820" y="1812209"/>
            <a:ext cx="1292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- NOV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 rot="18900000">
            <a:off x="6116632" y="2523585"/>
            <a:ext cx="12921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 rot="18900000">
            <a:off x="5706015" y="2726948"/>
            <a:ext cx="15544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통합/성능 테스트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인수 테스트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8618" y="2081467"/>
            <a:ext cx="529765" cy="529765"/>
          </a:xfrm>
          <a:prstGeom prst="rect">
            <a:avLst/>
          </a:prstGeom>
          <a:solidFill>
            <a:srgbClr val="FFFFFF"/>
          </a:solidFill>
          <a:ln w="47625">
            <a:solidFill>
              <a:srgbClr val="002452"/>
            </a:solidFill>
          </a:ln>
          <a:effectLst>
            <a:outerShdw sx="100000" sy="100000" kx="0" ky="0" algn="bl" rotWithShape="0" blurRad="63500" dist="3592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611729" y="2274473"/>
            <a:ext cx="143544" cy="143544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 rot="18900000">
            <a:off x="8477470" y="1812209"/>
            <a:ext cx="1292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 rot="18900000">
            <a:off x="7742282" y="2523585"/>
            <a:ext cx="12921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 rot="18900000">
            <a:off x="7331665" y="2726948"/>
            <a:ext cx="15544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전환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이관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525000" cy="6349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69813"/>
            <a:ext cx="227615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주요 산출물 목록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4150"/>
            <a:ext cx="9144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206401"/>
            <a:ext cx="10047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50244" y="1206401"/>
            <a:ext cx="20574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72111" y="1206401"/>
            <a:ext cx="42956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내용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0350" y="1704826"/>
            <a:ext cx="10047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50244" y="1704826"/>
            <a:ext cx="20574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수행계획서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72111" y="1704826"/>
            <a:ext cx="42956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범위, 일정, 조직, 관리계획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0350" y="2168277"/>
            <a:ext cx="10047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50244" y="2168277"/>
            <a:ext cx="20574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72111" y="2168277"/>
            <a:ext cx="42956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기능/비기능 요구사항 상세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0350" y="2631728"/>
            <a:ext cx="10047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50244" y="2631728"/>
            <a:ext cx="20574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시스템설계서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72111" y="2631728"/>
            <a:ext cx="42956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아키텍처, DB, UI/UX 설계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0350" y="3095179"/>
            <a:ext cx="10047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50244" y="3095179"/>
            <a:ext cx="20574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72111" y="3095179"/>
            <a:ext cx="42956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모듈별 프로그램 코드 및 주석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0350" y="3558629"/>
            <a:ext cx="10047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50244" y="3558629"/>
            <a:ext cx="20574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테스트결과서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72111" y="3558629"/>
            <a:ext cx="42956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통합/인수 테스트 시나리오 및 결과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0350" y="4022080"/>
            <a:ext cx="10047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50244" y="4022080"/>
            <a:ext cx="20574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완료보고서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72111" y="4022080"/>
            <a:ext cx="42956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수행 결과 및 운영 매뉴얼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9050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51373" y="1947863"/>
            <a:ext cx="391807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71057" y="2843213"/>
            <a:ext cx="81777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97050" y="4113312"/>
            <a:ext cx="63499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51" y="4308574"/>
            <a:ext cx="647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 | PM 김철수 | t-solutions.com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2026-01-08T00:35:15Z</dcterms:created>
  <dcterms:modified xsi:type="dcterms:W3CDTF">2026-01-08T00:35:15Z</dcterms:modified>
</cp:coreProperties>
</file>